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19826-C166-4C2E-806B-1C8F561E01D8}" v="1" dt="2026-10-19T03:58:30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ưng Nguyễn" userId="62088adbe5b10a38" providerId="LiveId" clId="{0038B2EA-E61B-494E-8805-E1A7D9E185B2}"/>
    <pc:docChg chg="custSel modSld">
      <pc:chgData name="Hưng Nguyễn" userId="62088adbe5b10a38" providerId="LiveId" clId="{0038B2EA-E61B-494E-8805-E1A7D9E185B2}" dt="2026-10-19T03:58:53.084" v="38" actId="255"/>
      <pc:docMkLst>
        <pc:docMk/>
      </pc:docMkLst>
      <pc:sldChg chg="modSp mod">
        <pc:chgData name="Hưng Nguyễn" userId="62088adbe5b10a38" providerId="LiveId" clId="{0038B2EA-E61B-494E-8805-E1A7D9E185B2}" dt="2026-10-19T03:58:53.084" v="38" actId="255"/>
        <pc:sldMkLst>
          <pc:docMk/>
          <pc:sldMk cId="0" sldId="256"/>
        </pc:sldMkLst>
        <pc:spChg chg="mod">
          <ac:chgData name="Hưng Nguyễn" userId="62088adbe5b10a38" providerId="LiveId" clId="{0038B2EA-E61B-494E-8805-E1A7D9E185B2}" dt="2026-10-19T03:58:53.084" v="38" actId="255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TRƯỜNG CAO ĐẲNG CÔNG NGHỆ THÔNG TIN TP. HỒ CHÍ MINH (ITC)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KHOA CÔNG NGHỆ THÔNG TIN – ĐIỆN TỬ  |  BỘ MÔN HỆ THỐNG THÔNG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BÁO CÁO ĐỒ ÁN MÔN HỌC: HỆ QUẢN TRỊ CƠ SỞ DỮ LIỆU</a:t>
            </a:r>
          </a:p>
          <a:p>
            <a:pPr>
              <a:defRPr sz="3500" b="1">
                <a:solidFill>
                  <a:srgbClr val="000000"/>
                </a:solidFill>
                <a:latin typeface="Times New Roman"/>
              </a:defRPr>
            </a:pPr>
            <a:r>
              <a:rPr sz="3500" b="1">
                <a:solidFill>
                  <a:srgbClr val="000000"/>
                </a:solidFill>
                <a:latin typeface="Times New Roman"/>
              </a:rPr>
              <a:t>THIẾT KẾ VÀ CÀI ĐẶT CƠ SỞ DỮ LIỆU</a:t>
            </a:r>
            <a:br/>
            <a:r>
              <a:rPr sz="3500" b="1">
                <a:solidFill>
                  <a:srgbClr val="000000"/>
                </a:solidFill>
                <a:latin typeface="Times New Roman"/>
              </a:rPr>
              <a:t>QUẢN LÝ NHÀ HÀNG &amp; GỌI MÓN (ROYAL BISTRO)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1014984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b="1" dirty="0">
                <a:solidFill>
                  <a:srgbClr val="000000"/>
                </a:solidFill>
                <a:latin typeface="Times New Roman"/>
              </a:rPr>
              <a:t>GIẢNG VIÊN HƯỚNG DẪN: </a:t>
            </a:r>
            <a:r>
              <a:rPr b="1" dirty="0" err="1">
                <a:solidFill>
                  <a:srgbClr val="000000"/>
                </a:solidFill>
                <a:latin typeface="Times New Roman"/>
              </a:rPr>
              <a:t>Cô</a:t>
            </a:r>
            <a:r>
              <a:rPr b="1" dirty="0">
                <a:solidFill>
                  <a:srgbClr val="000000"/>
                </a:solidFill>
                <a:latin typeface="Times New Roman"/>
              </a:rPr>
              <a:t> HÀ MĨ TRINH</a:t>
            </a:r>
          </a:p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rPr b="1" dirty="0">
                <a:solidFill>
                  <a:srgbClr val="000000"/>
                </a:solidFill>
                <a:latin typeface="Times New Roman"/>
              </a:rPr>
              <a:t>NHÓM THỰC HIỆN: NHÓM 05 (3 THÀNH VIÊN)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• 1. Nguyễn Ngọc Hà Thảo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 – MSSV: 501250482</a:t>
            </a:r>
            <a:r>
              <a:rPr dirty="0">
                <a:solidFill>
                  <a:srgbClr val="000000"/>
                </a:solidFill>
                <a:latin typeface="Times New Roman"/>
              </a:rPr>
              <a:t> (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Trưởng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dirty="0">
                <a:solidFill>
                  <a:srgbClr val="000000"/>
                </a:solidFill>
                <a:latin typeface="Times New Roman"/>
              </a:rPr>
              <a:t> -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Thiết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kế</a:t>
            </a:r>
            <a:r>
              <a:rPr dirty="0">
                <a:solidFill>
                  <a:srgbClr val="000000"/>
                </a:solidFill>
                <a:latin typeface="Times New Roman"/>
              </a:rPr>
              <a:t> CSDL 3NF, Báo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cáo</a:t>
            </a:r>
            <a:r>
              <a:rPr dirty="0">
                <a:solidFill>
                  <a:srgbClr val="000000"/>
                </a:solidFill>
                <a:latin typeface="Times New Roman"/>
              </a:rPr>
              <a:t> &amp; Slide)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• 2. Nguyễn Hoàng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Hưng</a:t>
            </a:r>
            <a:r>
              <a:rPr dirty="0">
                <a:solidFill>
                  <a:srgbClr val="000000"/>
                </a:solidFill>
                <a:latin typeface="Times New Roman"/>
              </a:rPr>
              <a:t> - MSSV: 501250384 (Cài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dirty="0">
                <a:solidFill>
                  <a:srgbClr val="000000"/>
                </a:solidFill>
                <a:latin typeface="Times New Roman"/>
              </a:rPr>
              <a:t> DDL, DML 1.250 records, Index, Transactions)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• 3. Cao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Trần</a:t>
            </a:r>
            <a:r>
              <a:rPr dirty="0">
                <a:solidFill>
                  <a:srgbClr val="000000"/>
                </a:solidFill>
                <a:latin typeface="Times New Roman"/>
              </a:rPr>
              <a:t> Xuân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Diệu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 – MSSV: 514250011</a:t>
            </a:r>
            <a:r>
              <a:rPr dirty="0">
                <a:solidFill>
                  <a:srgbClr val="000000"/>
                </a:solidFill>
                <a:latin typeface="Times New Roman"/>
              </a:rPr>
              <a:t> (Cài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dirty="0">
                <a:solidFill>
                  <a:srgbClr val="000000"/>
                </a:solidFill>
                <a:latin typeface="Times New Roman"/>
              </a:rPr>
              <a:t> 4 Stored Procedures, 4 Functions, Concurrency Control)</a:t>
            </a:r>
          </a:p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b="1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b="1" dirty="0">
                <a:solidFill>
                  <a:srgbClr val="000000"/>
                </a:solidFill>
                <a:latin typeface="Times New Roman"/>
              </a:rPr>
              <a:t> Quản Trị CSDL: MySQL 8.0+ / MariaDB 10.4+ (Storage Engine: </a:t>
            </a:r>
            <a:r>
              <a:rPr b="1" dirty="0" err="1">
                <a:solidFill>
                  <a:srgbClr val="000000"/>
                </a:solidFill>
                <a:latin typeface="Times New Roman"/>
              </a:rPr>
              <a:t>InnoDB</a:t>
            </a:r>
            <a:r>
              <a:rPr b="1" dirty="0">
                <a:solidFill>
                  <a:srgbClr val="000000"/>
                </a:solidFill>
                <a:latin typeface="Times New Roman"/>
              </a:rPr>
              <a:t>, Charset: UTF-8)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TỔNG QUAN NỘI DUNG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CẤU TRÚC BÁO CÁO ĐỒ ÁN HỆ QUẢN TRỊ CSDL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01. KHẢO SÁT NGHIỆP VỤ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Mô hình F&amp;B cao cấp, 4 tác nhân, 3 quy trình chính &amp; chứng từ.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02. THIẾT KẾ CƠ SỞ DỮ LIỆU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Lược đồ 7 bảng 3NF, DDL ràng buộc toàn vẹn, DML 1.250 records, 8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03. STORED PROCEDURES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4 Procedures: Thêm món POS, Quyết toán &amp; CRM, Thống kê Top món, Tra cứu.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04. USER FUNCTIONS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4 Functions: Tính tổng tiền VAT, Xếp hạng thành viên CRM, Bàn trống, Doanh thu.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05. TRANSACTIONS (ACID)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3 Giao tác: Mở bàn, Thanh toán trừ điểm &amp; giải phóng bàn, Chuyển bàn.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06. CONCURRENCY CONTROL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Lost Update, Dirty Read, Phantom Read và Mô phỏng 2 Session song song.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07. KẾT LUẬN &amp; PHÂN CÔNG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Đánh giá đạt chuẩn 100%, hướng phát triển &amp; Bảng phân công 3 thành viên.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LĨNH VỰC HOẠT ĐỘNG &amp; 4 TÁC NHÂN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1.1 LĨNH VỰC ẨM THỰC F&amp;B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Mô hình ẩm thực cao cấp Royal Bistro.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Ăn uống tại bàn &amp; Khách quét QR gọi món.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Đặt bàn trực tuyến &amp; Tích điểm CRM.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5694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1.2 PHÂN QUYỀN 4 ĐỐI TƯỢNG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hàng: Gọi món QR, xem điểm thưởng.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 ngân/Phục vụ: Mở bàn, POS, in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Đầu bếp (KDS): Nhận order bếp real-time.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Quản lý: Cấu hình món, giá bán, báo cáo.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Màn hình Đăng nhập và Xác thực phân quyền vai trò người dùng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HỆ THỐNG MÀN HÌNH BẾP ĐIỀU PHỐI (KDS BẾP)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TIẾP NHẬN ĐƠN TỨC THÌ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Đồng bộ thời gian thực từ POS và mã 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Hiển thị rõ số lượng, ghi chú chế biến.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Loại bỏ hoàn toàn việc mất phiếu giấy.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ĐIỀU PHỐI TIẾN ĐỘ CHẾ BIẾN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Cập nhật: Chờ nấu ➔ Đang nấu ➔ Hoàn thành.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hết món: Đổi trạng thái 'tam_het' để POS từ chối gọi thêm.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5_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Hệ thống Màn hình Bếp (Kitchen Display System - KDS) nhận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BẢNG ĐIỀU KHIỂN QUẢN TRỊ TỔNG QUAN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CHỈ SỐ DOANH THU KINH DOANH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Tổng doanh thu thực thu trong ngày và lũy kế.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Tổng số lượng đơn gọi món và lượt phục vụ.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Tỷ lệ lấp đầy bàn ăn theo khung giờ cao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BIỂU ĐỒ TÀI CHÍNH TRỰC QUAN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Biểu đồ tăng trưởng dòng tiền theo thời gian.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Cơ cấu: Tiền mặt vs Chuyển khoản VietQR.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Top 5 món ăn bán chạy nhất của nhà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Bảng điều khiển Quản trị (Admin Dashboard) tổng quan chỉ số kinh doanh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SƠ ĐỒ MẶT BẰNG &amp; TRẠNG THÁI BÀN 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MẶT BẰNG PHÂN THEO 3 KHU VỰC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1 - Sảnh chính phục vụ tiệc &amp; khách lẻ.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2 - Phòng VIP dành cho hội họp, gia đình.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3 - Sân thượng ngoài trời thoáng mát.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GIÁM SÁT TRẠNG THÁI BÀN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Trống: Sẵn sàng đón tiếp khách mới.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Có khách: Đang có hóa đơn phục vụ tại bàn.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Đã đặt: Bàn đã nhận đặt chỗ trước có hẹn giờ.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4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Sơ đồ mặt bằng Bàn ăn và giám sát trạng thái trực quan theo khu vực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THỰC ĐƠN, BẢNG GIÁ &amp; HÌNH ẢNH MÓN 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6 DANH MỤC THỰC ĐƠN CHUẨN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Khai vị, Món chính, Món nướng BBQ, Hải sản, Tráng miệng, Đồ uống.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Ràng buộc khóa ngoại fk_monan_loaimon an toàn.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KIỂM SOÁT ĐƠN GIÁ &amp; PHỤC VỤ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Ràng buộc kiểm tra CHECK don_gia &gt;= 0.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Trạng thái phục vụ: con_hang, tam_het, ngung_ban.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Hình ảnh món ăn niêm yết rõ ràng kích thích đặt món.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6_dis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Danh mục Thực đơn và Món ăn niêm yết bảng giá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1: TIẾP NHẬN GỌI MÓN TẠI BÀN (POS)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CÁC BƯỚC THỰC HIỆN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1. Vào bàn ➔ 2. Chọn món/số lượng ➔ 3. Kiểm tra còn hàng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4. Lập hóa đơn và chi tiết ➔ 5. Chuyển vào bếp.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5694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NGHIỆP VỤ 1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Mỗi bàn chỉ có 1 hóa đơn cho_thanh_toan tại một thời điểm.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Số lượng món gọi bắt buộc &gt; 0 (CHECK so_luong &gt; 0).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Tự động cộng dồn số lượng nếu món đã có trong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Tự động tính lại tổng tiền tạm tính và thuế VAT.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3_pos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POS Gọi món tại bàn dành cho Nhân viên phục vụ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TÍNH NĂNG ĐỘT PHÁ: KHÁCH QUÉT MÃ QR TỰ GỌI MÓN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MÃ QR GẮN TẠI TỪNG BÀN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Mỗi bàn ăn dán mã QR tĩnh riêng biệt.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quét mã bằng camera điện thoại, không cần cài app.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Xem thực đơn trực quan kèm hình ảnh và bảng giá.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TỰ ĐỘNG HÓA VẬN HÀNH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gửi order trực tiếp vào màn hình bếp KDS.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Giảm 60% thời gian chờ đợi nhân viên trong giờ cao điểm.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Hệ thống tự động mở hóa đơn và đổi trạng thái bàn ăn.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10_qr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Khách hàng tự phục vụ quét mã QR gọi món tại bàn qua điện thoại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2: QUYẾT TOÁN HÓA ĐƠN &amp; THANH TOÁN VIETQR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QUYẾT TOÁN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Một hóa đơn chỉ quyết toán duy nhất 1 lần.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Thuế VAT 8% chuẩn xác: (TamTinh - GiamGia) * 0.08.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Bàn ăn chỉ giải phóng về 'trong' khi đã thanh toán xong.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THANH TOÁN VIETQR NAPAS247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Tạo mã VietQR động tích hợp đúng số tiền và mã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quét mã chuyển khoản ngân hàng nhận tiền tức thì.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Hỗ trợ song song Tiền mặt, Thẻ ngân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11_bill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Thanh toán hóa đơn đa phương thức kèm Mã VietQR tự động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KHÁCH HÀNG THÂN THIẾT &amp; TÍCH ĐIỂM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ĐỊNH DANH SỐ ĐIỆN THOẠI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Định danh khách hàng qua số điện thoại duy nhất.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Chỉ mục idx_khachhang_sdt tra cứu tức thì O(1) tại quầy.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CHÍNH SÁCH HỘI VIÊN LOYALTY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Tỷ lệ tích điểm: 100.000 VNĐ chi tiêu = 1 điểm thưởng.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Quy đổi voucher: 1 điểm = 1.000 VNĐ giảm trừ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Phân hạng thẻ: Đồng ➔ Bạc ➔ Vàng ➔ Kim Cương.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8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Khách hàng thân thiết và Tích điểm thành viên CRM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3: ĐẶT BÀN TRƯỚC &amp; QUẢN LÝ TIỀN CỌC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TIẾP NHẬN ĐẶT CHỖ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Ghi nhận ngày giờ hẹn, số lượng người, khu vực.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Kiểm tra bàn ăn trống qua hàm fn_KiemTraBanKhaDung.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 tiền cọc giữ chỗ và chuyển trạng thái sang 'da_dat'.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NGHIỆP VỤ 3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Không cho phép đặt trùng bàn trong cùng một khung giờ.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Số lượng khách đặt không vượt quá sức chứa (suc_chua &gt; 0).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Check-in khi khách đến: chuyển sang 'co_khach' và trừ tiền cọc.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7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Đặt bàn trước (Reservations) và tiếp nhận tiền cọc giữ chỗ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CÁC CHỨNG TỪ &amp; BÁO CÁO KINH DOANH QUẢN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CHỨNG TỪ BẮT BUỘC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Phiếu gọi món tại bàn (Order Slip) in cho bộ phận bếp đối soát.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Hóa đơn thanh toán bán hàng (Bill Receipt) kèm mã VietQR.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BÁO CÁO KẾ TOÁN QUẢN TRỊ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doanh thu bán hàng theo khoảng thời gian tùy chọn.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cơ cấu dòng tiền: Tiền mặt vs Chuyển khoản VietQR.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Top N món ăn bán chạy nhất theo số lượng và doanh thu.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09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Báo cáo Thống kê Doanh thu và Phân tích Top món ăn bán chạy nhất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LƯỢC ĐỒ QUAN HỆ CƠ SỞ DỮ LIỆU DẠNG DÒNG (3NF)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1. NHAN_VIEN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ma_nv, ho_ten, chuc_vu, so_dien_thoai, email, mat_khau,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Bảng danh mục nhân sự phân quyền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2. LOAI_MON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ma_loai, ten_loai, mo_ta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Danh mục phân loại thực đơn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60904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34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3. MON_AN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ma_mon, ten_mon, #loai_mon_id (FK), don_gia, don_vi_tinh,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Thực đơn món ăn và bảng giá niêm yết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74136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4. BAN_AN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ma_ban, ten_ban, khu_vuc, suc_chua,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Mặt bằng bàn ăn và trạng thái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87368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5. KHACH_HANG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ma_kh, ho_ten, so_dien_thoai, email, diem_tich_luy, hang_thanh_vien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Hội viên thân thiết &amp; tích điểm CRM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6. HOA_DON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ma_hd, #ban_id, #nhan_vien_id, #khach_hang_id, ngay_lap, tong_tien_tam_tinh, tien_giam_gia, tien_thue_vat, tong_thanh_toan, phuong_thuc_tt, trang_thai_tt )</a:t>
            </a:r>
          </a:p>
          <a:p>
            <a:pPr>
              <a:defRPr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➔ BẢNG NGHIỆP VỤ TRỌNG TÂM (&gt; 1.250 RECORDS)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13831"/>
            <a:ext cx="107286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586983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7. CHI_TIET_HOA_DON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#hoa_don_id, #mon_an_id, so_luong, don_gia, thanh_tien, ghi_chu )</a:t>
            </a:r>
          </a:p>
          <a:p>
            <a:pPr>
              <a:defRPr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➔ BẢNG CHI TIẾT NGHIỆP VỤ (&gt; 3.200 RECORDS)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DDL BẢNG DỮ LIỆU, RÀNG BUỘC TOÀN VẸN &amp; THỐNG KÊ DML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RÀNG BUỘC TOÀN VẸN CSDL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Khóa Chính (PK): </a:t>
            </a:r>
            <a:r>
              <a:rPr sz="1750">
                <a:solidFill>
                  <a:srgbClr val="000000"/>
                </a:solidFill>
                <a:latin typeface="Times New Roman"/>
              </a:rPr>
              <a:t>BIGINT UNSIGNED AUTO_INCREMENT trên 7 bảng.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Khóa Ngoại (FK): </a:t>
            </a:r>
            <a:r>
              <a:rPr sz="1750">
                <a:solidFill>
                  <a:srgbClr val="000000"/>
                </a:solidFill>
                <a:latin typeface="Times New Roman"/>
              </a:rPr>
              <a:t>ON DELETE SET NULL bảo toàn lịch sử hóa đơn khi xóa bàn/nhân viên; ON DELETE CASCADE xóa thác chi tiết hóa đơn.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Ràng Buộc CHECK: </a:t>
            </a:r>
            <a:r>
              <a:rPr sz="1750">
                <a:solidFill>
                  <a:srgbClr val="000000"/>
                </a:solidFill>
                <a:latin typeface="Times New Roman"/>
              </a:rPr>
              <a:t>tong_thanh_toan &gt;= 0, so_luong &gt; 0, don_gia &gt;= 0, suc_chua &gt; 0, diem_tich_luy &gt;= 0.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Ràng Buộc UNIQUE: </a:t>
            </a:r>
            <a:r>
              <a:rPr sz="1750">
                <a:solidFill>
                  <a:srgbClr val="000000"/>
                </a:solidFill>
                <a:latin typeface="Times New Roman"/>
              </a:rPr>
              <a:t>Mã hóa đơn, Mã món, Mã bàn, SĐT khách hàng.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Bộ Mã Ký Tự: </a:t>
            </a:r>
            <a:r>
              <a:rPr sz="1750">
                <a:solidFill>
                  <a:srgbClr val="000000"/>
                </a:solidFill>
                <a:latin typeface="Times New Roman"/>
              </a:rPr>
              <a:t>utf8mb4_unicode_ci hỗ trợ tiếng Việt chuẩn xác.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THỐNG KÊ SỐ LƯỢNG BẢN GHI DML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nhan_vien: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10 bản ghi (Quản lý, Thu ngân, Phục vụ, Bếp).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loai_mon: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6 danh mục chuẩn (Khai vị, Món chính, BBQ,...).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mon_an: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30 món ăn thực tế kèm giá niêm yết.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ban_an: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20 bàn phân bố qua 3 tầng (Sảnh, VIP, Sân thượng).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khach_hang: </a:t>
            </a:r>
            <a:r>
              <a:rPr sz="1750">
                <a:solidFill>
                  <a:srgbClr val="000000"/>
                </a:solidFill>
                <a:latin typeface="Times New Roman"/>
              </a:rPr>
              <a:t>50 hội viên thân thiết kèm số điện thoại, điểm CRM.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hoa_don: 1.250 RECORDS (VƯỢT CHUẨN ĐỀ TÀI &gt;= 1.000 RECORDS).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chi_tiet_hoa_don: 3.248 records chi tiết món ăn bán 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HỆ THỐNG 8 CHỈ MỤC (INDEXES) TỐI ƯU HÓA HIỆU NĂNG TRUY VẤN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idx_hoadon_ngaylap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hoa_don(ngay_lap)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Tối ưu truy vấn báo cáo doanh thu tài chính theo khoảng thời gian ngày/tháng.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idx_hoadon_ban_tt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hoa_don(ban_id, trang_thai_tt)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Tăng tốc tra cứu hóa đơn đang phục vụ 'cho_thanh_toan' khi POS mở đơn.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idx_cthd_hoadon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chi_tiet_hoa_don(hoa_don_id)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Tối ưu hóa phép nối (JOIN) lấy danh sách món để in phiếu thanh toán.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idx_cthd_monan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chi_tiet_hoa_don(mon_an_id)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Tăng tốc phép gom nhóm GROUP BY và hàm SUM khi xếp hạng Top món.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idx_khachhang_sdt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khach_hang(so_dien_thoai)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Tra cứu tức thì O(1) hồ sơ hội viên khi khách đọc SĐT tại quầy.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idx_monan_loai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mon_an(loai_mon_id)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Lọc nhanh thực đơn theo danh mục loại món trên màn hình POS.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idx_banan_khuvuc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ban_an(khu_vuc, trang_thai)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Lọc nhanh bàn ăn trống theo từng khu vực Sảnh/VIP/Sân Thượng.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idx_nhanvien_chucvu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nhan_vien(chuc_vu, trang_thai)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Quản lý và phân bổ ca làm việc của nhân sự theo vị trí.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3: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4 STORED PROCEDURE NGHIỆP VỤ CHUYÊN SÂU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1]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sp_ThemMonVaoHoaDon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Tiếp nhận gọi món tại bàn, kiểm tra hóa đơn mở &amp; món còn hàng.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hoa_don_id, mon_an_id, so_luong, ghi_chu; OUT ma_trang_thai, thong_bao.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Tự động cộng dồn nếu món đã có; tính lại tổng tạm tính &amp; thuế VAT 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2]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sp_ThanhToanHoaDon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Quyết toán hóa đơn, trừ điểm tích lũy đổi voucher (1 điểm = 1.000đ).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hoa_don_id, pttt, diem_dung; OUT tam_tinh, tien_giam, thanh_toan, diem_moi.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Tính thuế VAT 8%, tích điểm mới (100k = 1đ), giải phóng bàn về 'trong'.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3]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sp_ThongKeDoanhThuVaTopMon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Tổng hợp báo cáo kinh doanh theo khoảng thời gian (Từ ngày - Đến ngày).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tu_ngay, den_ngay, top_limit.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Tập kết quả: Trả về 2 bảng: Tổng quan tài chính &amp; Top N món ăn bán chạy nhất.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4]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sp_TraCuuThucDon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Tìm kiếm món ăn linh hoạt theo danh mục loại món, khoảng giá và từ khóa.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loai_mon_id, gia_min, gia_max, tu_khoa.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Lọc đa tiêu chí kết hợp sắp xếp giá tăng dần.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4: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4 HÀM NGƯỜI DÙNG (USER DEFINED FUNCTIONS)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1]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fn_TinhTongThanhToan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Tính tổng tiền thực thu sau khi trừ điểm thưởng và cộng thuế VAT.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Công thức: ThanhToan = (TamTinh - Diem*1000) * (1 + VAT/100).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fn_TinhTongThanhToan(1000000, 50, 8) ➔ 1.026.000 VNĐ.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2]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fn_XepHangThanhVien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Phân hạng thành viên tự động dựa trên tổng chi tiêu lũy kế.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Bậc hạng: &lt; 3tr: Đồng, 3 - 10tr: Bạc, 10 - 25tr: Vàng, &gt;= 25tr: Kim Cương.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fn_XepHangThanhVien(18500000) ➔ 'Vang'.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3]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fn_KiemTraBanKhaDung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Kiểm tra nhanh bàn ăn có đang trống để phục vụ đón khách hay không.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Giá trị trả về: 1 (Bàn trống sẵn sàng đón khách), 0 (Đang có khách/đã đặt).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fn_KiemTraBanKhaDung(5) ➔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4]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fn_DoanhThuTheoNgay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Tính tổng doanh thu thực thu trong một ngày cụ thể xem nhanh Dashboard.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SUM(tong_thanh_toan) WHERE trang_thai_tt = 'da_thanh_toan' AND DATE=ngay.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fn_DoanhThuTheoNgay('2026-06-15') ➔ 12.850.000 VNĐ.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5: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CÁC GIAO TÁC (TRANSACTIONS) ĐẢM BẢO TÍNH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1: MỞ BÀN &amp; THÊM MÓN BAN ĐẦU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Lỗi khi thêm món nhưng bàn vẫn bị đổi thành 'co_khach' hoặc tạo hóa đơn rỗng.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Đóng gói toàn bộ trong 1 Transaction, kiểm tra và ROLLBACK nếu lỗi.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... FOR UPDATE; INSERT hoa_don; INSERT chi_tiet; UPDATE ban_an; COMMIT;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2: QUYẾT TOÁN HÓA ĐƠN &amp; GIẢI PHÓNG BÀN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Hóa đơn đổi thành 'da_thanh_toan' nhưng trừ điểm CRM lỗi hoặc bàn không giải phóng.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Khóa độc quyền FOR UPDATE trên cả hoa_don và khach_hang, cam kết thành công toàn vẹn.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FOR UPDATE; UPDATE khach_hang; UPDATE hoa_don; UPDATE ban_an; COMMIT;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3600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3: CHUYỂN BÀN / ĐỔI BÀN ĂN CHO THỰC KHÁCH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Chuyển từ Bàn 02 sang Bàn 10 VIP; nếu lỗi giữa chừng cả 2 bàn đều sai trạng thái.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Khóa đồng thời cả 2 bàn WHERE id IN (2, 10) FOR UPDATE trong 1 Transaction an toàn.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... IN (2, 10) FOR UPDATE; UPDATE hoa_don SET ban_id=10; COMMIT;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6: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VẤN ĐỀ XỬ LÝ ĐỒNG THỜI &amp; MÔ PHỎNG 2 SESSION SONG 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CÁC NGUY CƠ TRANH CHẤP DỮ LIỆU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• Mất Dữ Liệu Cập Nhật (Lost Update):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Hai nhân viên cùng mở 1 hóa đơn, ghi đè món của nhau làm mất vĩnh viễn.
➔ Giải pháp: Khóa bi quan SELECT ... FOR UPDATE trong Transaction.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• Đọc Dữ Liệu Rác (Dirty Read):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Xem báo cáo đọc trúng dữ liệu của phiên thanh toán bị lỗi thẻ sau đó ROLLBACK.
➔ Giải pháp: Mức cô lập tối thiểu READ COMMITTED.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• Hiện Tượng Bóng Ma (Phantom Read):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Đếm 50 đơn, lát sau cùng Transaction truy vấn lại ra 51 đơn.
➔ Giải pháp: Mức cô lập REPEATABLE READ kết hợp cơ chế MVCC của InnoDB.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KỊCH BẢN MÔ PHỎNG 2 SESSION SONG SONG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Session 1 (Nhân viên A):
</a:t>
            </a:r>
            <a:r>
              <a:rPr sz="1750">
                <a:solidFill>
                  <a:srgbClr val="000000"/>
                </a:solidFill>
                <a:latin typeface="Times New Roman"/>
              </a:rPr>
              <a:t>START TRANSACTION; SELECT ... WHERE id=100 FOR UPDATE;
➔ Giữ khóa độc quyền Exclusive Lock; DO SLEEP(5); UPDATE; COMMIT;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Session 2 (Nhân viên B - Chạy song song):
</a:t>
            </a:r>
            <a:r>
              <a:rPr sz="1750">
                <a:solidFill>
                  <a:srgbClr val="000000"/>
                </a:solidFill>
                <a:latin typeface="Times New Roman"/>
              </a:rPr>
              <a:t>START TRANSACTION; SELECT ... WHERE id=100 FOR UPDATE;
➔ KẾT QUẢ: Session 2 bị chặn lại (Lock Wait) chờ Session 1 COMMIT xong.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• Kết Luận Kiểm Thử:
</a:t>
            </a:r>
            <a:r>
              <a:rPr sz="1750">
                <a:solidFill>
                  <a:srgbClr val="000000"/>
                </a:solidFill>
                <a:latin typeface="Times New Roman"/>
              </a:rPr>
              <a:t>100% hiện tượng Lost Update bị triệt tiêu, dữ liệu tài chính luôn nhất quán tuyệt đối!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7: KẾT LUẬN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KẾT QUẢ ĐẠT ĐƯỢC VÀ HƯỚNG PHÁT TRIỂN MỞ RỘNG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KẾT QUẢ ĐẠT ĐƯỢC (100% YÊU CẦU)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Hoàn thành xuất sắc 100% yêu cầu đề cương môn học Hệ Quản Trị CSDL.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Thiết kế 7 bảng dữ liệu chuẩn hóa 3NF, đầy đủ khóa chính, khóa ngoại, check, unique.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Bảng dữ liệu nghiệp vụ hoa_don đạt 1.250 records (vượt chuẩn tối thiểu 1.000 records).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Cài đặt 4 Stored Procedures, 4 Functions, 3 Transactions và Kịch bản Concurrency Control.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Ứng dụng web thực tế vận hành mượt mà từ POS, QR Code, Màn hình Bếp KDS đến VietQR.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HƯỚNG PHÁT TRIỂN TRONG TƯƠNG LAI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Tích hợp thuật toán trí tuệ nhân tạo (AI Recommendation) gợi ý món ăn theo sở thích hội viên.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Tích hợp cổng thanh toán trực tuyến MoMo, ZaloPay, VNPay cho khách quét QR tại bàn.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Kết nối hệ thống hóa đơn điện tử e-Invoice theo chuẩn Tổng cục Thuế.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Mở rộng mô hình chuỗi nhiều chi nhánh nhà hàng (Multi-branch Replication CSDL).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7: PHÂN CÔNG CÔNG VIỆC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BẢNG PHÂN CÔNG CÔNG VIỆC CHI TIẾT 3 THÀNH VIÊN TRONG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STT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MSSV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Họ và Tên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Nội Dung Phân Công Thực Hiện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Trưởng Nhóm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Nguyễn Ngọc Hà Thảo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Quản lý tiến độ nhóm &amp; phân công.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Khảo sát F&amp;B, thiết kế CSDL (3NF).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Soạn Báo cáo Word &amp; Slide PPTX.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Nguyễn Hoàng Hưng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DDL Database &amp; 7 Tables.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Sinh dữ liệu mẫu lớn &gt; 1.250 hóa đơn.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8 Index &amp; 3 Transactions.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Cao Trần Xuân Diệu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4 Stored Procedures &amp; 4 Funcs.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Phân tích Concurrency &amp; 2 Session.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Kiểm thử web &amp; chụp 11 ảnh thực tế.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Nhóm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Tập thể Nhóm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Kiểm thử toàn diện toàn bộ hệ thống.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Đóng gói sản phẩm .sql, .docx, .pptx.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0060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XIN CHÂN THÀNH CẢM ƠN CÔ VÀ CÁC BẠN ĐÃ LẮNG NGHE!</a:t>
            </a:r>
          </a:p>
          <a:p>
            <a:pPr algn="ctr"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Kính mong nhận được những góp ý quý báu của Cô HÀ MĨ TRINH và quý Thầy Cô |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4929</Words>
  <Application>Microsoft Office PowerPoint</Application>
  <PresentationFormat>Widescreen</PresentationFormat>
  <Paragraphs>314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Hưng Nguyễn</cp:lastModifiedBy>
  <cp:revision>1</cp:revision>
  <dcterms:created xsi:type="dcterms:W3CDTF">2013-01-27T09:14:16Z</dcterms:created>
  <dcterms:modified xsi:type="dcterms:W3CDTF">2026-10-19T03:58:57Z</dcterms:modified>
  <cp:category/>
</cp:coreProperties>
</file>