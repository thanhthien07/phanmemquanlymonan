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02920"/>
            <a:ext cx="10545775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🏛️ TRƯỜNG CAO ĐẲNG CÔNG NGHỆ THÔNG TIN TP.HCM • KHOA CÔNG NGHỆ THÔNG TIN – ĐIỆN TỬ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10545775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365760" rIns="365760"/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t>BÁO CÁO ĐỒ ÁN MÔN HỌC: CHUYÊN ĐỀ BACK-END</a:t>
            </a:r>
          </a:p>
          <a:p>
            <a:pPr algn="ctr">
              <a:spcBef>
                <a:spcPts val="600"/>
              </a:spcBef>
              <a:defRPr sz="2500" b="1">
                <a:solidFill>
                  <a:srgbClr val="1E3A8A"/>
                </a:solidFill>
                <a:latin typeface="Segoe UI"/>
              </a:defRPr>
            </a:pPr>
            <a:r>
              <a:t>XÂY DỰNG HỆ THỐNG BACK-END CHO PHẦN MỀM</a:t>
            </a:r>
            <a:br/>
            <a:r>
              <a:t>QUẢN LÝ NHÀ HÀNG &amp; GỌI MÓN (ROYAL BISTRO)</a:t>
            </a:r>
          </a:p>
          <a:p>
            <a:pPr algn="ctr">
              <a:spcBef>
                <a:spcPts val="600"/>
              </a:spcBef>
              <a:defRPr sz="1200">
                <a:solidFill>
                  <a:srgbClr val="475569"/>
                </a:solidFill>
                <a:latin typeface="Segoe UI"/>
              </a:defRPr>
            </a:pPr>
            <a:r>
              <a:t>Kiến trúc máy chủ RESTful API &amp; WebSocket Realtime • Điều phối Bếp KDS • Tự động trừ kho định lượng BOM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639312"/>
            <a:ext cx="2999232" cy="347472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👤 SINH VIÊN THỰC HIỆN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114800"/>
            <a:ext cx="2907792" cy="17373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Họ và tên: </a:t>
            </a:r>
            <a:r>
              <a:rPr b="1">
                <a:solidFill>
                  <a:srgbClr val="0F172A"/>
                </a:solidFill>
              </a:rPr>
              <a:t>Nguyễn Hoàng Hưng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MSSV: </a:t>
            </a:r>
            <a:r>
              <a:rPr b="1">
                <a:solidFill>
                  <a:srgbClr val="0F172A"/>
                </a:solidFill>
              </a:rPr>
              <a:t>501250384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Khóa đào tạo: </a:t>
            </a:r>
            <a:r>
              <a:rPr b="1">
                <a:solidFill>
                  <a:srgbClr val="0F172A"/>
                </a:solidFill>
              </a:rPr>
              <a:t>Khóa K25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Chuyên ngành: </a:t>
            </a:r>
            <a:r>
              <a:rPr b="1">
                <a:solidFill>
                  <a:srgbClr val="0F172A"/>
                </a:solidFill>
              </a:rPr>
              <a:t>Công nghệ Phần mềm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9432" y="3639312"/>
            <a:ext cx="2999232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👨‍🏫 GIẢNG VIÊN HƯỚNG DẪN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4114800"/>
            <a:ext cx="2907792" cy="17373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Giảng viên: </a:t>
            </a:r>
            <a:r>
              <a:rPr b="1">
                <a:solidFill>
                  <a:srgbClr val="0F172A"/>
                </a:solidFill>
              </a:rPr>
              <a:t>ThS. Nguyễn Minh Hải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Đơn vị: </a:t>
            </a:r>
            <a:r>
              <a:rPr b="1">
                <a:solidFill>
                  <a:srgbClr val="0F172A"/>
                </a:solidFill>
              </a:rPr>
              <a:t>Khoa CNTT – Điện tử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Môn học: </a:t>
            </a:r>
            <a:r>
              <a:rPr b="1">
                <a:solidFill>
                  <a:srgbClr val="0F172A"/>
                </a:solidFill>
              </a:rPr>
              <a:t>Chuyên Đề Back-End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Thời gian: </a:t>
            </a:r>
            <a:r>
              <a:rPr b="1">
                <a:solidFill>
                  <a:srgbClr val="0F172A"/>
                </a:solidFill>
              </a:rPr>
              <a:t>Tháng 10 /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93023" y="3639312"/>
            <a:ext cx="2999232" cy="34747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⚡ CÔNG NGHỆ CHÍNH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4114800"/>
            <a:ext cx="2907792" cy="1737360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Môi trường: </a:t>
            </a:r>
            <a:r>
              <a:rPr b="1">
                <a:solidFill>
                  <a:srgbClr val="0F172A"/>
                </a:solidFill>
              </a:rPr>
              <a:t>Node.js v20 &amp; Express.js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Cơ sở dữ liệu: </a:t>
            </a:r>
            <a:r>
              <a:rPr b="1">
                <a:solidFill>
                  <a:srgbClr val="0F172A"/>
                </a:solidFill>
              </a:rPr>
              <a:t>MongoDB &amp; Mongoose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Thời gian thực: </a:t>
            </a:r>
            <a:r>
              <a:rPr b="1">
                <a:solidFill>
                  <a:srgbClr val="0F172A"/>
                </a:solidFill>
              </a:rPr>
              <a:t>Socket.io WebSockets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Xác thực: </a:t>
            </a:r>
            <a:r>
              <a:rPr b="1">
                <a:solidFill>
                  <a:srgbClr val="0F172A"/>
                </a:solidFill>
              </a:rPr>
              <a:t>JWT Bearer &amp; Bcrypt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92608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1: GIỚI THIỆU TỔNG QUAN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Thực Trạng F&amp;B &amp; Mục Tiêu Hệ Thống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Chuyển đổi quy trình thủ công sang tự động hóa thông minh với Back-End tập trung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2/11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50" b="1">
                <a:solidFill>
                  <a:srgbClr val="DC2626"/>
                </a:solidFill>
                <a:latin typeface="Segoe UI"/>
              </a:defRPr>
            </a:pPr>
            <a:r>
              <a:t>⚠️ 4 BẤT CẬP QUY TRÌNH TRUYỀN THỐNG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Tắc nghẽn giờ cao điểm: </a:t>
            </a:r>
            <a:r>
              <a:rPr b="0">
                <a:solidFill>
                  <a:srgbClr val="475569"/>
                </a:solidFill>
              </a:rPr>
              <a:t>Ghi bill giấy chậm trễ, khách chờ lâu, giảm vòng quay bàn.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Sai sót khi truyền đạt: </a:t>
            </a:r>
            <a:r>
              <a:rPr b="0">
                <a:solidFill>
                  <a:srgbClr val="475569"/>
                </a:solidFill>
              </a:rPr>
              <a:t>Chữ viết tay khó đọc, dễ nhầm món và quên ghi chú chế biến.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Thất thoát nguyên vật liệu: </a:t>
            </a:r>
            <a:r>
              <a:rPr b="0">
                <a:solidFill>
                  <a:srgbClr val="475569"/>
                </a:solidFill>
              </a:rPr>
              <a:t>Không có công thức định lượng (BOM) gắn liền với tồn kho.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Thiếu số liệu tức thời: </a:t>
            </a:r>
            <a:r>
              <a:rPr b="0">
                <a:solidFill>
                  <a:srgbClr val="475569"/>
                </a:solidFill>
              </a:rPr>
              <a:t>Không nắm được doanh số, tồn kho và công nợ theo thời gian thực.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50" b="1">
                <a:solidFill>
                  <a:srgbClr val="059669"/>
                </a:solidFill>
                <a:latin typeface="Segoe UI"/>
              </a:defRPr>
            </a:pPr>
            <a:r>
              <a:t>🎯 4 MỤC TIÊU GIẢI PHÁP ROYAL BISTRO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Xác thực &amp; RBAC 3 vai trò: </a:t>
            </a:r>
            <a:r>
              <a:rPr b="0">
                <a:solidFill>
                  <a:srgbClr val="475569"/>
                </a:solidFill>
              </a:rPr>
              <a:t>Phân quyền chặt chẽ Admin, Thu ngân/Phục vụ và Đầu bếp.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Đồng bộ Realtime &lt;50ms: </a:t>
            </a:r>
            <a:r>
              <a:rPr b="0">
                <a:solidFill>
                  <a:srgbClr val="475569"/>
                </a:solidFill>
              </a:rPr>
              <a:t>Truyền order ngay tức thì từ bàn ăn xuống màn hình Bếp KDS.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Tự động trừ kho theo BOM: </a:t>
            </a:r>
            <a:r>
              <a:rPr b="0">
                <a:solidFill>
                  <a:srgbClr val="475569"/>
                </a:solidFill>
              </a:rPr>
              <a:t>Thuật toán trừ hao phí nguyên liệu chuẩn xác khi bếp nấu.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Thanh toán QR &amp; CRM: </a:t>
            </a:r>
            <a:r>
              <a:rPr b="0">
                <a:solidFill>
                  <a:srgbClr val="475569"/>
                </a:solidFill>
              </a:rPr>
              <a:t>Sinh mã VietQR động, tự động tích lũy điểm thưởng hội viên.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👑 Quản trị viên (Admin)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Toàn quyền thực đơn, kho, nhân sự, báo cáo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💳 Thu ngân / Phục vụ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Mở bàn, tiếp nhận order POS, thanh toán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t>🍳 Đầu bếp (Kitchen/Chef)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Xem hàng đợi KDS, nấu món, kích hoạt trừ kho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78824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📱 Khách hàng (Customer)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t>Quét mã QR tại bàn, xem menu, gọi món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29184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 &amp; 2: CÔNG NGHỆ &amp; KIẾN TRÚC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Công Nghệ Cốt Lõi &amp; Sơ Đồ Kiến Trúc Tổng Thể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Kiến trúc máy chủ Client-Server phân tầng, xử lý Non-blocking I/O và WebSocket hai chiều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3/11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64592" rIns="164592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🟢 Node.js v20 &amp; Express v4.19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Non-blocking I/O, Event-driven, định tuyến RESTful API cực nhanh, chịu tải cao.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32888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64592" rIns="164592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🍃 MongoDB v7.0 &amp; Mongoose v8.3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NoSQL linh hoạt, 12 Collections chuẩn hóa, đồng nhất dữ liệu JSON từ CSDL đến Client.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31335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64592" rIns="164592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⚡ Socket.io v4.7 Realtime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Kênh truyền thông WebSocket 2 chiều, phản hồi tức thời (&lt;50ms) giữa POS và Bếp KDS.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9783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64592" rIns="164592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🔐 JWT &amp; Bcrypt (10 Rounds)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Xác thực phi trạng thái (Stateless), băm mật khẩu một chiều, phân quyền RBAC đa cấp.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234440"/>
            <a:ext cx="579089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35331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t>Sơ đồ kiến trúc tổng thể hệ thống Royal Bistro (Hình 2.1)</a:t>
            </a:r>
          </a:p>
        </p:txBody>
      </p:sp>
      <p:pic>
        <p:nvPicPr>
          <p:cNvPr id="14" name="Picture 13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83080"/>
            <a:ext cx="5516575" cy="28308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92608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THIẾT KẾ KIẾN TRÚC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Cấu Trúc Monorepo &amp; 9 Phân Hệ Nghiệp Vụ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Tổ chức mã nguồn khoa học, phân định rành mạch giữa Controller, Middleware, Model và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4/11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1148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t>📁 PHÂN TẦNG MÃ NGUỒN (BE/src)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config/ </a:t>
            </a:r>
            <a:r>
              <a:rPr b="0">
                <a:solidFill>
                  <a:srgbClr val="475569"/>
                </a:solidFill>
              </a:rPr>
              <a:t>Kết nối MongoDB, cấu hình port và JWT Secret.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constants/ </a:t>
            </a:r>
            <a:r>
              <a:rPr b="0">
                <a:solidFill>
                  <a:srgbClr val="475569"/>
                </a:solidFill>
              </a:rPr>
              <a:t>Định nghĩa role: admin, cashier, kitchen.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controllers/ </a:t>
            </a:r>
            <a:r>
              <a:rPr b="0">
                <a:solidFill>
                  <a:srgbClr val="475569"/>
                </a:solidFill>
              </a:rPr>
              <a:t>Xử lý nghiệp vụ chính của toàn hệ thống.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middlewares/ </a:t>
            </a:r>
            <a:r>
              <a:rPr b="0">
                <a:solidFill>
                  <a:srgbClr val="475569"/>
                </a:solidFill>
              </a:rPr>
              <a:t>Xác thực JWT, phân quyền RBAC, log và bắt lỗi.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models/ </a:t>
            </a:r>
            <a:r>
              <a:rPr b="0">
                <a:solidFill>
                  <a:srgbClr val="475569"/>
                </a:solidFill>
              </a:rPr>
              <a:t>Lược đồ Mongoose Schema &amp; ràng buộc dữ liệu.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routes/ </a:t>
            </a:r>
            <a:r>
              <a:rPr b="0">
                <a:solidFill>
                  <a:srgbClr val="475569"/>
                </a:solidFill>
              </a:rPr>
              <a:t>Định tuyến &gt;30 RESTful API endpoints chuẩn mực.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utils/ </a:t>
            </a:r>
            <a:r>
              <a:rPr b="0">
                <a:solidFill>
                  <a:srgbClr val="475569"/>
                </a:solidFill>
              </a:rPr>
              <a:t>Tiện ích: asyncHandler, socket emit, seeder CSDL.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  <a:latin typeface="Segoe UI"/>
              </a:defRPr>
            </a:pPr>
            <a:r>
              <a:t>• server.js </a:t>
            </a:r>
            <a:r>
              <a:rPr b="0">
                <a:solidFill>
                  <a:srgbClr val="475569"/>
                </a:solidFill>
              </a:rPr>
              <a:t>Entry point, khởi tạo Express HTTP &amp; Socket.io.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120640" y="1234440"/>
          <a:ext cx="633953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45920"/>
                <a:gridCol w="2956255"/>
              </a:tblGrid>
              <a:tr h="507492">
                <a:tc>
                  <a:txBody>
                    <a:bodyPr tIns="54864" b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Module Nghiệp Vụ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API Tuyến Đường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Chức Năng Trọng Tâm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Xác thực &amp; Nhân sự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Đăng nhập, đăng ký, JWT token, 1-Click Demo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Quản lý Bàn ăn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/api/v1/tables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Sơ đồ mặt bằng, sức chứa, trạng thái động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Thực đơn &amp; Món ăn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/api/v1/dishes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Phân loại danh mục, đơn giá, chuyển trạng thái bán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Bán hàng POS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Gọi món tại bàn, ghi chú chế biến, mức ưu tiên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Điều phối Bếp KDS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/api/v1/orders/:id/status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Tiếp nhận món, cập nhật nấu xong, trừ kho 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Quản lý Đặt bàn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/api/v1/reservations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Đặt trước bàn, kiểm tra bàn trống, nhận cọc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Kho &amp; Định lượng 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Theo dõi tồn kho, cảnh báo cạn kiệt, định mức món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Khách hàng &amp; CRM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/api/v1/customers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Tích lũy điểm thưởng theo giá trị hóa đơn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Báo cáo &amp; Thống kê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Doanh thu ngày/tháng, Top 5 món bán chạy nhất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7432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CƠ SỞ DỮ LIỆU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Thiết Kế Cơ Sở Dữ Liệu NoSQL 12 Collections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Tối ưu hóa cấu trúc dữ liệu NoSQL với Mongoose ODM, giải quyết triệt để quan hệ định mức n-n (BOM)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5/11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7548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t>🗄️ 4 NHÓM THỰC THỂ DỮ LIỆU CHÍNH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t>• 1. Người Dùng &amp; Bàn Ăn: </a:t>
            </a:r>
            <a:r>
              <a:rPr b="0">
                <a:solidFill>
                  <a:srgbClr val="475569"/>
                </a:solidFill>
              </a:rPr>
              <a:t>NguoiDung (Admin, Cashier, Kitchen), BanAn &amp; KhuVuc (Sơ đồ mặt bằng, trạng thái bàn động).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t>• 2. Thực Đơn &amp; Gọi Món: </a:t>
            </a:r>
            <a:r>
              <a:rPr b="0">
                <a:solidFill>
                  <a:srgbClr val="475569"/>
                </a:solidFill>
              </a:rPr>
              <a:t>MonAn, LoaiMon (Danh mục &amp; giá bán), DatMon (Chi tiết gọi món POS, ghi chú đặc biệt).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t>• 3. Kho &amp; Công Thức BOM: </a:t>
            </a:r>
            <a:r>
              <a:rPr b="0">
                <a:solidFill>
                  <a:srgbClr val="475569"/>
                </a:solidFill>
              </a:rPr>
              <a:t>NguyenLieu (Tồn kho thực tế), MonAnNguyenLieu (Bảng định lượng liên kết n-n trừ kho tự động).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t>• 4. Đặt Bàn, Hóa Đơn &amp; CRM: </a:t>
            </a:r>
            <a:r>
              <a:rPr b="0">
                <a:solidFill>
                  <a:srgbClr val="475569"/>
                </a:solidFill>
              </a:rPr>
              <a:t>DatBan (Khách hẹn trước), HoaDon (Thanh toán tiền mặt/VietQR), KhachHang (Tích điểm loyalty).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34440"/>
            <a:ext cx="569945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35331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t>Sơ đồ thực thể quan hệ (ERD) 12 Collections MongoDB (Hình 2.5)</a:t>
            </a:r>
          </a:p>
        </p:txBody>
      </p:sp>
      <p:pic>
        <p:nvPicPr>
          <p:cNvPr id="11" name="Picture 10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425135" cy="3044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29184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LUỒNG XỬ LÝ NGHIỆP VỤ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3 Luồng Nghiệp Vụ Trọng Tâm Của Hệ Thống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Quy trình xác thực RBAC, gọi món POS - KDS Realtime và thuật toán trừ kho BOM tự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6/11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3035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64592" rIns="164592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🔐 LUỒNG 1: XÁC THỰC &amp; PHÂN QUYỀN RBAC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Đăng nhập: </a:t>
            </a:r>
            <a:r>
              <a:rPr b="0">
                <a:solidFill>
                  <a:srgbClr val="475569"/>
                </a:solidFill>
              </a:rPr>
              <a:t>POST /api/v1/auth/login kèm email/mật khẩu.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So khớp mật khẩu: </a:t>
            </a:r>
            <a:r>
              <a:rPr b="0">
                <a:solidFill>
                  <a:srgbClr val="475569"/>
                </a:solidFill>
              </a:rPr>
              <a:t>Bcrypt kiểm tra băm 10 salt rounds.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Cấp JWT Token: </a:t>
            </a:r>
            <a:r>
              <a:rPr b="0">
                <a:solidFill>
                  <a:srgbClr val="475569"/>
                </a:solidFill>
              </a:rPr>
              <a:t>Thời hạn 24h chứa vai trò (Admin/Cashier/Kitchen).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Chặn truy cập: </a:t>
            </a:r>
            <a:r>
              <a:rPr b="0">
                <a:solidFill>
                  <a:srgbClr val="475569"/>
                </a:solidFill>
              </a:rPr>
              <a:t>Middleware RBAC bảo vệ từng API endpoint.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3512"/>
            <a:ext cx="53035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64592" rIns="164592"/>
          <a:lstStyle/>
          <a:p>
            <a:pPr algn="ctr">
              <a:defRPr sz="1050" b="1">
                <a:solidFill>
                  <a:srgbClr val="D97706"/>
                </a:solidFill>
                <a:latin typeface="Segoe UI"/>
              </a:defRPr>
            </a:pPr>
            <a:r>
              <a:t>⚡ LUỒNG 2: GỌI MÓN POS -&gt; BẾP KDS REALTIME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Lên đơn tại bàn: </a:t>
            </a:r>
            <a:r>
              <a:rPr b="0">
                <a:solidFill>
                  <a:srgbClr val="475569"/>
                </a:solidFill>
              </a:rPr>
              <a:t>Nhân viên chọn món, ghi chú cay/ngọt, gửi đơn.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Đổi trạng thái bàn: </a:t>
            </a:r>
            <a:r>
              <a:rPr b="0">
                <a:solidFill>
                  <a:srgbClr val="475569"/>
                </a:solidFill>
              </a:rPr>
              <a:t>Chuyển bàn sang 'co_khach' tức thời.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Phát sóng Socket.io: </a:t>
            </a:r>
            <a:r>
              <a:rPr b="0">
                <a:solidFill>
                  <a:srgbClr val="475569"/>
                </a:solidFill>
              </a:rPr>
              <a:t>Gửi sự kiện 'order:new' xuống màn hình bếp.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Bếp nhận &lt;50ms: </a:t>
            </a:r>
            <a:r>
              <a:rPr b="0">
                <a:solidFill>
                  <a:srgbClr val="475569"/>
                </a:solidFill>
              </a:rPr>
              <a:t>Chuông reo báo hiệu, xếp vào hàng đợi ưu tiên.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72583"/>
            <a:ext cx="53035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64592" rIns="164592"/>
          <a:lstStyle/>
          <a:p>
            <a:pPr algn="ctr">
              <a:defRPr sz="1050" b="1">
                <a:solidFill>
                  <a:srgbClr val="059669"/>
                </a:solidFill>
                <a:latin typeface="Segoe UI"/>
              </a:defRPr>
            </a:pPr>
            <a:r>
              <a:t>🍳 LUỒNG 3: ĐIỀU PHỐI BẾP &amp; TRỪ KHO BOM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Đầu bếp bấm 'Nấu': </a:t>
            </a:r>
            <a:r>
              <a:rPr b="0">
                <a:solidFill>
                  <a:srgbClr val="475569"/>
                </a:solidFill>
              </a:rPr>
              <a:t>Gửi PUT /api/v1/orders/:id/status ('dang_nau').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Truy vấn bảng BOM: </a:t>
            </a:r>
            <a:r>
              <a:rPr b="0">
                <a:solidFill>
                  <a:srgbClr val="475569"/>
                </a:solidFill>
              </a:rPr>
              <a:t>Lấy công thức tiêu hao từ MonAnNguyenLieu.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Tính toán hao phí: </a:t>
            </a:r>
            <a:r>
              <a:rPr b="0">
                <a:solidFill>
                  <a:srgbClr val="475569"/>
                </a:solidFill>
              </a:rPr>
              <a:t>soLuongCanTru = bom.dinh_muc * don.so_luong.</a:t>
            </a:r>
          </a:p>
          <a:p>
            <a:pPr>
              <a:spcBef>
                <a:spcPts val="200"/>
              </a:spcBef>
              <a:defRPr sz="900" b="1">
                <a:solidFill>
                  <a:srgbClr val="0F172A"/>
                </a:solidFill>
                <a:latin typeface="Segoe UI"/>
              </a:defRPr>
            </a:pPr>
            <a:r>
              <a:t>• Trừ kho an toàn: </a:t>
            </a:r>
            <a:r>
              <a:rPr b="0">
                <a:solidFill>
                  <a:srgbClr val="475569"/>
                </a:solidFill>
              </a:rPr>
              <a:t>Trừ tồn kho và cảnh báo khi chạm ngưỡng tối thiểu.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34440"/>
            <a:ext cx="515081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53312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Segoe UI"/>
              </a:defRPr>
            </a:pPr>
            <a:r>
              <a:t>Lưu đồ gọi món POS &amp; điều phối Bếp KDS Real-time (Hình 2.7)</a:t>
            </a:r>
          </a:p>
        </p:txBody>
      </p:sp>
      <p:pic>
        <p:nvPicPr>
          <p:cNvPr id="13" name="Picture 12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83080"/>
            <a:ext cx="4876495" cy="26372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10896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3: CÀI ĐẶT THỰC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Giao Diện &amp; Tính Năng Thực Nghiệm Trực Quan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Kiểm thử thực tế hệ thống trên các màn hình Dashboard quản trị, sơ đồ bàn ăn và điều phối Bếp KDS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7/11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290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64592" rIns="164592"/>
          <a:lstStyle/>
          <a:p>
            <a:pPr algn="ctr">
              <a:defRPr sz="1000" b="1">
                <a:solidFill>
                  <a:srgbClr val="1E3A8A"/>
                </a:solidFill>
                <a:latin typeface="Segoe UI"/>
              </a:defRPr>
            </a:pPr>
            <a:r>
              <a:t>BẢNG ĐIỀU KHIỂN QUẢN TRỊ (DASHBOARD)</a:t>
            </a:r>
          </a:p>
        </p:txBody>
      </p:sp>
      <p:pic>
        <p:nvPicPr>
          <p:cNvPr id="9" name="Picture 8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3154680" cy="14984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3931920"/>
            <a:ext cx="315468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Thống kê doanh số theo ngày/ca làm việc.</a:t>
            </a:r>
            <a:br/>
            <a:r>
              <a:t>• Top 5 món bán chạy nhất &amp; tỷ lệ lấp đầy bàn.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234440"/>
            <a:ext cx="34290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64592" rIns="164592"/>
          <a:lstStyle/>
          <a:p>
            <a:pPr algn="ctr">
              <a:defRPr sz="1000" b="1">
                <a:solidFill>
                  <a:srgbClr val="1E3A8A"/>
                </a:solidFill>
                <a:latin typeface="Segoe UI"/>
              </a:defRPr>
            </a:pPr>
            <a:r>
              <a:t>SƠ ĐỒ BÀN ĂN TRẠNG THÁI ĐỘNG</a:t>
            </a:r>
          </a:p>
        </p:txBody>
      </p:sp>
      <p:pic>
        <p:nvPicPr>
          <p:cNvPr id="12" name="Picture 11" descr="image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737360"/>
            <a:ext cx="3154680" cy="14984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17136" y="3931920"/>
            <a:ext cx="315468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Hiển thị trực quan mặt bằng theo khu vực.</a:t>
            </a:r>
            <a:br/>
            <a:r>
              <a:t>• Đổi màu động (trống, có khách, đã đặt), chuyển bàn.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234440"/>
            <a:ext cx="34290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64592" rIns="164592"/>
          <a:lstStyle/>
          <a:p>
            <a:pPr algn="ctr">
              <a:defRPr sz="1000" b="1">
                <a:solidFill>
                  <a:srgbClr val="1E3A8A"/>
                </a:solidFill>
                <a:latin typeface="Segoe UI"/>
              </a:defRPr>
            </a:pPr>
            <a:r>
              <a:t>MÀN HÌNH BẾP KDS REAL-TIME</a:t>
            </a:r>
          </a:p>
        </p:txBody>
      </p:sp>
      <p:pic>
        <p:nvPicPr>
          <p:cNvPr id="15" name="Picture 14" descr="image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737360"/>
            <a:ext cx="3154680" cy="14984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65592" y="3931920"/>
            <a:ext cx="315468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Nhận đơn tức thì (&lt;50ms), chuông reo báo hiệu.</a:t>
            </a:r>
            <a:br/>
            <a:r>
              <a:t>• Cập nhật tiến độ 1 chạm &amp; kích hoạt trừ kho BOM.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29184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4: XỬ LÝ LỖI &amp; GIÁM SÁT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Kiến Trúc Xử Lý Lỗi Tập Trung &amp; Giám Sát Hiệu Năng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Cơ chế bắt lỗi bất đồng bộ asyncHandler, bảng mã lỗi HTTP chuẩn hóa và Request Logger đo độ trễ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8/11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292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t>🛡️ 4 CƠ CHẾ XỬ LÝ LỖI CHUYÊN SÂU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Tiện ích asyncHandler: </a:t>
            </a:r>
            <a:r>
              <a:rPr b="0">
                <a:solidFill>
                  <a:srgbClr val="475569"/>
                </a:solidFill>
              </a:rPr>
              <a:t>Bọc quanh các controller async/await, loại bỏ mã lặp try/catch thừa, tự động đẩy lỗi về middleware.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Custom Error kế thừa AppError: </a:t>
            </a:r>
            <a:r>
              <a:rPr b="0">
                <a:solidFill>
                  <a:srgbClr val="475569"/>
                </a:solidFill>
              </a:rPr>
              <a:t>Định nghĩa mã lỗi chuẩn HTTP: LoiYeuCauKhongHopLe, LoiChuaXacThuc, LoiKhongTimThay...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Middleware xử lý lỗi tập trung: </a:t>
            </a:r>
            <a:r>
              <a:rPr b="0">
                <a:solidFill>
                  <a:srgbClr val="475569"/>
                </a:solidFill>
              </a:rPr>
              <a:t>Không bao giờ để lộ stack trace nhạy cảm khi chạy production; trả về JSON đồng nhất.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Middleware Request Logger: </a:t>
            </a:r>
            <a:r>
              <a:rPr b="0">
                <a:solidFill>
                  <a:srgbClr val="475569"/>
                </a:solidFill>
              </a:rPr>
              <a:t>Đo thời gian phản hồi (ms) cho từng request HTTP, phát hiện sớm các API bị nghẽn cổ chai.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234440"/>
          <a:ext cx="542513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2407615"/>
              </a:tblGrid>
              <a:tr h="724988">
                <a:tc>
                  <a:txBody>
                    <a:bodyPr t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HTTP Code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Custom Error Class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Tình Huống Xảy Ra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400 Bad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LoiYeuCauKhongHopLe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Thiếu tham số bắt buộc, số lượng món &lt;=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401 Unauthorized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LoiChuaXacThuc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Chưa gửi token, token hết hạn, sai mật khẩu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403 Forbidden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LoiKhongCoQuyen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Nhân viên cố truy cập chức năng của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404 Not Found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LoiKhongTimThay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Mã bàn, món ăn hoặc đơn hàng không tồn tại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409 Conflict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LoiXungDotDuLieu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Email nhân viên đã tồn tại; bàn đang có khách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499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500 Server Error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LoiHeThong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Lỗi máy chủ nội bộ hoặc lỗi kết nối MongoDB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10896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4: BẢO MẬT &amp; KIỂM THỬ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Bảo Mật Đa Tầng &amp; Kết Quả Kiểm Thử Chịu Tải API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Triển khai Helmet, CORS, Rate Limiting, Bcrypt, JWT và kiểm thử chịu tải với 100% tỷ lệ phản hồi thành công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9/11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57200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t>🔒 5 LỚP BẢO MẬT HỆ THỐNG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Helmet.js Headers: </a:t>
            </a:r>
            <a:r>
              <a:rPr b="0">
                <a:solidFill>
                  <a:srgbClr val="475569"/>
                </a:solidFill>
              </a:rPr>
              <a:t>Chống các lỗ hổng web phổ biến (XSS, Clickjacking, MIME sniffing).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CORS Whitelist: </a:t>
            </a:r>
            <a:r>
              <a:rPr b="0">
                <a:solidFill>
                  <a:srgbClr val="475569"/>
                </a:solidFill>
              </a:rPr>
              <a:t>Chỉ chấp nhận request từ domain Front-End hợp lệ.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Express Rate Limit: </a:t>
            </a:r>
            <a:r>
              <a:rPr b="0">
                <a:solidFill>
                  <a:srgbClr val="475569"/>
                </a:solidFill>
              </a:rPr>
              <a:t>100 req/15 phút (API chung) và 20 req/15 phút (Auth), chống DoS và Brute-force.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Bcrypt (10 Rounds): </a:t>
            </a:r>
            <a:r>
              <a:rPr b="0">
                <a:solidFill>
                  <a:srgbClr val="475569"/>
                </a:solidFill>
              </a:rPr>
              <a:t>Mật khẩu băm một chiều với muối ngẫu nhiên trước khi lưu DB.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Stateless JWT 24h: </a:t>
            </a:r>
            <a:r>
              <a:rPr b="0">
                <a:solidFill>
                  <a:srgbClr val="475569"/>
                </a:solidFill>
              </a:rPr>
              <a:t>Phiên làm việc phi trạng thái, không tốn session RAM máy chủ.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77840" y="1234440"/>
          <a:ext cx="588233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005840"/>
                <a:gridCol w="853135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Kịch Bản Kiểm Thử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Yêu Cầu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Đồng Thời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TG Phản Hồi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Tỷ Lệ Lỗi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Lấy DS bàn ăn (GET /tables)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1,000 req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50 kết nối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18.5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Lấy thực đơn (GET /dishes)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1,000 req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50 kết nối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22.1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Tạo đơn mới (POST /orders)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500 req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25 kết nối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42.8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Cập nhật &amp; trừ kho BOM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500 req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25 kết nối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38.4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Thanh toán (POST /payment)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200 req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10 kết nối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48.2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/>
                    <a:lstStyle/>
                    <a:p>
                      <a:pPr>
                        <a:defRPr sz="9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577840" y="4709160"/>
            <a:ext cx="5882335" cy="16002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✅ ĐÁNH GIÁ CHỨC NĂNG NGHIỆP VỤ (BẢNG 3.3)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• 9/9 nhóm chức năng chính được kiểm thử thực tế và đánh giá ĐẠT CHUẨN 100%.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• Thời gian phản hồi API trung bình dưới 50ms, độ tin cậy tuyệt đối không phát sinh lỗi ngoại lệ.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73152" rIns="73152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5: KẾT LUẬN &amp; HƯỚNG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Tổng Kết Đề Tài &amp; Định Hướng Nâng Cấp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Đánh giá các kết quả đạt được và lộ trình phát triển hệ thống trong tương 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10/11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56032" rIns="256032"/>
          <a:lstStyle/>
          <a:p>
            <a:pPr algn="ctr">
              <a:defRPr sz="1300" b="1">
                <a:solidFill>
                  <a:srgbClr val="059669"/>
                </a:solidFill>
                <a:latin typeface="Segoe UI"/>
              </a:defRPr>
            </a:pPr>
            <a:r>
              <a:t>🌟 4 THÀNH TỰU CỐT LÕI ĐÃ ĐẠT ĐƯỢC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Kiến trúc Back-End chuẩn mực: </a:t>
            </a:r>
            <a:r>
              <a:rPr b="0">
                <a:solidFill>
                  <a:srgbClr val="475569"/>
                </a:solidFill>
              </a:rPr>
              <a:t>Xây dựng máy chủ Node.js &amp; Express phân tầng rành mạch, kiểm soát hoàn toàn hơn 30 RESTful API endpoints.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CSDL 12 Collections hoàn thiện: </a:t>
            </a:r>
            <a:r>
              <a:rPr b="0">
                <a:solidFill>
                  <a:srgbClr val="475569"/>
                </a:solidFill>
              </a:rPr>
              <a:t>Mô hình hóa Mongoose ODM quan hệ chặt chẽ, giải quyết triệt để bài toán công thức định mức BOM n-n.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Thời gian thực Realtime vượt trội: </a:t>
            </a:r>
            <a:r>
              <a:rPr b="0">
                <a:solidFill>
                  <a:srgbClr val="475569"/>
                </a:solidFill>
              </a:rPr>
              <a:t>Ứng dụng Socket.io WebSockets phát sóng tức thời giữa POS và Bếp KDS với độ trễ &lt;50ms.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Bảo mật &amp; Xử lý lỗi vững chắc: </a:t>
            </a:r>
            <a:r>
              <a:rPr b="0">
                <a:solidFill>
                  <a:srgbClr val="475569"/>
                </a:solidFill>
              </a:rPr>
              <a:t>asyncHandler loại bỏ try/catch thừa, kiểm soát lỗi tập trung, tích hợp Helmet, CORS, Rate Limit và JWT.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56032" rIns="256032"/>
          <a:lstStyle/>
          <a:p>
            <a:pPr algn="ctr">
              <a:defRPr sz="1300" b="1">
                <a:solidFill>
                  <a:srgbClr val="D97706"/>
                </a:solidFill>
                <a:latin typeface="Segoe UI"/>
              </a:defRPr>
            </a:pPr>
            <a:r>
              <a:t>🚀 LỘ TRÌNH PHÁT TRIỂN TIẾP THEO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Tích hợp Redis Cache: </a:t>
            </a:r>
            <a:r>
              <a:rPr b="0">
                <a:solidFill>
                  <a:srgbClr val="475569"/>
                </a:solidFill>
              </a:rPr>
              <a:t>Lưu bộ nhớ đệm thực đơn &amp; sơ đồ bàn ăn để giảm tải truy vấn MongoDB và tăng tốc phản hồi.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Webhook Ngân hàng tự động: </a:t>
            </a:r>
            <a:r>
              <a:rPr b="0">
                <a:solidFill>
                  <a:srgbClr val="475569"/>
                </a:solidFill>
              </a:rPr>
              <a:t>Kết nối SePAY hoặc VietQR Webhook để tự động xác nhận hóa đơn khi tiền vào tài khoản.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Kiến trúc Microservices: </a:t>
            </a:r>
            <a:r>
              <a:rPr b="0">
                <a:solidFill>
                  <a:srgbClr val="475569"/>
                </a:solidFill>
              </a:rPr>
              <a:t>Tách độc lập Service Báo cáo (Reporting) và Service Kho nguyên liệu (Inventory) để mở rộng quy mô.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Ứng dụng Trí tuệ nhân tạo (AI): </a:t>
            </a:r>
            <a:r>
              <a:rPr b="0">
                <a:solidFill>
                  <a:srgbClr val="475569"/>
                </a:solidFill>
              </a:rPr>
              <a:t>Xây dựng mô hình AI dự báo lượng khách và định lượng tiêu hao nguyên liệu theo ngày trong tuần.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914400"/>
            <a:ext cx="9448495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 lIns="457200" rIns="457200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🏛️ KHOA CÔNG NGHỆ THÔNG TIN – ĐIỆN TỬ • ITC</a:t>
            </a:r>
          </a:p>
          <a:p>
            <a:pPr algn="ctr">
              <a:spcBef>
                <a:spcPts val="800"/>
              </a:spcBef>
              <a:defRPr sz="3000" b="1">
                <a:solidFill>
                  <a:srgbClr val="1E3A8A"/>
                </a:solidFill>
                <a:latin typeface="Segoe UI"/>
              </a:defRPr>
            </a:pPr>
            <a:r>
              <a:t>XIN CHÂN THÀNH CẢM ƠN!</a:t>
            </a:r>
          </a:p>
          <a:p>
            <a:pPr algn="ctr">
              <a:spcBef>
                <a:spcPts val="8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Kính chúc Quý Thầy Cô trong Hội đồng thật nhiều sức khỏe, hạnh phúc và thành công!</a:t>
            </a:r>
          </a:p>
          <a:p>
            <a:pPr algn="ctr">
              <a:spcBef>
                <a:spcPts val="20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Bef>
                <a:spcPts val="6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Em rất mong nhận được những câu hỏi phản biện, lời nhận xét và góp ý quý báu của Quý Thầy Cô để hoàn thiện đề tài.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074920"/>
            <a:ext cx="9448495" cy="11887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365760" rIns="365760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👤 Sinh viên thực hiện: Nguyễn Hoàng Hưng  •  MSSV: 501250384  •  Lớp: K25  •  Chuyên ngành: Công nghệ Phần mềm</a:t>
            </a:r>
          </a:p>
          <a:p>
            <a:pPr algn="ctr">
              <a:spcBef>
                <a:spcPts val="400"/>
              </a:spcBef>
              <a:defRPr sz="1050">
                <a:solidFill>
                  <a:srgbClr val="475569"/>
                </a:solidFill>
                <a:latin typeface="Segoe UI"/>
              </a:defRPr>
            </a:pPr>
            <a:r>
              <a:t>👨‍🏫 Giảng viên hướng dẫn: ThS. Nguyễn Minh Hải  |  Đề tài: Hệ Thống Back-End Quản Lý Nhà Hàng &amp; Gọi Món (Royal Bistro)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