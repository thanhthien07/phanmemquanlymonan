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74B245E2-ACC5-106C-ECF5-8BA535098A67}">
          <p14:sldIdLst>
            <p14:sldId id="256"/>
            <p14:sldId id="257"/>
            <p14:sldId id="259"/>
            <p14:sldId id="260"/>
            <p14:sldId id="261"/>
          </p14:sldIdLst>
        </p14:section>
        <p14:section name="2.1 Tối ưu tốc độ tải trang" id="{AAF2561F-3F3F-BA94-1D61-67A4FF12B121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2.2 SEO" id="{E16572AC-ACC3-F743-33B5-A47FE7D42520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2.3 Bài tập &amp; tổng kết" id="{3DC7C00D-F716-5ABD-D025-6CBC32B1BA28}">
          <p14:sldIdLst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2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701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9456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1480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CBD5E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023360" y="2103120"/>
            <a:ext cx="7589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023360" y="3749040"/>
            <a:ext cx="75895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CBD5E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Chuyên đề Front-End  ·  Chương 8: Tối ưu hoá và SEO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Chuyên đề Front-End  ·  Chương 8: Tối ưu hoá và SEO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Chuyên đề Front-End  ·  Chương 8: Tối ưu hoá và SEO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9456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Chương 8: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Tối ưu hoá và SEO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4114" y="5681383"/>
            <a:ext cx="6766560" cy="44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BD5E1"/>
                </a:solidFill>
              </a:rPr>
              <a:t>GVHD: </a:t>
            </a:r>
            <a:r>
              <a:rPr lang="en-US" sz="2000" b="1" dirty="0" err="1">
                <a:solidFill>
                  <a:srgbClr val="CBD5E1"/>
                </a:solidFill>
              </a:rPr>
              <a:t>NCS.ThS</a:t>
            </a:r>
            <a:r>
              <a:rPr lang="en-US" sz="2000" b="1" dirty="0">
                <a:solidFill>
                  <a:srgbClr val="CBD5E1"/>
                </a:solidFill>
              </a:rPr>
              <a:t> </a:t>
            </a:r>
            <a:r>
              <a:rPr lang="en-US" sz="2000" b="1" dirty="0" err="1">
                <a:solidFill>
                  <a:srgbClr val="CBD5E1"/>
                </a:solidFill>
              </a:rPr>
              <a:t>Trần</a:t>
            </a:r>
            <a:r>
              <a:rPr lang="en-US" sz="2000" b="1" dirty="0">
                <a:solidFill>
                  <a:srgbClr val="CBD5E1"/>
                </a:solidFill>
              </a:rPr>
              <a:t> Ph</a:t>
            </a:r>
            <a:r>
              <a:rPr lang="vi-VN" sz="2000" b="1" dirty="0">
                <a:solidFill>
                  <a:srgbClr val="CBD5E1"/>
                </a:solidFill>
              </a:rPr>
              <a:t>ư</a:t>
            </a:r>
            <a:r>
              <a:rPr lang="en-US" sz="2000" b="1" dirty="0" err="1">
                <a:solidFill>
                  <a:srgbClr val="CBD5E1"/>
                </a:solidFill>
              </a:rPr>
              <a:t>ơng</a:t>
            </a:r>
            <a:r>
              <a:rPr lang="en-US" sz="2000" b="1" dirty="0">
                <a:solidFill>
                  <a:srgbClr val="CBD5E1"/>
                </a:solidFill>
              </a:rPr>
              <a:t> </a:t>
            </a:r>
            <a:r>
              <a:rPr lang="en-US" sz="2000" b="1" dirty="0" err="1">
                <a:solidFill>
                  <a:srgbClr val="CBD5E1"/>
                </a:solidFill>
              </a:rPr>
              <a:t>Duy</a:t>
            </a:r>
            <a:endParaRPr lang="en-US" sz="2000" b="1" dirty="0"/>
          </a:p>
        </p:txBody>
      </p:sp>
      <p:sp>
        <p:nvSpPr>
          <p:cNvPr id="5" name="Shape 2"/>
          <p:cNvSpPr/>
          <p:nvPr/>
        </p:nvSpPr>
        <p:spPr>
          <a:xfrm>
            <a:off x="8138160" y="1097280"/>
            <a:ext cx="3657600" cy="3657600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8686800" y="1645920"/>
            <a:ext cx="2560320" cy="2560320"/>
          </a:xfrm>
          <a:prstGeom prst="ellipse">
            <a:avLst/>
          </a:prstGeom>
          <a:solidFill>
            <a:srgbClr val="2DD4BF">
              <a:alpha val="30000"/>
            </a:srgbClr>
          </a:solidFill>
          <a:ln/>
        </p:spPr>
      </p:sp>
      <p:pic>
        <p:nvPicPr>
          <p:cNvPr id="7" name="Image 0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2194560"/>
            <a:ext cx="1463040" cy="1463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138160" y="5120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138160" y="5120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</a:rPr>
              <a:t>Lighthouse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555480" y="51206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9555480" y="5120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</a:rPr>
              <a:t>Core Web Vitals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1338560" y="51206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1338560" y="51206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</a:rPr>
              <a:t>SEO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DD4BF"/>
                </a:solidFill>
              </a:rPr>
              <a:t>CHUYÊN ĐỀ FRONT-END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tx2"/>
                </a:solidFill>
              </a:rPr>
              <a:t>Mục</a:t>
            </a:r>
            <a:r>
              <a:rPr lang="en-US" sz="3000" b="1" dirty="0">
                <a:solidFill>
                  <a:schemeClr val="tx2"/>
                </a:solidFill>
              </a:rPr>
              <a:t> </a:t>
            </a:r>
            <a:r>
              <a:rPr lang="en-US" sz="3000" b="1" dirty="0" err="1">
                <a:solidFill>
                  <a:schemeClr val="tx2"/>
                </a:solidFill>
              </a:rPr>
              <a:t>tiêu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0" descr="ta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1638605"/>
            <a:ext cx="380390" cy="38039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08760" y="13716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Đo hiệu năng bằng công cụ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</a:rPr>
              <a:t>Lighthouse, PageSpeed Insights, DevTools; đọc Core Web Vitals.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48640" y="2651760"/>
            <a:ext cx="731520" cy="7315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8" name="Image 1" descr="bo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5" y="2827325"/>
            <a:ext cx="380390" cy="38039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08760" y="25603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Áp dụng kỹ thuật tăng tốc tải trang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</a:rPr>
              <a:t>Ảnh, CSS, JS, font, cache, CDN, nén dữ liệu.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48640" y="3840480"/>
            <a:ext cx="731520" cy="7315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1" name="Image 2" descr="searc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5" y="4016045"/>
            <a:ext cx="380390" cy="38039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508760" y="37490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Tối ưu on-page và technical SEO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</a:rPr>
              <a:t>Title, meta, heading, structured data, robots.txt, sitemap.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548640" y="5029200"/>
            <a:ext cx="731520" cy="73152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4" name="Image 3" descr="tool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205" y="5204765"/>
            <a:ext cx="380390" cy="38039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508760" y="49377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Kiểm tra và sửa lỗi bằng công cụ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</a:rPr>
              <a:t>Search Console, Rich Results Test, audit trang thật.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Vì sao tốc độ và SEO quan trọng?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</a:rPr>
              <a:t>Tốc độ tải trang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548640" y="1828800"/>
            <a:ext cx="2395728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7" name="Image 0" descr="bo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213238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56032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Trang nhanh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Nội dung hiện sớm, phản hồi tức thì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017520" y="2423160"/>
            <a:ext cx="365760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0" name="card"/>
          <p:cNvSpPr/>
          <p:nvPr/>
        </p:nvSpPr>
        <p:spPr>
          <a:xfrm>
            <a:off x="3447288" y="1828800"/>
            <a:ext cx="2395728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30168" y="201168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2" name="Image 1" descr="ey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869" y="213238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630168" y="256032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Trải nghiệm tốt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Người dùng không phải chờ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916168" y="2423160"/>
            <a:ext cx="365760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5" name="card"/>
          <p:cNvSpPr/>
          <p:nvPr/>
        </p:nvSpPr>
        <p:spPr>
          <a:xfrm>
            <a:off x="6345936" y="1828800"/>
            <a:ext cx="2395728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528816" y="201168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7" name="Image 2" descr="use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9517" y="213238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528816" y="256032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Tỷ lệ thoát giảm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Người dùng ở lại lâu hơn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8814816" y="2423160"/>
            <a:ext cx="365760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0" name="card"/>
          <p:cNvSpPr/>
          <p:nvPr/>
        </p:nvSpPr>
        <p:spPr>
          <a:xfrm>
            <a:off x="9244584" y="1828800"/>
            <a:ext cx="2395728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427464" y="201168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2" name="Image 3" descr="ch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8165" y="2132381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427464" y="256032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Chuyển đổi tăng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Mua hàng, đăng ký, liên hệ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3703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</a:rPr>
              <a:t>SEO</a:t>
            </a:r>
            <a:endParaRPr lang="en-US" sz="1800" dirty="0"/>
          </a:p>
        </p:txBody>
      </p:sp>
      <p:sp>
        <p:nvSpPr>
          <p:cNvPr id="25" name="card"/>
          <p:cNvSpPr/>
          <p:nvPr/>
        </p:nvSpPr>
        <p:spPr>
          <a:xfrm>
            <a:off x="548640" y="4160520"/>
            <a:ext cx="2395728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7" name="Image 4" descr="fi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221" y="4464101"/>
            <a:ext cx="261518" cy="26151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31520" y="489204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Nội dung + kỹ thuật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HTML chuẩn, nội dung hữu ích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3017520" y="4754880"/>
            <a:ext cx="365760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0" name="card"/>
          <p:cNvSpPr/>
          <p:nvPr/>
        </p:nvSpPr>
        <p:spPr>
          <a:xfrm>
            <a:off x="3447288" y="4160520"/>
            <a:ext cx="2395728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3630168" y="434340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32" name="Image 5" descr="spid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0869" y="4464101"/>
            <a:ext cx="261518" cy="26151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3630168" y="489204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Được lập chỉ mục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Bot hiểu và lưu trang</a:t>
            </a:r>
            <a:endParaRPr lang="en-US" sz="1600" dirty="0"/>
          </a:p>
        </p:txBody>
      </p:sp>
      <p:sp>
        <p:nvSpPr>
          <p:cNvPr id="34" name="Shape 25"/>
          <p:cNvSpPr/>
          <p:nvPr/>
        </p:nvSpPr>
        <p:spPr>
          <a:xfrm>
            <a:off x="5916168" y="4754880"/>
            <a:ext cx="365760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5" name="card"/>
          <p:cNvSpPr/>
          <p:nvPr/>
        </p:nvSpPr>
        <p:spPr>
          <a:xfrm>
            <a:off x="6345936" y="4160520"/>
            <a:ext cx="2395728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6528816" y="434340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37" name="Image 6" descr="st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9517" y="4464101"/>
            <a:ext cx="261518" cy="261518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528816" y="489204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Xếp hạng cao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Hiển thị khi người dùng tìm kiếm</a:t>
            </a:r>
            <a:endParaRPr lang="en-US" sz="1600" dirty="0"/>
          </a:p>
        </p:txBody>
      </p:sp>
      <p:sp>
        <p:nvSpPr>
          <p:cNvPr id="39" name="Shape 29"/>
          <p:cNvSpPr/>
          <p:nvPr/>
        </p:nvSpPr>
        <p:spPr>
          <a:xfrm>
            <a:off x="8814816" y="4754880"/>
            <a:ext cx="365760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0" name="card"/>
          <p:cNvSpPr/>
          <p:nvPr/>
        </p:nvSpPr>
        <p:spPr>
          <a:xfrm>
            <a:off x="9244584" y="4160520"/>
            <a:ext cx="2395728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9427464" y="434340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42" name="Image 7" descr="glob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8165" y="4464101"/>
            <a:ext cx="261518" cy="261518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427464" y="489204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Lưu lượng tự nhiên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Truy cập không tốn tiền quảng cáo</a:t>
            </a:r>
            <a:endParaRPr lang="en-US" sz="1600" dirty="0"/>
          </a:p>
        </p:txBody>
      </p:sp>
      <p:sp>
        <p:nvSpPr>
          <p:cNvPr id="44" name="card"/>
          <p:cNvSpPr/>
          <p:nvPr/>
        </p:nvSpPr>
        <p:spPr>
          <a:xfrm>
            <a:off x="548640" y="5989320"/>
            <a:ext cx="11091672" cy="347472"/>
          </a:xfrm>
          <a:prstGeom prst="roundRect">
            <a:avLst>
              <a:gd name="adj" fmla="val 26316"/>
            </a:avLst>
          </a:prstGeom>
          <a:solidFill>
            <a:schemeClr val="tx2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548640" y="598932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</a:rPr>
              <a:t>Core Web Vitals là tín hiệu xếp hạng: tối ưu tốc độ cũng là một phần của SEO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Trình duyệt tải và hiển thị trang như thế nào?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</a:rPr>
              <a:t>Giai đoạn mạng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2464308" cy="1188720"/>
          </a:xfrm>
          <a:prstGeom prst="roundRect">
            <a:avLst>
              <a:gd name="adj" fmla="val 7692"/>
            </a:avLst>
          </a:prstGeom>
          <a:solidFill>
            <a:srgbClr val="1D4ED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691640"/>
            <a:ext cx="20985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DNS lookup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Tìm IP của tên miền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058668" y="2103120"/>
            <a:ext cx="320040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8" name="Shape 5"/>
          <p:cNvSpPr/>
          <p:nvPr/>
        </p:nvSpPr>
        <p:spPr>
          <a:xfrm>
            <a:off x="3424428" y="1691640"/>
            <a:ext cx="2464308" cy="1188720"/>
          </a:xfrm>
          <a:prstGeom prst="roundRect">
            <a:avLst>
              <a:gd name="adj" fmla="val 7692"/>
            </a:avLst>
          </a:prstGeom>
          <a:solidFill>
            <a:srgbClr val="1D4E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607308" y="1691640"/>
            <a:ext cx="20985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TCP + TLS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Thiết lập kết nối an toàn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34456" y="2103120"/>
            <a:ext cx="320040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1" name="Shape 8"/>
          <p:cNvSpPr/>
          <p:nvPr/>
        </p:nvSpPr>
        <p:spPr>
          <a:xfrm>
            <a:off x="6300216" y="1691640"/>
            <a:ext cx="2464308" cy="1188720"/>
          </a:xfrm>
          <a:prstGeom prst="roundRect">
            <a:avLst>
              <a:gd name="adj" fmla="val 7692"/>
            </a:avLst>
          </a:prstGeom>
          <a:solidFill>
            <a:srgbClr val="1D4E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83096" y="1691640"/>
            <a:ext cx="20985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Request → TTFB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Chờ byte đầu tiên từ server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810244" y="2103120"/>
            <a:ext cx="320040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4" name="Shape 11"/>
          <p:cNvSpPr/>
          <p:nvPr/>
        </p:nvSpPr>
        <p:spPr>
          <a:xfrm>
            <a:off x="9176004" y="1691640"/>
            <a:ext cx="2464308" cy="1188720"/>
          </a:xfrm>
          <a:prstGeom prst="roundRect">
            <a:avLst>
              <a:gd name="adj" fmla="val 7692"/>
            </a:avLst>
          </a:prstGeom>
          <a:solidFill>
            <a:srgbClr val="1D4ED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58884" y="1691640"/>
            <a:ext cx="20985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Tải HTML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Nhận tài liệu, bắt đầu parse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6D28D9"/>
                </a:solidFill>
              </a:rPr>
              <a:t>Giai đoạn render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3474720"/>
            <a:ext cx="2464308" cy="1188720"/>
          </a:xfrm>
          <a:prstGeom prst="roundRect">
            <a:avLst>
              <a:gd name="adj" fmla="val 7692"/>
            </a:avLst>
          </a:prstGeom>
          <a:solidFill>
            <a:srgbClr val="6D28D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3474720"/>
            <a:ext cx="20985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DOM + CSSOM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Parse HTML và CSS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058668" y="3886200"/>
            <a:ext cx="320040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0" name="Shape 17"/>
          <p:cNvSpPr/>
          <p:nvPr/>
        </p:nvSpPr>
        <p:spPr>
          <a:xfrm>
            <a:off x="3424428" y="3474720"/>
            <a:ext cx="2464308" cy="1188720"/>
          </a:xfrm>
          <a:prstGeom prst="roundRect">
            <a:avLst>
              <a:gd name="adj" fmla="val 7692"/>
            </a:avLst>
          </a:prstGeom>
          <a:solidFill>
            <a:srgbClr val="6D28D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607308" y="3474720"/>
            <a:ext cx="20985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Render tree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Chỉ phần tử nhìn thấy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934456" y="3886200"/>
            <a:ext cx="320040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3" name="Shape 20"/>
          <p:cNvSpPr/>
          <p:nvPr/>
        </p:nvSpPr>
        <p:spPr>
          <a:xfrm>
            <a:off x="6300216" y="3474720"/>
            <a:ext cx="2464308" cy="1188720"/>
          </a:xfrm>
          <a:prstGeom prst="roundRect">
            <a:avLst>
              <a:gd name="adj" fmla="val 7692"/>
            </a:avLst>
          </a:prstGeom>
          <a:solidFill>
            <a:srgbClr val="6D28D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83096" y="3474720"/>
            <a:ext cx="20985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Layout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Tính kích thước, vị trí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810244" y="3886200"/>
            <a:ext cx="320040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6" name="Shape 23"/>
          <p:cNvSpPr/>
          <p:nvPr/>
        </p:nvSpPr>
        <p:spPr>
          <a:xfrm>
            <a:off x="9176004" y="3474720"/>
            <a:ext cx="2464308" cy="1188720"/>
          </a:xfrm>
          <a:prstGeom prst="roundRect">
            <a:avLst>
              <a:gd name="adj" fmla="val 7692"/>
            </a:avLst>
          </a:prstGeom>
          <a:solidFill>
            <a:srgbClr val="6D28D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358884" y="3474720"/>
            <a:ext cx="20985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Paint + Composite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Vẽ pixel, ghép lớp</a:t>
            </a:r>
            <a:endParaRPr lang="en-US" sz="1600" dirty="0"/>
          </a:p>
        </p:txBody>
      </p:sp>
      <p:sp>
        <p:nvSpPr>
          <p:cNvPr id="28" name="card"/>
          <p:cNvSpPr/>
          <p:nvPr/>
        </p:nvSpPr>
        <p:spPr>
          <a:xfrm>
            <a:off x="548640" y="4937760"/>
            <a:ext cx="3544824" cy="1280160"/>
          </a:xfrm>
          <a:prstGeom prst="roundRect">
            <a:avLst>
              <a:gd name="adj" fmla="val 7143"/>
            </a:avLst>
          </a:prstGeom>
          <a:solidFill>
            <a:srgbClr val="0F766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4937760"/>
            <a:ext cx="2996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Gửi ít byte hơn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Nén, minify, ảnh nhỏ</a:t>
            </a:r>
            <a:endParaRPr lang="en-US" sz="1600" dirty="0"/>
          </a:p>
        </p:txBody>
      </p:sp>
      <p:sp>
        <p:nvSpPr>
          <p:cNvPr id="30" name="card"/>
          <p:cNvSpPr/>
          <p:nvPr/>
        </p:nvSpPr>
        <p:spPr>
          <a:xfrm>
            <a:off x="4322064" y="4937760"/>
            <a:ext cx="3544824" cy="1280160"/>
          </a:xfrm>
          <a:prstGeom prst="roundRect">
            <a:avLst>
              <a:gd name="adj" fmla="val 7143"/>
            </a:avLst>
          </a:prstGeom>
          <a:solidFill>
            <a:srgbClr val="B45309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596384" y="4937760"/>
            <a:ext cx="2996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Ít request hơn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Cache, bỏ tài nguyên thừa</a:t>
            </a:r>
            <a:endParaRPr lang="en-US" sz="1600" dirty="0"/>
          </a:p>
        </p:txBody>
      </p:sp>
      <p:sp>
        <p:nvSpPr>
          <p:cNvPr id="32" name="card"/>
          <p:cNvSpPr/>
          <p:nvPr/>
        </p:nvSpPr>
        <p:spPr>
          <a:xfrm>
            <a:off x="8095488" y="4937760"/>
            <a:ext cx="3544824" cy="1280160"/>
          </a:xfrm>
          <a:prstGeom prst="roundRect">
            <a:avLst>
              <a:gd name="adj" fmla="val 7143"/>
            </a:avLst>
          </a:prstGeom>
          <a:solidFill>
            <a:srgbClr val="B91C1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369808" y="4937760"/>
            <a:ext cx="2996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Không chặn render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defer, critical CSS, preload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Core Web Vitals: ba chỉ số cần biết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3544824" cy="356616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6" name="Image 0" descr="ta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170809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554480"/>
            <a:ext cx="2264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LCP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37744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2,5 s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47472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Tốc độ hiển thị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Nội dung lớn nhất xuất hiện nhanh đến đâu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4322064" y="1371600"/>
            <a:ext cx="3544824" cy="356616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96384" y="1554480"/>
            <a:ext cx="640080" cy="6400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2" name="Image 1" descr="bo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003" y="170809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19344" y="1554480"/>
            <a:ext cx="2264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</a:t>
            </a:r>
            <a:endParaRPr lang="en-US" sz="2800" dirty="0"/>
          </a:p>
        </p:txBody>
      </p:sp>
      <p:sp>
        <p:nvSpPr>
          <p:cNvPr id="14" name="Text 9"/>
          <p:cNvSpPr txBox="1"/>
          <p:nvPr/>
        </p:nvSpPr>
        <p:spPr>
          <a:xfrm>
            <a:off x="4596384" y="237744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200 ms</a:t>
            </a:r>
            <a:endParaRPr lang="en-US" sz="4400" dirty="0"/>
          </a:p>
        </p:txBody>
      </p:sp>
      <p:sp>
        <p:nvSpPr>
          <p:cNvPr id="15" name="Text 10"/>
          <p:cNvSpPr txBox="1"/>
          <p:nvPr/>
        </p:nvSpPr>
        <p:spPr>
          <a:xfrm>
            <a:off x="4596384" y="347472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Độ phản hồi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Trang phản ứng nhanh thế nào khi bấm, gõ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8095488" y="1371600"/>
            <a:ext cx="3544824" cy="356616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69808" y="155448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8" name="Image 2" descr="laye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427" y="1708099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92768" y="1554480"/>
            <a:ext cx="2264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CLS</a:t>
            </a:r>
            <a:endParaRPr lang="en-US" sz="2800" dirty="0"/>
          </a:p>
        </p:txBody>
      </p:sp>
      <p:sp>
        <p:nvSpPr>
          <p:cNvPr id="20" name="Text 14"/>
          <p:cNvSpPr txBox="1"/>
          <p:nvPr/>
        </p:nvSpPr>
        <p:spPr>
          <a:xfrm>
            <a:off x="8369808" y="237744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0,1</a:t>
            </a:r>
            <a:endParaRPr lang="en-US" sz="4400" dirty="0"/>
          </a:p>
        </p:txBody>
      </p:sp>
      <p:sp>
        <p:nvSpPr>
          <p:cNvPr id="21" name="Text 15"/>
          <p:cNvSpPr txBox="1"/>
          <p:nvPr/>
        </p:nvSpPr>
        <p:spPr>
          <a:xfrm>
            <a:off x="8369808" y="347472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Độ ổn định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Bố cục có bị nhảy ngoài ý muốn không</a:t>
            </a:r>
            <a:endParaRPr lang="en-US" sz="1600" dirty="0"/>
          </a:p>
        </p:txBody>
      </p:sp>
      <p:sp>
        <p:nvSpPr>
          <p:cNvPr id="22" name="card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822960" y="521208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</a:rPr>
              <a:t>Lưu ý:  </a:t>
            </a:r>
            <a:r>
              <a:rPr lang="en-US" sz="1500" dirty="0">
                <a:solidFill>
                  <a:srgbClr val="FFFFFF"/>
                </a:solidFill>
              </a:rPr>
              <a:t>ngưỡng "tốt" đo ở phân vị 75 của người dùng thật. Chỉ số phụ thường gặp trong Lighthouse: FCP, TBT, Speed Index, TTFB.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023360" y="210312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Kỹ thuật tối ưu để tăng tốc độ tải trang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023360" y="374904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</a:rPr>
              <a:t>Đo lường · Ảnh · CSS · JavaScript · Font · Cache · Nén · Runtime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1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Công cụ đo hiệu năng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3544824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6" name="Image 0" descr="ta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168615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55448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Lighthouse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86000"/>
            <a:ext cx="308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Có sẵn trong DevTools. Audit Performance, Accessibility, Best Practices, SEO.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22064" y="1371600"/>
            <a:ext cx="3544824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50664" y="155448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1" descr="glob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338" y="168615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82184" y="155448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PageSpeed Insights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4550664" y="2286000"/>
            <a:ext cx="308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Lighthouse cộng dữ liệu người dùng thật (CrUX) của trang.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95488" y="1371600"/>
            <a:ext cx="3544824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324088" y="1554480"/>
            <a:ext cx="548640" cy="5486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6" name="Image 2" descr="serv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762" y="168615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55608" y="155448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WebPageTest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8324088" y="2286000"/>
            <a:ext cx="308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Thử từ nhiều địa điểm, thiết bị, tốc độ mạng; waterfall chi tiết.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3383280"/>
            <a:ext cx="3544824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77240" y="3566160"/>
            <a:ext cx="548640" cy="54864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1" name="Image 3" descr="ne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369783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08760" y="356616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DevTools: Network, Performance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297680"/>
            <a:ext cx="308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Waterfall, dung lượng, long task, flame chart.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4322064" y="3383280"/>
            <a:ext cx="3544824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550664" y="3566160"/>
            <a:ext cx="548640" cy="54864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26" name="Image 4" descr="char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2338" y="369783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82184" y="356616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Search Console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4550664" y="4297680"/>
            <a:ext cx="308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Báo cáo Core Web Vitals trên dữ liệu người dùng thật.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8095488" y="3383280"/>
            <a:ext cx="3544824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8324088" y="3383280"/>
            <a:ext cx="30876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</a:rPr>
              <a:t>Lab và Field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Lab: giả lập có kiểm soát, dễ lặp lại để debug.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Field: người dùng thật, phản ánh thực tế.</a:t>
            </a:r>
            <a:endParaRPr lang="en-US" sz="1600" dirty="0"/>
          </a:p>
        </p:txBody>
      </p:sp>
      <p:sp>
        <p:nvSpPr>
          <p:cNvPr id="31" name="card"/>
          <p:cNvSpPr/>
          <p:nvPr/>
        </p:nvSpPr>
        <p:spPr>
          <a:xfrm>
            <a:off x="548640" y="539496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4"/>
          <p:cNvSpPr txBox="1"/>
          <p:nvPr/>
        </p:nvSpPr>
        <p:spPr>
          <a:xfrm>
            <a:off x="822960" y="53949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Mẹo đo công bằng:  </a:t>
            </a:r>
            <a:r>
              <a:rPr lang="en-US" sz="1500" dirty="0">
                <a:solidFill>
                  <a:schemeClr val="tx1"/>
                </a:solidFill>
              </a:rPr>
              <a:t>dùng cửa sổ ẩn danh (tắt extension), chạy 3 lần lấy giá trị trung bình, giữ nguyên chế độ Mobile/Desktop khi so sánh trước và sau.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Cải thiện LCP, INP và CLS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3544824" cy="484632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0020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LCP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2148840" y="1600200"/>
            <a:ext cx="1716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Cách cải thiện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68880"/>
            <a:ext cx="308762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dirty="0">
                <a:solidFill>
                  <a:schemeClr val="tx1"/>
                </a:solidFill>
              </a:rPr>
              <a:t>Preload ảnh hero, đúng kích thước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dirty="0">
                <a:solidFill>
                  <a:schemeClr val="tx1"/>
                </a:solidFill>
              </a:rPr>
              <a:t>Giảm TTFB: CDN, cache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dirty="0">
                <a:solidFill>
                  <a:schemeClr val="tx1"/>
                </a:solidFill>
              </a:rPr>
              <a:t>Loại CSS/JS chặn render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dirty="0">
                <a:solidFill>
                  <a:schemeClr val="tx1"/>
                </a:solidFill>
              </a:rPr>
              <a:t>Không lazy-load ảnh LCP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322064" y="1371600"/>
            <a:ext cx="3544824" cy="484632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0664" y="160020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50664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922264" y="1600200"/>
            <a:ext cx="1716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Cách cải thiện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50664" y="2468880"/>
            <a:ext cx="308762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dirty="0">
                <a:solidFill>
                  <a:schemeClr val="tx1"/>
                </a:solidFill>
              </a:rPr>
              <a:t>Chia nhỏ long task (&gt; 50 ms)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dirty="0">
                <a:solidFill>
                  <a:schemeClr val="tx1"/>
                </a:solidFill>
              </a:rPr>
              <a:t>Giảm JS chạy trên main thread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dirty="0">
                <a:solidFill>
                  <a:schemeClr val="tx1"/>
                </a:solidFill>
              </a:rPr>
              <a:t>Debounce sự kiện nhập liệu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dirty="0">
                <a:solidFill>
                  <a:schemeClr val="tx1"/>
                </a:solidFill>
              </a:rPr>
              <a:t>Web Worker cho tính toán nặng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8095488" y="1371600"/>
            <a:ext cx="3544824" cy="484632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24088" y="160020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24088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695688" y="1600200"/>
            <a:ext cx="1716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Cách cải thiện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324088" y="2468880"/>
            <a:ext cx="308762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dirty="0">
                <a:solidFill>
                  <a:schemeClr val="tx1"/>
                </a:solidFill>
              </a:rPr>
              <a:t>Đặt width/height cho ảnh, video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dirty="0">
                <a:solidFill>
                  <a:schemeClr val="tx1"/>
                </a:solidFill>
              </a:rPr>
              <a:t>Chừa chỗ cho quảng cáo, embed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dirty="0">
                <a:solidFill>
                  <a:schemeClr val="tx1"/>
                </a:solidFill>
              </a:rPr>
              <a:t>font-display + preload font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dirty="0">
                <a:solidFill>
                  <a:schemeClr val="tx1"/>
                </a:solidFill>
              </a:rPr>
              <a:t>Không chèn nội dung phía trên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Tối ưu hình ảnh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Chọn đúng định dạng: </a:t>
            </a:r>
            <a:r>
              <a:rPr lang="en-US" sz="1600" dirty="0">
                <a:solidFill>
                  <a:schemeClr val="tx1"/>
                </a:solidFill>
              </a:rPr>
              <a:t>WebP/AVIF cho ảnh, SVG cho logo và icon.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Nén ảnh: </a:t>
            </a:r>
            <a:r>
              <a:rPr lang="en-US" sz="1600" dirty="0">
                <a:solidFill>
                  <a:schemeClr val="tx1"/>
                </a:solidFill>
              </a:rPr>
              <a:t>Squoosh, ImageOptim, build tool tự động.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Đúng kích thước: </a:t>
            </a:r>
            <a:r>
              <a:rPr lang="en-US" sz="1600" dirty="0">
                <a:solidFill>
                  <a:schemeClr val="tx1"/>
                </a:solidFill>
              </a:rPr>
              <a:t>không dùng ảnh 4000px cho khung 400px.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Responsive: </a:t>
            </a:r>
            <a:r>
              <a:rPr lang="en-US" sz="1600" dirty="0">
                <a:solidFill>
                  <a:schemeClr val="tx1"/>
                </a:solidFill>
              </a:rPr>
              <a:t>srcset và sizes để chọn ảnh theo màn hình.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Lazy loading: </a:t>
            </a:r>
            <a:r>
              <a:rPr lang="en-US" sz="1600" dirty="0">
                <a:solidFill>
                  <a:schemeClr val="tx1"/>
                </a:solidFill>
              </a:rPr>
              <a:t>chỉ tải ảnh khi gần cuộn tới.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Khai báo width/height </a:t>
            </a:r>
            <a:r>
              <a:rPr lang="en-US" sz="1600" dirty="0">
                <a:solidFill>
                  <a:schemeClr val="tx1"/>
                </a:solidFill>
              </a:rPr>
              <a:t>để tránh nhảy bố cục (CLS).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5669280"/>
            <a:ext cx="512064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56692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</a:rPr>
              <a:t>Ảnh LCP: không dùng lazy, có thể thêm fetchpriority="high"</a:t>
            </a:r>
            <a:endParaRPr lang="en-US" sz="1300" dirty="0"/>
          </a:p>
        </p:txBody>
      </p:sp>
      <p:sp>
        <p:nvSpPr>
          <p:cNvPr id="7" name="code"/>
          <p:cNvSpPr/>
          <p:nvPr/>
        </p:nvSpPr>
        <p:spPr>
          <a:xfrm>
            <a:off x="5852160" y="1371600"/>
            <a:ext cx="5788152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8" name="Shape 5"/>
          <p:cNvSpPr/>
          <p:nvPr/>
        </p:nvSpPr>
        <p:spPr>
          <a:xfrm>
            <a:off x="6035040" y="15270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6"/>
          <p:cNvSpPr/>
          <p:nvPr/>
        </p:nvSpPr>
        <p:spPr>
          <a:xfrm>
            <a:off x="6236208" y="15270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7"/>
          <p:cNvSpPr/>
          <p:nvPr/>
        </p:nvSpPr>
        <p:spPr>
          <a:xfrm>
            <a:off x="6437376" y="152704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66560" y="1463040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images.html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080760" y="1828800"/>
            <a:ext cx="542239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src="hero-800.webp"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srcset="hero-400.webp 400w,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hero-800.webp 800w,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hero-1600.webp 1600w"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sizes="(max-width: 600px) 100vw, 800px"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width="800" height="450"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alt="Sân vận động về đêm"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loading="lazy" decoding="async"&gt;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Dự phòng định dạng --&gt;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&lt;picture&gt;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type="image/avif" srcset="a.avif"&gt;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type="image/webp" srcset="a.webp"&gt;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src="a.jpg" alt="Giày chạy bộ"&gt;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&lt;/picture&gt;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Tối ưu CSS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Minify: </a:t>
            </a:r>
            <a:r>
              <a:rPr lang="en-US" sz="1600" dirty="0">
                <a:solidFill>
                  <a:schemeClr val="tx1"/>
                </a:solidFill>
              </a:rPr>
              <a:t>bỏ khoảng trắng, chú thích.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Loại CSS thừa: </a:t>
            </a:r>
            <a:r>
              <a:rPr lang="en-US" sz="1600" dirty="0">
                <a:solidFill>
                  <a:schemeClr val="tx1"/>
                </a:solidFill>
              </a:rPr>
              <a:t>tab Coverage, PurgeCSS; tránh nạp cả thư viện nếu chỉ dùng một phần.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Critical CSS: </a:t>
            </a:r>
            <a:r>
              <a:rPr lang="en-US" sz="1600" dirty="0">
                <a:solidFill>
                  <a:schemeClr val="tx1"/>
                </a:solidFill>
              </a:rPr>
              <a:t>inline phần đầu trang, phần còn lại tải sau.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Tránh @import: </a:t>
            </a:r>
            <a:r>
              <a:rPr lang="en-US" sz="1600" dirty="0">
                <a:solidFill>
                  <a:schemeClr val="tx1"/>
                </a:solidFill>
              </a:rPr>
              <a:t>tải nối tiếp, làm chậm render.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Animation: </a:t>
            </a:r>
            <a:r>
              <a:rPr lang="en-US" sz="1600" dirty="0">
                <a:solidFill>
                  <a:schemeClr val="tx1"/>
                </a:solidFill>
              </a:rPr>
              <a:t>ưu tiên transform và opacity thay vì top/left/width.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content-visibility: auto </a:t>
            </a:r>
            <a:r>
              <a:rPr lang="en-US" sz="1600" dirty="0">
                <a:solidFill>
                  <a:schemeClr val="tx1"/>
                </a:solidFill>
              </a:rPr>
              <a:t>cho khối nằm ngoài màn hình.</a:t>
            </a:r>
            <a:endParaRPr lang="en-US" sz="1600" dirty="0"/>
          </a:p>
        </p:txBody>
      </p:sp>
      <p:sp>
        <p:nvSpPr>
          <p:cNvPr id="5" name="code"/>
          <p:cNvSpPr/>
          <p:nvPr/>
        </p:nvSpPr>
        <p:spPr>
          <a:xfrm>
            <a:off x="6309360" y="1371600"/>
            <a:ext cx="5330952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6" name="Shape 3"/>
          <p:cNvSpPr/>
          <p:nvPr/>
        </p:nvSpPr>
        <p:spPr>
          <a:xfrm>
            <a:off x="6492240" y="15270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4"/>
          <p:cNvSpPr/>
          <p:nvPr/>
        </p:nvSpPr>
        <p:spPr>
          <a:xfrm>
            <a:off x="6693408" y="15270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5"/>
          <p:cNvSpPr/>
          <p:nvPr/>
        </p:nvSpPr>
        <p:spPr>
          <a:xfrm>
            <a:off x="6894576" y="152704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223760" y="1463040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1828800"/>
            <a:ext cx="496519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Critical CSS: inline, phần đầu trang --&gt;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&lt;style&gt;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 { display: flex;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.hero  { min-height: 60vh;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&lt;/style&gt;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CSS chính: minify --&gt;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rel="stylesheet" href="main.min.css"&gt;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Chỉ dùng khi in: không chặn render --&gt;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rel="stylesheet" href="print.css"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media="print"&gt;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Animation mượt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 transition: transform .2s;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.card:hover { transform: translateY(-4px); 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Tối ưu JavaScript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Minify &amp; nén: </a:t>
            </a:r>
            <a:r>
              <a:rPr lang="en-US" sz="1600" dirty="0">
                <a:solidFill>
                  <a:schemeClr val="tx1"/>
                </a:solidFill>
              </a:rPr>
              <a:t>terser, esbuild; kết hợp Gzip/Brotli.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Tree shaking: </a:t>
            </a:r>
            <a:r>
              <a:rPr lang="en-US" sz="1600" dirty="0">
                <a:solidFill>
                  <a:schemeClr val="tx1"/>
                </a:solidFill>
              </a:rPr>
              <a:t>import chỉ phần cần dùng, ví dụ lodash-es.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Code splitting: </a:t>
            </a:r>
            <a:r>
              <a:rPr lang="en-US" sz="1600" dirty="0">
                <a:solidFill>
                  <a:schemeClr val="tx1"/>
                </a:solidFill>
              </a:rPr>
              <a:t>tách bundle theo route hoặc tính năng.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Thay thư viện nặng: </a:t>
            </a:r>
            <a:r>
              <a:rPr lang="en-US" sz="1600" dirty="0">
                <a:solidFill>
                  <a:schemeClr val="tx1"/>
                </a:solidFill>
              </a:rPr>
              <a:t>moment → dayjs, bỏ jQuery nếu không cần.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Script bên thứ ba: </a:t>
            </a:r>
            <a:r>
              <a:rPr lang="en-US" sz="1600" dirty="0">
                <a:solidFill>
                  <a:schemeClr val="tx1"/>
                </a:solidFill>
              </a:rPr>
              <a:t>tải muộn (analytics, chat), đo ảnh hưởng.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Phân tích bundle: </a:t>
            </a:r>
            <a:r>
              <a:rPr lang="en-US" sz="1600" dirty="0">
                <a:solidFill>
                  <a:schemeClr val="tx1"/>
                </a:solidFill>
              </a:rPr>
              <a:t>Vite visualizer, source-map-explorer.</a:t>
            </a:r>
            <a:endParaRPr lang="en-US" sz="1600" dirty="0"/>
          </a:p>
        </p:txBody>
      </p:sp>
      <p:sp>
        <p:nvSpPr>
          <p:cNvPr id="5" name="code"/>
          <p:cNvSpPr/>
          <p:nvPr/>
        </p:nvSpPr>
        <p:spPr>
          <a:xfrm>
            <a:off x="6309360" y="1371600"/>
            <a:ext cx="5330952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6" name="Shape 3"/>
          <p:cNvSpPr/>
          <p:nvPr/>
        </p:nvSpPr>
        <p:spPr>
          <a:xfrm>
            <a:off x="6492240" y="15270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4"/>
          <p:cNvSpPr/>
          <p:nvPr/>
        </p:nvSpPr>
        <p:spPr>
          <a:xfrm>
            <a:off x="6693408" y="15270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5"/>
          <p:cNvSpPr/>
          <p:nvPr/>
        </p:nvSpPr>
        <p:spPr>
          <a:xfrm>
            <a:off x="6894576" y="152704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223760" y="1463040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splitting.js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1828800"/>
            <a:ext cx="496519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Code splitting: chỉ tải khi cần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button.addEventListener("click", async () =&gt;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openChart } = await import("./chart.js");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openChart(data);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React: tải component theo route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Admin = React.lazy(() =&gt; import("./Admin"));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&lt;Suspense fallback={&lt;Spinner /&gt;}&gt;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&lt;Admin 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&lt;/Suspense&gt;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Tree shaking: chỉ lấy hàm cần dùng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debounce } from "lodash-es";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defer và async: tải script không chặn trang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11091672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Mặc định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Chặn parse HTML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926080" y="1645920"/>
            <a:ext cx="1792224" cy="4114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926080" y="164592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Parse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18304" y="1645920"/>
            <a:ext cx="2329891" cy="411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718304" y="1645920"/>
            <a:ext cx="23298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Tải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48195" y="1645920"/>
            <a:ext cx="896112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048195" y="164592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Chạy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44307" y="1645920"/>
            <a:ext cx="2150669" cy="4114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944307" y="1645920"/>
            <a:ext cx="21506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Parse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548640" y="2926080"/>
            <a:ext cx="11091672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31520" y="292608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Chạy ngay khi tải xong, không đảm bảo thứ tự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926080" y="3108960"/>
            <a:ext cx="3226003" cy="4114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926080" y="3108960"/>
            <a:ext cx="322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Parse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52083" y="3108960"/>
            <a:ext cx="896112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152083" y="310896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Chạy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48195" y="3108960"/>
            <a:ext cx="3046781" cy="4114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048195" y="3108960"/>
            <a:ext cx="30467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Parse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822192" y="3703320"/>
            <a:ext cx="2329891" cy="365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822192" y="3703320"/>
            <a:ext cx="23298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Tải song song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548640" y="4389120"/>
            <a:ext cx="11091672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31520" y="438912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Chạy sau khi parse xong, giữ thứ tự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926080" y="4572000"/>
            <a:ext cx="6272784" cy="4114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926080" y="4572000"/>
            <a:ext cx="6272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Parse HTML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198864" y="4572000"/>
            <a:ext cx="896112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198864" y="457200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Chạy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822192" y="5166360"/>
            <a:ext cx="2329891" cy="365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822192" y="5166360"/>
            <a:ext cx="23298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Tải song song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5989320"/>
            <a:ext cx="228600" cy="2286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68680" y="5943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Parse HTML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2651760" y="5989320"/>
            <a:ext cx="228600" cy="228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2971800" y="5943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Tải script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754880" y="5989320"/>
            <a:ext cx="228600" cy="2286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074920" y="5943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Chạy script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675120" y="5943600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2"/>
                </a:solidFill>
              </a:rPr>
              <a:t>Dùng defer cho script ứng dụng, async cho script độc lập (analytics)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Font web và resource hints</a:t>
            </a:r>
            <a:endParaRPr lang="en-US" sz="3000" dirty="0"/>
          </a:p>
        </p:txBody>
      </p:sp>
      <p:sp>
        <p:nvSpPr>
          <p:cNvPr id="4" name="code"/>
          <p:cNvSpPr/>
          <p:nvPr/>
        </p:nvSpPr>
        <p:spPr>
          <a:xfrm>
            <a:off x="548640" y="1371600"/>
            <a:ext cx="594360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5270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6" name="Shape 3"/>
          <p:cNvSpPr/>
          <p:nvPr/>
        </p:nvSpPr>
        <p:spPr>
          <a:xfrm>
            <a:off x="932688" y="15270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4"/>
          <p:cNvSpPr/>
          <p:nvPr/>
        </p:nvSpPr>
        <p:spPr>
          <a:xfrm>
            <a:off x="1133856" y="152704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630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fonts.css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82880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@font-face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"Inter";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src: url("inter-vi.woff2") format("woff2");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400;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font-display: swap;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code"/>
          <p:cNvSpPr/>
          <p:nvPr/>
        </p:nvSpPr>
        <p:spPr>
          <a:xfrm>
            <a:off x="548640" y="3749040"/>
            <a:ext cx="5943600" cy="2468880"/>
          </a:xfrm>
          <a:prstGeom prst="roundRect">
            <a:avLst>
              <a:gd name="adj" fmla="val 2963"/>
            </a:avLst>
          </a:prstGeom>
          <a:solidFill>
            <a:schemeClr val="tx2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390448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2" name="Shape 9"/>
          <p:cNvSpPr/>
          <p:nvPr/>
        </p:nvSpPr>
        <p:spPr>
          <a:xfrm>
            <a:off x="932688" y="390448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Shape 10"/>
          <p:cNvSpPr/>
          <p:nvPr/>
        </p:nvSpPr>
        <p:spPr>
          <a:xfrm>
            <a:off x="1133856" y="390448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463040" y="3840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head.html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206240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rel="preconnect" href="https://cdn.example.com"&gt;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rel="preload" href="inter-vi.woff2"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as="font" type="font/woff2" crossorigin&gt;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rel="prefetch" href="/checkout.js"&gt;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rel="dns-prefetch" href="//cdn.example.com"&gt;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6766560" y="1371600"/>
            <a:ext cx="4873752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949440" y="137160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preconnect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0" y="137160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Kết nối sớm tới origin sẽ dùng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766560" y="2331720"/>
            <a:ext cx="4873752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949440" y="233172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preload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233172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Tài nguyên quan trọng cho trang này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6766560" y="3291840"/>
            <a:ext cx="4873752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949440" y="329184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prefetch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0" y="329184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Tài nguyên cho lần điều hướng sau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6766560" y="4251960"/>
            <a:ext cx="4873752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949440" y="425196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dns-prefetch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0" y="425196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Chỉ tra DNS trước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6766560" y="5257800"/>
            <a:ext cx="4873752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995160" y="525780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</a:rPr>
              <a:t>Font:  </a:t>
            </a:r>
            <a:r>
              <a:rPr lang="en-US" sz="1400" dirty="0">
                <a:solidFill>
                  <a:srgbClr val="FFFFFF"/>
                </a:solidFill>
              </a:rPr>
              <a:t>dùng woff2, chỉ nạp weight cần, subset tiếng Việt, font-display: swap.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Caching và CDN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395020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Cache-Control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Ý nghĩa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Dùng cho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no-store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Không lưu vào cache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Dữ liệu nhạy cảm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no-cache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Lưu nhưng phải hỏi lại server trước khi dùng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File HTML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max-age=31536000, immutable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Cache 1 năm, không cần hỏi lại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Tệp có hash: app.3f9a1c.js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 / private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CDN được cache / chỉ trình duyệt cache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Nội dung chung / riêng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stale-while-revalidate=60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Dùng bản cũ trong lúc cập nhật nền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API ít thay đổi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8869680" y="1371600"/>
            <a:ext cx="2770632" cy="4389120"/>
          </a:xfrm>
          <a:prstGeom prst="roundRect">
            <a:avLst>
              <a:gd name="adj" fmla="val 3300"/>
            </a:avLst>
          </a:prstGeom>
          <a:solidFill>
            <a:schemeClr val="tx2"/>
          </a:solidFill>
          <a:ln/>
        </p:spPr>
      </p:sp>
      <p:sp>
        <p:nvSpPr>
          <p:cNvPr id="6" name="Shape 2"/>
          <p:cNvSpPr/>
          <p:nvPr/>
        </p:nvSpPr>
        <p:spPr>
          <a:xfrm>
            <a:off x="9098280" y="155448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" name="Image 0" descr="clou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926" y="1697126"/>
            <a:ext cx="309067" cy="30906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829800" y="15544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CDN</a:t>
            </a:r>
            <a:endParaRPr lang="en-US" sz="2200" dirty="0"/>
          </a:p>
        </p:txBody>
      </p:sp>
      <p:sp>
        <p:nvSpPr>
          <p:cNvPr id="9" name="Text 4"/>
          <p:cNvSpPr txBox="1"/>
          <p:nvPr/>
        </p:nvSpPr>
        <p:spPr>
          <a:xfrm>
            <a:off x="9098280" y="2377440"/>
            <a:ext cx="2377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dirty="0">
                <a:solidFill>
                  <a:schemeClr val="bg1"/>
                </a:solidFill>
              </a:rPr>
              <a:t>Bản sao ở máy chủ gần người dùng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dirty="0">
                <a:solidFill>
                  <a:schemeClr val="bg1"/>
                </a:solidFill>
              </a:rPr>
              <a:t>Giảm TTFB và tải cho server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dirty="0">
                <a:solidFill>
                  <a:schemeClr val="bg1"/>
                </a:solidFill>
              </a:rPr>
              <a:t>Thường kèm nén và HTTP/2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dirty="0">
                <a:solidFill>
                  <a:schemeClr val="bg1"/>
                </a:solidFill>
              </a:rPr>
              <a:t>Cache busting: đổi tên file khi nội dung đổi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822960" y="58521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Quy tắc: HTML dùng no-cache; file tĩnh có hash dùng max-age dài + immutable.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Nén dữ liệu và giao thức HTTP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3544824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6" name="Image 0" descr="compr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168615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55448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Nén văn bản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86000"/>
            <a:ext cx="3087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Gzip hoặc Brotli cho HTML, CSS, JS, JSON, SVG. Ảnh và video đã nén sẵn, không nén thêm.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22064" y="1371600"/>
            <a:ext cx="3544824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50664" y="155448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1" descr="bo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338" y="168615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82184" y="155448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HTTP/2 và HTTP/3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550664" y="2286000"/>
            <a:ext cx="3087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Multiplexing nhiều request trên một kết nối, nén header; HTTP/3 chạy trên QUIC giảm độ trễ.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95488" y="1371600"/>
            <a:ext cx="3544824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324088" y="1554480"/>
            <a:ext cx="548640" cy="5486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6" name="Image 2" descr="lin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762" y="168615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55608" y="155448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Ít request hơn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324088" y="2286000"/>
            <a:ext cx="3087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Bỏ tài nguyên thừa, tránh redirect, inline SVG nhỏ, gộp hợp lý.</a:t>
            </a:r>
            <a:endParaRPr lang="en-US" sz="1400" dirty="0"/>
          </a:p>
        </p:txBody>
      </p:sp>
      <p:sp>
        <p:nvSpPr>
          <p:cNvPr id="19" name="code"/>
          <p:cNvSpPr/>
          <p:nvPr/>
        </p:nvSpPr>
        <p:spPr>
          <a:xfrm>
            <a:off x="548640" y="3977640"/>
            <a:ext cx="640080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20" name="Shape 14"/>
          <p:cNvSpPr/>
          <p:nvPr/>
        </p:nvSpPr>
        <p:spPr>
          <a:xfrm>
            <a:off x="731520" y="413308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1" name="Shape 15"/>
          <p:cNvSpPr/>
          <p:nvPr/>
        </p:nvSpPr>
        <p:spPr>
          <a:xfrm>
            <a:off x="932688" y="413308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Shape 16"/>
          <p:cNvSpPr/>
          <p:nvPr/>
        </p:nvSpPr>
        <p:spPr>
          <a:xfrm>
            <a:off x="1133856" y="413308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1463040" y="4069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nginx.conf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4434840"/>
            <a:ext cx="6035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nginx (minh họa)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gzip on;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gzip_types text/css application/javascript application/json;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/assets/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add_header Cache-Control "public, max-age=31536000, immutable";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7178040" y="3977640"/>
            <a:ext cx="4462272" cy="2240280"/>
          </a:xfrm>
          <a:prstGeom prst="roundRect">
            <a:avLst>
              <a:gd name="adj" fmla="val 4082"/>
            </a:avLst>
          </a:prstGeom>
          <a:solidFill>
            <a:schemeClr val="tx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45236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</a:rPr>
              <a:t>Kiểm tra trong DevTools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7452360" y="46177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dirty="0">
                <a:solidFill>
                  <a:schemeClr val="bg1"/>
                </a:solidFill>
              </a:rPr>
              <a:t>Network → bật cột Content-Encoding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dirty="0">
                <a:solidFill>
                  <a:schemeClr val="bg1"/>
                </a:solidFill>
              </a:rPr>
              <a:t>Cột Protocol: h2 hoặc h3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dirty="0">
                <a:solidFill>
                  <a:schemeClr val="bg1"/>
                </a:solidFill>
              </a:rPr>
              <a:t>So sánh Size và Transferred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Tối ưu khi chạy: sự kiện, render, framework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Debounce / throttle: </a:t>
            </a:r>
            <a:r>
              <a:rPr lang="en-US" sz="1600" dirty="0">
                <a:solidFill>
                  <a:schemeClr val="tx1"/>
                </a:solidFill>
              </a:rPr>
              <a:t>cho input, scroll, resize.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requestAnimationFrame: </a:t>
            </a:r>
            <a:r>
              <a:rPr lang="en-US" sz="1600" dirty="0">
                <a:solidFill>
                  <a:schemeClr val="tx1"/>
                </a:solidFill>
              </a:rPr>
              <a:t>cập nhật giao diện đúng nhịp vẽ.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Tránh layout thrashing: </a:t>
            </a:r>
            <a:r>
              <a:rPr lang="en-US" sz="1600" dirty="0">
                <a:solidFill>
                  <a:schemeClr val="tx1"/>
                </a:solidFill>
              </a:rPr>
              <a:t>đọc hết rồi mới ghi style.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Virtual list: </a:t>
            </a:r>
            <a:r>
              <a:rPr lang="en-US" sz="1600" dirty="0">
                <a:solidFill>
                  <a:schemeClr val="tx1"/>
                </a:solidFill>
              </a:rPr>
              <a:t>chỉ render phần đang thấy của danh sách dài.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React.memo, useMemo: </a:t>
            </a:r>
            <a:r>
              <a:rPr lang="en-US" sz="1600" dirty="0">
                <a:solidFill>
                  <a:schemeClr val="tx1"/>
                </a:solidFill>
              </a:rPr>
              <a:t>chỉ dùng khi đã đo thấy chậm.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Web Worker: </a:t>
            </a:r>
            <a:r>
              <a:rPr lang="en-US" sz="1600" dirty="0">
                <a:solidFill>
                  <a:schemeClr val="tx1"/>
                </a:solidFill>
              </a:rPr>
              <a:t>đưa tính toán nặng ra khỏi main thread.</a:t>
            </a:r>
            <a:endParaRPr lang="en-US" sz="1600" dirty="0"/>
          </a:p>
        </p:txBody>
      </p:sp>
      <p:sp>
        <p:nvSpPr>
          <p:cNvPr id="5" name="code"/>
          <p:cNvSpPr/>
          <p:nvPr/>
        </p:nvSpPr>
        <p:spPr>
          <a:xfrm>
            <a:off x="6309360" y="1371600"/>
            <a:ext cx="5330952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6" name="Shape 3"/>
          <p:cNvSpPr/>
          <p:nvPr/>
        </p:nvSpPr>
        <p:spPr>
          <a:xfrm>
            <a:off x="6492240" y="15270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4"/>
          <p:cNvSpPr/>
          <p:nvPr/>
        </p:nvSpPr>
        <p:spPr>
          <a:xfrm>
            <a:off x="6693408" y="15270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5"/>
          <p:cNvSpPr/>
          <p:nvPr/>
        </p:nvSpPr>
        <p:spPr>
          <a:xfrm>
            <a:off x="6894576" y="152704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223760" y="1463040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debounce.js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1828800"/>
            <a:ext cx="496519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debounce(fn, ms = 300)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timer;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(...args) =&gt;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clearTimeout(timer);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timer = setTimeout(() =&gt; fn(...args), ms);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Chỉ gọi API sau khi người dùng ngừng gõ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input.addEventListener(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debounce((e) =&gt; search(e.target.value), 300)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Demo 1: phân tích trang chậm bằng Lighthouse</a:t>
            </a:r>
            <a:endParaRPr lang="en-US" sz="3000" dirty="0"/>
          </a:p>
        </p:txBody>
      </p:sp>
      <p:sp>
        <p:nvSpPr>
          <p:cNvPr id="4" name="code"/>
          <p:cNvSpPr/>
          <p:nvPr/>
        </p:nvSpPr>
        <p:spPr>
          <a:xfrm>
            <a:off x="548640" y="1371600"/>
            <a:ext cx="694944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5270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6" name="Shape 3"/>
          <p:cNvSpPr/>
          <p:nvPr/>
        </p:nvSpPr>
        <p:spPr>
          <a:xfrm>
            <a:off x="932688" y="15270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4"/>
          <p:cNvSpPr/>
          <p:nvPr/>
        </p:nvSpPr>
        <p:spPr>
          <a:xfrm>
            <a:off x="1133856" y="152704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63040" y="14630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slow-shop.html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828800"/>
            <a:ext cx="6583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rel="stylesheet" href="bootstrap-full.css"&gt;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rel="stylesheet"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href="https://fonts.googleapis.com/css2?family=Roboto"&gt;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 src="jquery.js"&gt;&lt;/script&gt;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 src="tracking.js"&gt;&lt;/script&gt;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src="banner-4000px.png"&gt;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&lt;h1&gt;Cửa hàng giày&lt;/h1&gt;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src="product-1.jpg"&gt;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src="product-2.jpg"&gt;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(let i = 0; i &lt; 1000;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list.innerHTML += "&lt;li&gt;SP " + i + "&lt;/li&gt;";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&lt;/script&gt;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7680960" y="1371600"/>
            <a:ext cx="3959352" cy="4846320"/>
          </a:xfrm>
          <a:prstGeom prst="roundRect">
            <a:avLst>
              <a:gd name="adj" fmla="val 23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95528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Nhiệm </a:t>
            </a:r>
            <a:r>
              <a:rPr lang="en-US" sz="1800" b="1" dirty="0" err="1">
                <a:solidFill>
                  <a:schemeClr val="tx2"/>
                </a:solidFill>
              </a:rPr>
              <a:t>vụ</a:t>
            </a:r>
            <a:r>
              <a:rPr lang="en-US" sz="1800" b="1" dirty="0">
                <a:solidFill>
                  <a:schemeClr val="tx2"/>
                </a:solidFill>
              </a:rPr>
              <a:t> </a:t>
            </a:r>
            <a:r>
              <a:rPr lang="en-US" sz="1800" b="1" dirty="0" err="1">
                <a:solidFill>
                  <a:schemeClr val="tx2"/>
                </a:solidFill>
              </a:rPr>
              <a:t>sinh</a:t>
            </a:r>
            <a:r>
              <a:rPr lang="en-US" sz="1800" b="1" dirty="0">
                <a:solidFill>
                  <a:schemeClr val="tx2"/>
                </a:solidFill>
              </a:rPr>
              <a:t> </a:t>
            </a:r>
            <a:r>
              <a:rPr lang="en-US" sz="1800" b="1" dirty="0" err="1">
                <a:solidFill>
                  <a:schemeClr val="tx2"/>
                </a:solidFill>
              </a:rPr>
              <a:t>viên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205740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Chạy Lighthouse (Mobile), ghi điểm Performance, LCP, CLS, TBT.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Đọc Opportunities và Diagnostics.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Xem waterfall trong Network: tài nguyên nào chặn?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Liệt kê 5 vấn đề lớn nhất và nêu cách sửa.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7909560" y="5212080"/>
            <a:ext cx="3502152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09560" y="52120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D4BF"/>
                </a:solidFill>
              </a:rPr>
              <a:t>Chưa sửa gì: lưu số liệu "trước"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Lab 1: tối ưu slow-shop.html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612648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" y="1481328"/>
            <a:ext cx="493776" cy="49377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4813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37160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Chạy Lighthouse Mobile, ghi số liệu trước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52160" y="158191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852160" y="15819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4′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548640" y="2194560"/>
            <a:ext cx="612648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304288"/>
            <a:ext cx="493776" cy="49377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23042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1945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Chọn 3 vấn đề lớn nhất theo Opportunities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852160" y="240487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852160" y="24048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3′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548640" y="3017520"/>
            <a:ext cx="612648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5800" y="3127248"/>
            <a:ext cx="493776" cy="49377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3127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01752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Sửa ảnh: WebP, đúng kích thước, width/height, lazy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852160" y="322783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852160" y="322783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5′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548640" y="3840480"/>
            <a:ext cx="612648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5800" y="3950208"/>
            <a:ext cx="493776" cy="49377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85800" y="39502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371600" y="384048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Sửa script (defer) và CSS (bỏ phần thừa)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852160" y="405079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852160" y="40507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4′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548640" y="4663440"/>
            <a:ext cx="612648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85800" y="4773168"/>
            <a:ext cx="493776" cy="49377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85800" y="47731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1371600" y="466344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Chạy lại Lighthouse, so sánh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852160" y="487375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852160" y="48737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2′</a:t>
            </a:r>
            <a:endParaRPr lang="en-US" sz="1200" dirty="0"/>
          </a:p>
        </p:txBody>
      </p:sp>
      <p:sp>
        <p:nvSpPr>
          <p:cNvPr id="34" name="card"/>
          <p:cNvSpPr/>
          <p:nvPr/>
        </p:nvSpPr>
        <p:spPr>
          <a:xfrm>
            <a:off x="548640" y="5486400"/>
            <a:ext cx="612648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85800" y="5596128"/>
            <a:ext cx="493776" cy="49377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85800" y="55961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371600" y="548640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Điền bảng trước/sau, chia sẻ kết quả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852160" y="569671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852160" y="56967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2′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94944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Bảng trước / sau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828800"/>
          <a:ext cx="4690872" cy="396849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Chỉ số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Trước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Sau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Điểm Performance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LCP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CLS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TBT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Dung lượng trang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Số request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Tổng </a:t>
            </a:r>
            <a:r>
              <a:rPr lang="en-US" sz="3000" b="1" dirty="0" err="1">
                <a:solidFill>
                  <a:schemeClr val="tx2"/>
                </a:solidFill>
              </a:rPr>
              <a:t>kết</a:t>
            </a:r>
            <a:r>
              <a:rPr lang="en-US" sz="3000" b="1" dirty="0">
                <a:solidFill>
                  <a:schemeClr val="tx2"/>
                </a:solidFill>
              </a:rPr>
              <a:t> 2.1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Điều cần nhớ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74520"/>
            <a:ext cx="5760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Đo trước, tối ưu, đo lại: </a:t>
            </a:r>
            <a:r>
              <a:rPr lang="en-US" sz="1600" dirty="0">
                <a:solidFill>
                  <a:schemeClr val="tx1"/>
                </a:solidFill>
              </a:rPr>
              <a:t>Lighthouse, PageSpeed Insights.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Core Web Vitals: </a:t>
            </a:r>
            <a:r>
              <a:rPr lang="en-US" sz="1600" dirty="0">
                <a:solidFill>
                  <a:schemeClr val="tx1"/>
                </a:solidFill>
              </a:rPr>
              <a:t>LCP, INP, CLS.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Ảnh: </a:t>
            </a:r>
            <a:r>
              <a:rPr lang="en-US" sz="1600" dirty="0">
                <a:solidFill>
                  <a:schemeClr val="tx1"/>
                </a:solidFill>
              </a:rPr>
              <a:t>WebP/AVIF, đúng kích thước, lazy, width/height.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CSS / JS: </a:t>
            </a:r>
            <a:r>
              <a:rPr lang="en-US" sz="1600" dirty="0">
                <a:solidFill>
                  <a:schemeClr val="tx1"/>
                </a:solidFill>
              </a:rPr>
              <a:t>minify, loại thừa, defer, code splitting.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9488"/>
                </a:solidFill>
              </a:rPr>
              <a:t>▪ </a:t>
            </a:r>
            <a:r>
              <a:rPr lang="en-US" sz="1600" b="1" dirty="0">
                <a:solidFill>
                  <a:schemeClr val="tx1"/>
                </a:solidFill>
              </a:rPr>
              <a:t>Mạng: </a:t>
            </a:r>
            <a:r>
              <a:rPr lang="en-US" sz="1600" dirty="0">
                <a:solidFill>
                  <a:schemeClr val="tx1"/>
                </a:solidFill>
              </a:rPr>
              <a:t>cache, CDN, Brotli, HTTP/2.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6583680" y="3611880"/>
            <a:ext cx="5056632" cy="26060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85800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Câu hỏi nhanh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858000" y="420624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async khác defer thế nào?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Vì sao file có hash trong tên có thể cache 1 năm?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Làm sao giảm CLS khi tải ảnh?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023360" y="210312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SEO: tối ưu trang web để xếp hạng cao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023360" y="374904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</a:rPr>
              <a:t>Công cụ tìm kiếm hoạt động · On-page · Meta · Structured data · robots.txt · SPA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SEO là gì? Công cụ tìm kiếm hoạt động thế nào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3544824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6" name="Image 0" descr="spi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697126"/>
            <a:ext cx="309067" cy="30906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554480"/>
            <a:ext cx="2356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1. Crawl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86000"/>
            <a:ext cx="3087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Bot đi theo liên kết, thu thập HTML, CSS, JS.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075176" y="2240280"/>
            <a:ext cx="265176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0" name="card"/>
          <p:cNvSpPr/>
          <p:nvPr/>
        </p:nvSpPr>
        <p:spPr>
          <a:xfrm>
            <a:off x="4322064" y="1371600"/>
            <a:ext cx="3544824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50664" y="155448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1" descr="d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310" y="1697126"/>
            <a:ext cx="309067" cy="309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27904" y="1554480"/>
            <a:ext cx="2356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2. Index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4550664" y="2286000"/>
            <a:ext cx="3087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Phân tích nội dung, lưu vào chỉ mục.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848600" y="2240280"/>
            <a:ext cx="265176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6" name="card"/>
          <p:cNvSpPr/>
          <p:nvPr/>
        </p:nvSpPr>
        <p:spPr>
          <a:xfrm>
            <a:off x="8095488" y="1371600"/>
            <a:ext cx="3544824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24088" y="1554480"/>
            <a:ext cx="594360" cy="59436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8" name="Image 2" descr="st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734" y="1697126"/>
            <a:ext cx="309067" cy="309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01328" y="1554480"/>
            <a:ext cx="2356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3. Rank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8324088" y="2286000"/>
            <a:ext cx="3087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Xếp hạng khi có truy vấn, theo độ liên quan và chất lượng.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3703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 nhóm công việc SEO</a:t>
            </a:r>
            <a:endParaRPr lang="en-US" sz="1800" dirty="0"/>
          </a:p>
        </p:txBody>
      </p:sp>
      <p:sp>
        <p:nvSpPr>
          <p:cNvPr id="22" name="card"/>
          <p:cNvSpPr/>
          <p:nvPr/>
        </p:nvSpPr>
        <p:spPr>
          <a:xfrm>
            <a:off x="548640" y="4160520"/>
            <a:ext cx="3544824" cy="2057400"/>
          </a:xfrm>
          <a:prstGeom prst="roundRect">
            <a:avLst>
              <a:gd name="adj" fmla="val 4444"/>
            </a:avLst>
          </a:prstGeom>
          <a:solidFill>
            <a:srgbClr val="B45309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822960" y="416052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Technical SEO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Bot truy cập và hiểu được trang: tốc độ, HTTPS, robots.txt, sitemap, render JS.</a:t>
            </a:r>
            <a:endParaRPr lang="en-US" sz="1600" dirty="0"/>
          </a:p>
        </p:txBody>
      </p:sp>
      <p:sp>
        <p:nvSpPr>
          <p:cNvPr id="24" name="card"/>
          <p:cNvSpPr/>
          <p:nvPr/>
        </p:nvSpPr>
        <p:spPr>
          <a:xfrm>
            <a:off x="4322064" y="4160520"/>
            <a:ext cx="3544824" cy="2057400"/>
          </a:xfrm>
          <a:prstGeom prst="roundRect">
            <a:avLst>
              <a:gd name="adj" fmla="val 4444"/>
            </a:avLst>
          </a:prstGeom>
          <a:solidFill>
            <a:srgbClr val="15803D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4596384" y="416052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On-page SEO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Nội dung và HTML của trang: title, meta, heading, ảnh, liên kết nội bộ.</a:t>
            </a:r>
            <a:endParaRPr lang="en-US" sz="1600" dirty="0"/>
          </a:p>
        </p:txBody>
      </p:sp>
      <p:sp>
        <p:nvSpPr>
          <p:cNvPr id="26" name="card"/>
          <p:cNvSpPr/>
          <p:nvPr/>
        </p:nvSpPr>
        <p:spPr>
          <a:xfrm>
            <a:off x="8095488" y="4160520"/>
            <a:ext cx="3544824" cy="2057400"/>
          </a:xfrm>
          <a:prstGeom prst="roundRect">
            <a:avLst>
              <a:gd name="adj" fmla="val 4444"/>
            </a:avLst>
          </a:prstGeom>
          <a:solidFill>
            <a:srgbClr val="B91C1C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369808" y="416052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Off-page SEO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Uy tín bên ngoài: backlink chất lượng, thương hiệu, nhắc đến trên web.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On-page SEO: title, description, URL</a:t>
            </a:r>
            <a:endParaRPr lang="en-US" sz="3000" dirty="0"/>
          </a:p>
        </p:txBody>
      </p:sp>
      <p:sp>
        <p:nvSpPr>
          <p:cNvPr id="4" name="code"/>
          <p:cNvSpPr/>
          <p:nvPr/>
        </p:nvSpPr>
        <p:spPr>
          <a:xfrm>
            <a:off x="548640" y="1371600"/>
            <a:ext cx="667512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5270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6" name="Shape 3"/>
          <p:cNvSpPr/>
          <p:nvPr/>
        </p:nvSpPr>
        <p:spPr>
          <a:xfrm>
            <a:off x="932688" y="15270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4"/>
          <p:cNvSpPr/>
          <p:nvPr/>
        </p:nvSpPr>
        <p:spPr>
          <a:xfrm>
            <a:off x="1133856" y="152704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63040" y="14630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82880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lang="vi"&gt;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name="viewport"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content="width=device-width, initial-scale=1"&gt;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&lt;title&gt;Giày chạy bộ nam chính hãng | ShoeStore&lt;/title&gt;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name="description"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content="Giày chạy bộ nam nhẹ, êm chân, bảo hành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12 tháng. Giao nhanh toàn quốc."&gt;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rel="canonical"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href="https://shoestore.vn/giay-chay-bo-nam"&gt;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7498080" y="1371600"/>
            <a:ext cx="4142232" cy="4846320"/>
          </a:xfrm>
          <a:prstGeom prst="roundRect">
            <a:avLst>
              <a:gd name="adj" fmla="val 220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Nguyên tắc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201168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tx1"/>
                </a:solidFill>
              </a:rPr>
              <a:t>Title: </a:t>
            </a:r>
            <a:r>
              <a:rPr lang="en-US" sz="1500" dirty="0">
                <a:solidFill>
                  <a:schemeClr val="tx1"/>
                </a:solidFill>
              </a:rPr>
              <a:t>duy nhất, khoảng 50-60 ký tự, từ khóa chính ở đầu.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tx1"/>
                </a:solidFill>
              </a:rPr>
              <a:t>Description: </a:t>
            </a:r>
            <a:r>
              <a:rPr lang="en-US" sz="1500" dirty="0">
                <a:solidFill>
                  <a:schemeClr val="tx1"/>
                </a:solidFill>
              </a:rPr>
              <a:t>khoảng 150-160 ký tự, hấp dẫn để bấm.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tx1"/>
                </a:solidFill>
              </a:rPr>
              <a:t>URL: </a:t>
            </a:r>
            <a:r>
              <a:rPr lang="en-US" sz="1500" dirty="0">
                <a:solidFill>
                  <a:schemeClr val="tx1"/>
                </a:solidFill>
              </a:rPr>
              <a:t>ngắn, có từ khóa, dấu gạch ngang: /giay-chay-bo-nam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tx1"/>
                </a:solidFill>
              </a:rPr>
              <a:t>lang, viewport: </a:t>
            </a:r>
            <a:r>
              <a:rPr lang="en-US" sz="1500" dirty="0">
                <a:solidFill>
                  <a:schemeClr val="tx1"/>
                </a:solidFill>
              </a:rPr>
              <a:t>khai báo ngôn ngữ và hỗ trợ mobile.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HTML ngữ nghĩa, heading, ảnh và liên kết</a:t>
            </a:r>
            <a:endParaRPr lang="en-US" sz="3000" dirty="0"/>
          </a:p>
        </p:txBody>
      </p:sp>
      <p:sp>
        <p:nvSpPr>
          <p:cNvPr id="4" name="code"/>
          <p:cNvSpPr/>
          <p:nvPr/>
        </p:nvSpPr>
        <p:spPr>
          <a:xfrm>
            <a:off x="548640" y="1371600"/>
            <a:ext cx="603504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5270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6" name="Shape 3"/>
          <p:cNvSpPr/>
          <p:nvPr/>
        </p:nvSpPr>
        <p:spPr>
          <a:xfrm>
            <a:off x="932688" y="15270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4"/>
          <p:cNvSpPr/>
          <p:nvPr/>
        </p:nvSpPr>
        <p:spPr>
          <a:xfrm>
            <a:off x="1133856" y="152704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63040" y="1463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structure.html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828800"/>
            <a:ext cx="5669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&lt;header&gt;&lt;nav&gt;…&lt;/nav&gt;&lt;/header&gt;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&lt;article&gt;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&lt;h1&gt;Giày chạy bộ nam&lt;/h1&gt;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&lt;h2&gt;Cách chọn size&lt;/h2&gt;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&lt;img src="bang-size-giay.webp"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alt="Bảng size giày chạy bộ nam"&gt;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 href="/huong-dan-chon-size"&gt;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Xem hướng dẫn chọn size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&lt;/a&gt;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&lt;/section&gt;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&lt;/article&gt;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&lt;footer&gt;…&lt;/footer&gt;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1371600"/>
            <a:ext cx="478231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tx1"/>
                </a:solidFill>
              </a:rPr>
              <a:t>Thẻ ngữ nghĩa: </a:t>
            </a:r>
            <a:r>
              <a:rPr lang="en-US" sz="1500" dirty="0">
                <a:solidFill>
                  <a:schemeClr val="tx1"/>
                </a:solidFill>
              </a:rPr>
              <a:t>header, nav, main, article, section, footer.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tx1"/>
                </a:solidFill>
              </a:rPr>
              <a:t>Một h1 mỗi trang: </a:t>
            </a:r>
            <a:r>
              <a:rPr lang="en-US" sz="1500" dirty="0">
                <a:solidFill>
                  <a:schemeClr val="tx1"/>
                </a:solidFill>
              </a:rPr>
              <a:t>h1 → h2 → h3, không nhảy cấp.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tx1"/>
                </a:solidFill>
              </a:rPr>
              <a:t>alt của ảnh: </a:t>
            </a:r>
            <a:r>
              <a:rPr lang="en-US" sz="1500" dirty="0">
                <a:solidFill>
                  <a:schemeClr val="tx1"/>
                </a:solidFill>
              </a:rPr>
              <a:t>mô tả nội dung, cũng hỗ trợ accessibility.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tx1"/>
                </a:solidFill>
              </a:rPr>
              <a:t>Anchor text: </a:t>
            </a:r>
            <a:r>
              <a:rPr lang="en-US" sz="1500" dirty="0">
                <a:solidFill>
                  <a:schemeClr val="tx1"/>
                </a:solidFill>
              </a:rPr>
              <a:t>mô tả đích đến, tránh "bấm vào đây".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tx1"/>
                </a:solidFill>
              </a:rPr>
              <a:t>Liên kết nội bộ: </a:t>
            </a:r>
            <a:r>
              <a:rPr lang="en-US" sz="1500" dirty="0">
                <a:solidFill>
                  <a:schemeClr val="tx1"/>
                </a:solidFill>
              </a:rPr>
              <a:t>giúp bot khám phá các trang.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tx1"/>
                </a:solidFill>
              </a:rPr>
              <a:t>Tên file ảnh: </a:t>
            </a:r>
            <a:r>
              <a:rPr lang="en-US" sz="1500" dirty="0">
                <a:solidFill>
                  <a:schemeClr val="tx1"/>
                </a:solidFill>
              </a:rPr>
              <a:t>có nghĩa, ví dụ bang-size-giay.webp.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Meta tags: canonical, robots, Open Graph</a:t>
            </a:r>
            <a:endParaRPr lang="en-US" sz="3000" dirty="0"/>
          </a:p>
        </p:txBody>
      </p:sp>
      <p:sp>
        <p:nvSpPr>
          <p:cNvPr id="4" name="code"/>
          <p:cNvSpPr/>
          <p:nvPr/>
        </p:nvSpPr>
        <p:spPr>
          <a:xfrm>
            <a:off x="548640" y="1371600"/>
            <a:ext cx="630936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5270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6" name="Shape 3"/>
          <p:cNvSpPr/>
          <p:nvPr/>
        </p:nvSpPr>
        <p:spPr>
          <a:xfrm>
            <a:off x="932688" y="15270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4"/>
          <p:cNvSpPr/>
          <p:nvPr/>
        </p:nvSpPr>
        <p:spPr>
          <a:xfrm>
            <a:off x="1133856" y="152704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63040" y="1463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head.html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828800"/>
            <a:ext cx="5943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rel="canonical"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href="https://shoestore.vn/giay-chay-bo"&gt;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name="robots" content="index, follow"&gt;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Open Graph: xem trước khi chia sẻ --&gt;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property="og:type" content="website"&gt;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property="og:title" content="Giày chạy bộ nam"&gt;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property="og:description"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content="Nhẹ, êm chân, giao nhanh"&gt;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property="og:image"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content="https://shoestore.vn/og.jpg"&gt;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property="og:url"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content="https://shoestore.vn/giay-chay-bo"&gt;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name="twitter:card"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content="summary_large_image"&gt;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371600"/>
          <a:ext cx="4599432" cy="4343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Thẻ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Tác dụng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canonical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URL chính, tránh nội dung trùng lặp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robots: noindex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Không lập chỉ mục (giỏ hàng, tìm kiếm nội bộ)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og:*, twitter:*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Xem trước đẹp khi chia sẻ mạng xã hội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hreflang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Chỉ ra phiên bản ngôn ngữ khác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Structured data: JSON-LD và schema.org</a:t>
            </a:r>
            <a:endParaRPr lang="en-US" sz="3000" dirty="0"/>
          </a:p>
        </p:txBody>
      </p:sp>
      <p:sp>
        <p:nvSpPr>
          <p:cNvPr id="4" name="code"/>
          <p:cNvSpPr/>
          <p:nvPr/>
        </p:nvSpPr>
        <p:spPr>
          <a:xfrm>
            <a:off x="548640" y="1371600"/>
            <a:ext cx="640080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5270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6" name="Shape 3"/>
          <p:cNvSpPr/>
          <p:nvPr/>
        </p:nvSpPr>
        <p:spPr>
          <a:xfrm>
            <a:off x="932688" y="15270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4"/>
          <p:cNvSpPr/>
          <p:nvPr/>
        </p:nvSpPr>
        <p:spPr>
          <a:xfrm>
            <a:off x="1133856" y="152704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63040" y="1463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product-jsonld.html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828800"/>
            <a:ext cx="6035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type="application/ld+json"&gt;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"@context": "https://schema.org",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"@type": "Product",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"Giày chạy bộ AirRun",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"image": "https://shoestore.vn/airrun.jpg",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"Giày chạy bộ nam nhẹ, êm chân",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"offers":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"@type": "Offer",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"price": "1290000",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"priceCurrency": "VND",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"availability": "https://schema.org/InStock"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7132320" y="1371600"/>
            <a:ext cx="4507992" cy="4846320"/>
          </a:xfrm>
          <a:prstGeom prst="roundRect">
            <a:avLst>
              <a:gd name="adj" fmla="val 20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40664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Ghi nhớ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20116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b="1" dirty="0">
                <a:solidFill>
                  <a:schemeClr val="tx1"/>
                </a:solidFill>
              </a:rPr>
              <a:t>Rich results: </a:t>
            </a:r>
            <a:r>
              <a:rPr lang="en-US" sz="1400" dirty="0">
                <a:solidFill>
                  <a:schemeClr val="tx1"/>
                </a:solidFill>
              </a:rPr>
              <a:t>giá, đánh giá sao, breadcrumb trên kết quả tìm kiếm.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b="1" dirty="0">
                <a:solidFill>
                  <a:schemeClr val="tx1"/>
                </a:solidFill>
              </a:rPr>
              <a:t>Loại thường gặp: </a:t>
            </a:r>
            <a:r>
              <a:rPr lang="en-US" sz="1400" dirty="0">
                <a:solidFill>
                  <a:schemeClr val="tx1"/>
                </a:solidFill>
              </a:rPr>
              <a:t>Product, Article, BreadcrumbList, Organization, LocalBusiness.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b="1" dirty="0">
                <a:solidFill>
                  <a:schemeClr val="tx1"/>
                </a:solidFill>
              </a:rPr>
              <a:t>JSON-LD: </a:t>
            </a:r>
            <a:r>
              <a:rPr lang="en-US" sz="1400" dirty="0">
                <a:solidFill>
                  <a:schemeClr val="tx1"/>
                </a:solidFill>
              </a:rPr>
              <a:t>định dạng được Google khuyến nghị.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b="1" dirty="0">
                <a:solidFill>
                  <a:schemeClr val="tx1"/>
                </a:solidFill>
              </a:rPr>
              <a:t>Kiểm tra: </a:t>
            </a:r>
            <a:r>
              <a:rPr lang="en-US" sz="1400" dirty="0">
                <a:solidFill>
                  <a:schemeClr val="tx1"/>
                </a:solidFill>
              </a:rPr>
              <a:t>Rich Results Test, Schema Markup Validator.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b="1" dirty="0">
                <a:solidFill>
                  <a:schemeClr val="tx1"/>
                </a:solidFill>
              </a:rPr>
              <a:t>Phải khớp nội dung thật </a:t>
            </a:r>
            <a:r>
              <a:rPr lang="en-US" sz="1400" dirty="0">
                <a:solidFill>
                  <a:schemeClr val="tx1"/>
                </a:solidFill>
              </a:rPr>
              <a:t>của trang; không đảm bảo luôn hiển thị.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robots.txt và sitemap.xml</a:t>
            </a:r>
            <a:endParaRPr lang="en-US" sz="3000" dirty="0"/>
          </a:p>
        </p:txBody>
      </p:sp>
      <p:sp>
        <p:nvSpPr>
          <p:cNvPr id="4" name="code"/>
          <p:cNvSpPr/>
          <p:nvPr/>
        </p:nvSpPr>
        <p:spPr>
          <a:xfrm>
            <a:off x="548640" y="1371600"/>
            <a:ext cx="5303520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5270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6" name="Shape 3"/>
          <p:cNvSpPr/>
          <p:nvPr/>
        </p:nvSpPr>
        <p:spPr>
          <a:xfrm>
            <a:off x="932688" y="15270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4"/>
          <p:cNvSpPr/>
          <p:nvPr/>
        </p:nvSpPr>
        <p:spPr>
          <a:xfrm>
            <a:off x="1133856" y="152704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63040" y="14630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robots.txt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8288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User-agent: *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Disallow: /admin/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Disallow: /cart/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Allow: 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Sitemap: https://shoestore.vn/sitemap.xml</a:t>
            </a:r>
            <a:endParaRPr lang="en-US" sz="1300" dirty="0"/>
          </a:p>
        </p:txBody>
      </p:sp>
      <p:sp>
        <p:nvSpPr>
          <p:cNvPr id="10" name="code"/>
          <p:cNvSpPr/>
          <p:nvPr/>
        </p:nvSpPr>
        <p:spPr>
          <a:xfrm>
            <a:off x="6035040" y="1371600"/>
            <a:ext cx="5605272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15270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2" name="Shape 9"/>
          <p:cNvSpPr/>
          <p:nvPr/>
        </p:nvSpPr>
        <p:spPr>
          <a:xfrm>
            <a:off x="6419088" y="15270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Shape 10"/>
          <p:cNvSpPr/>
          <p:nvPr/>
        </p:nvSpPr>
        <p:spPr>
          <a:xfrm>
            <a:off x="6620256" y="152704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949440" y="146304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sitemap.xml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1828800"/>
            <a:ext cx="5239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&lt;urlset xmlns="http://www.sitemaps.org/schemas/sitemap/0.9"&gt;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&lt;url&gt;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&lt;loc&gt;https://shoestore.vn/giay-chay-bo&lt;/loc&gt;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&lt;lastmod&gt;2026-10-01&lt;/lastmod&gt;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&lt;/url&gt;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&lt;/urlset&gt;</a:t>
            </a:r>
            <a:endParaRPr lang="en-US" sz="1100" dirty="0"/>
          </a:p>
        </p:txBody>
      </p:sp>
      <p:sp>
        <p:nvSpPr>
          <p:cNvPr id="16" name="card"/>
          <p:cNvSpPr/>
          <p:nvPr/>
        </p:nvSpPr>
        <p:spPr>
          <a:xfrm>
            <a:off x="548640" y="4617720"/>
            <a:ext cx="3544824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18" name="Image 0" descr="war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4921301"/>
            <a:ext cx="261518" cy="26151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17320" y="4800600"/>
            <a:ext cx="2538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Không phải bảo mật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31520" y="5394960"/>
            <a:ext cx="3179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robots.txt ai cũng đọc được; đừng dùng để giấu dữ liệu nhạy cảm.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4322064" y="4617720"/>
            <a:ext cx="3544824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04944" y="4800600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3" name="Image 1" descr="b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645" y="4921301"/>
            <a:ext cx="261518" cy="26151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190744" y="4800600"/>
            <a:ext cx="2538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Chặn crawl ≠ noindex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4504944" y="5394960"/>
            <a:ext cx="3179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Muốn không lập chỉ mục, dùng meta noindex và cho bot đọc trang.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8095488" y="4617720"/>
            <a:ext cx="3544824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278368" y="4800600"/>
            <a:ext cx="502920" cy="50292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28" name="Image 2" descr="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069" y="4921301"/>
            <a:ext cx="261518" cy="26151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964168" y="4800600"/>
            <a:ext cx="2538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Gửi sitemap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8278368" y="5394960"/>
            <a:ext cx="3179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Khai báo trong robots.txt và gửi trong Search Console.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SEO cho ứng dụng SPA: CSR, SSR, SSG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2918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Cách render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HTML server gửi về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Thân thiện SEO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Ví dụ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CSR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Gần như rỗng, JS dựng nội dung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Hạn chế, phụ thuộc bot chạy JS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React/Vite thuần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SSR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HTML đầy đủ cho mỗi request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Tốt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Next.js, Nuxt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SSG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HTML dựng sẵn lúc build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Tốt và nhanh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Next.js static, Astro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Prerender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HTML dựng sẵn cho vài route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Khá tốt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Công cụ prerender cho SPA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4892040"/>
            <a:ext cx="11091672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" y="4892040"/>
            <a:ext cx="105430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</a:rPr>
              <a:t>Mẹo cho SPA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URL thật (History API, không dùng #)  ·  title và meta riêng cho từng route (Next.js Metadata, react-helmet)  ·  trả mã 404 đúng cho trang không tồn tại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Mobile-first, tốc độ, HTTPS và accessibility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3544824" cy="484632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6" name="Image 0" descr="mobi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170809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54480"/>
            <a:ext cx="2356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Mobile-first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68880"/>
            <a:ext cx="30876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Cùng nội dung ở bản mobile và desktop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Thẻ viewport, thiết kế responsive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Chữ, nút đủ lớn, dễ bấm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Kiểm tra bằng Device Toolbar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322064" y="1371600"/>
            <a:ext cx="3544824" cy="484632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50664" y="1554480"/>
            <a:ext cx="640080" cy="64008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1" name="Image 1" descr="bo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283" y="170809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73624" y="1554480"/>
            <a:ext cx="2356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Trải nghiệm và bảo mật</a:t>
            </a:r>
            <a:endParaRPr lang="en-US" sz="1900" dirty="0"/>
          </a:p>
        </p:txBody>
      </p:sp>
      <p:sp>
        <p:nvSpPr>
          <p:cNvPr id="13" name="Text 8"/>
          <p:cNvSpPr txBox="1"/>
          <p:nvPr/>
        </p:nvSpPr>
        <p:spPr>
          <a:xfrm>
            <a:off x="4550664" y="2468880"/>
            <a:ext cx="30876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Core Web Vitals đạt ngưỡng tốt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HTTPS cho toàn site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Không popup che nội dung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Không chuyển hướng thừa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8095488" y="1371600"/>
            <a:ext cx="3544824" cy="484632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324088" y="155448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6" name="Image 2" descr="ey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707" y="170809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47048" y="1554480"/>
            <a:ext cx="2356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Accessibility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8324088" y="2468880"/>
            <a:ext cx="30876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alt cho ảnh, label cho form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Heading đúng thứ bậc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Độ tương phản màu đủ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tx1"/>
                </a:solidFill>
              </a:rPr>
              <a:t>Điều hướng được bằng bàn phím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Nội dung, từ khóa, backlink và lỗi SEO thường gặp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8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Nội dung và uy tín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tx1"/>
                </a:solidFill>
              </a:rPr>
              <a:t>Nội dung hữu ích </a:t>
            </a:r>
            <a:r>
              <a:rPr lang="en-US" sz="1500" dirty="0">
                <a:solidFill>
                  <a:schemeClr val="tx1"/>
                </a:solidFill>
              </a:rPr>
              <a:t>cho người đọc là nền tảng.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tx1"/>
                </a:solidFill>
              </a:rPr>
              <a:t>E-E-A-T: </a:t>
            </a:r>
            <a:r>
              <a:rPr lang="en-US" sz="1500" dirty="0">
                <a:solidFill>
                  <a:schemeClr val="tx1"/>
                </a:solidFill>
              </a:rPr>
              <a:t>kinh nghiệm, chuyên môn, uy tín, độ tin cậy.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tx1"/>
                </a:solidFill>
              </a:rPr>
              <a:t>Search intent: </a:t>
            </a:r>
            <a:r>
              <a:rPr lang="en-US" sz="1500" dirty="0">
                <a:solidFill>
                  <a:schemeClr val="tx1"/>
                </a:solidFill>
              </a:rPr>
              <a:t>tìm thông tin, tìm trang, muốn mua.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tx1"/>
                </a:solidFill>
              </a:rPr>
              <a:t>Từ khóa dài (long-tail): </a:t>
            </a:r>
            <a:r>
              <a:rPr lang="en-US" sz="1500" dirty="0">
                <a:solidFill>
                  <a:schemeClr val="tx1"/>
                </a:solidFill>
              </a:rPr>
              <a:t>đặt tự nhiên, không nhồi nhét.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tx1"/>
                </a:solidFill>
              </a:rPr>
              <a:t>Backlink chất lượng: </a:t>
            </a:r>
            <a:r>
              <a:rPr lang="en-US" sz="1500" dirty="0">
                <a:solidFill>
                  <a:schemeClr val="tx1"/>
                </a:solidFill>
              </a:rPr>
              <a:t>từ site uy tín, không mua bán liên kết.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6217920" y="1371600"/>
            <a:ext cx="5422392" cy="4846320"/>
          </a:xfrm>
          <a:prstGeom prst="roundRect">
            <a:avLst>
              <a:gd name="adj" fmla="val 1887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9224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</a:rPr>
              <a:t>Lỗi SEO thường gặp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0116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Thiếu hoặc trùng title, description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Nhiều h1, heading nhảy cấp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Ảnh không có alt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Nội dung trùng lặp, thiếu canonical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Vô tình chặn bằng robots.txt hoặc noindex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Liên kết gãy (404), chuỗi redirect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Nhồi nhét từ khóa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Công cụ kiểm tra và theo dõi SEO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3544824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6" name="Image 0" descr="search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168615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55448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Google Search Console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86000"/>
            <a:ext cx="3087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Truy vấn, hiển thị, CTR, vị trí; báo cáo lập chỉ mục; URL Inspection; gửi sitemap.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22064" y="1371600"/>
            <a:ext cx="3544824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50664" y="1554480"/>
            <a:ext cx="548640" cy="54864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1" name="Image 1" descr="ta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338" y="168615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82184" y="155448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Lighthouse (nhóm SEO)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50664" y="2286000"/>
            <a:ext cx="3087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Audit title, description, viewport, alt, robots, canonical.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95488" y="1371600"/>
            <a:ext cx="3544824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324088" y="1554480"/>
            <a:ext cx="548640" cy="5486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6" name="Image 2" descr="fi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762" y="168615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55608" y="155448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Rich Results Test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324088" y="2286000"/>
            <a:ext cx="3087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Kiểm tra structured data và khả năng hiển thị rich result.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3611880"/>
            <a:ext cx="3544824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77240" y="3794760"/>
            <a:ext cx="548640" cy="54864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1" name="Image 3" descr="ch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392643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08760" y="379476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PageSpeed Insights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526280"/>
            <a:ext cx="3087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Core Web Vitals trên dữ liệu người dùng thật.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4322064" y="3611880"/>
            <a:ext cx="3544824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550664" y="3794760"/>
            <a:ext cx="548640" cy="54864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26" name="Image 4" descr="tool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2338" y="392643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82184" y="379476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Screaming Frog, Ahrefs, Semrush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50664" y="4526280"/>
            <a:ext cx="3087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Crawl và audit sâu, theo dõi từ khóa (phần lớn tính phí).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8095488" y="3611880"/>
            <a:ext cx="3544824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8324088" y="379476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1" name="Image 5" descr="glob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5762" y="3926434"/>
            <a:ext cx="285293" cy="285293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055608" y="379476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Google Trends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324088" y="4526280"/>
            <a:ext cx="3087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Xem xu hướng từ khóa theo thời gian và khu vực.</a:t>
            </a:r>
            <a:endParaRPr lang="en-US" sz="1400" dirty="0"/>
          </a:p>
        </p:txBody>
      </p:sp>
      <p:sp>
        <p:nvSpPr>
          <p:cNvPr id="34" name="card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822960" y="58521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</a:rPr>
              <a:t>Mẹo:  </a:t>
            </a:r>
            <a:r>
              <a:rPr lang="en-US" sz="1400" dirty="0">
                <a:solidFill>
                  <a:srgbClr val="FFFFFF"/>
                </a:solidFill>
              </a:rPr>
              <a:t>gõ site:tenmien.com trên Google để xem sơ bộ các trang đã được lập chỉ mục.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Demo 2: audit SEO một trang cửa hàng</a:t>
            </a:r>
            <a:endParaRPr lang="en-US" sz="3000" dirty="0"/>
          </a:p>
        </p:txBody>
      </p:sp>
      <p:sp>
        <p:nvSpPr>
          <p:cNvPr id="4" name="code"/>
          <p:cNvSpPr/>
          <p:nvPr/>
        </p:nvSpPr>
        <p:spPr>
          <a:xfrm>
            <a:off x="548640" y="1371600"/>
            <a:ext cx="667512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5270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6" name="Shape 3"/>
          <p:cNvSpPr/>
          <p:nvPr/>
        </p:nvSpPr>
        <p:spPr>
          <a:xfrm>
            <a:off x="932688" y="15270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4"/>
          <p:cNvSpPr/>
          <p:nvPr/>
        </p:nvSpPr>
        <p:spPr>
          <a:xfrm>
            <a:off x="1133856" y="152704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63040" y="14630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seo-shop.html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82880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&lt;title&gt;Trang chủ&lt;/title&gt;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class="menu"&gt;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href="/"&gt;Home&lt;/a&gt;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&lt;h1&gt;Cửa hàng&lt;/h1&gt;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&lt;h1&gt;Giày chạy bộ&lt;/h1&gt;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src="IMG_0231.jpg"&gt;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&lt;p&gt;Giày nhẹ, êm chân, giá tốt.&lt;/p&gt;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href="/p/12"&gt;Bấm vào đây&lt;/a&gt;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7498080" y="1371600"/>
            <a:ext cx="4142232" cy="4846320"/>
          </a:xfrm>
          <a:prstGeom prst="roundRect">
            <a:avLst>
              <a:gd name="adj" fmla="val 220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Danh sách kiểm tra audit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201168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dirty="0">
                <a:solidFill>
                  <a:schemeClr val="tx1"/>
                </a:solidFill>
              </a:rPr>
              <a:t>lang, charset, viewport đã khai báo?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dirty="0">
                <a:solidFill>
                  <a:schemeClr val="tx1"/>
                </a:solidFill>
              </a:rPr>
              <a:t>Title và description duy nhất, đúng độ dài?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dirty="0">
                <a:solidFill>
                  <a:schemeClr val="tx1"/>
                </a:solidFill>
              </a:rPr>
              <a:t>Heading đúng cấp, chỉ một h1?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dirty="0">
                <a:solidFill>
                  <a:schemeClr val="tx1"/>
                </a:solidFill>
              </a:rPr>
              <a:t>Ảnh có alt, tên file có nghĩa?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dirty="0">
                <a:solidFill>
                  <a:schemeClr val="tx1"/>
                </a:solidFill>
              </a:rPr>
              <a:t>Anchor text mô tả được đích đến?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dirty="0">
                <a:solidFill>
                  <a:schemeClr val="tx1"/>
                </a:solidFill>
              </a:rPr>
              <a:t>Dùng thẻ ngữ nghĩa? Có canonical?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9488"/>
                </a:solidFill>
              </a:rPr>
              <a:t>▪ </a:t>
            </a:r>
            <a:r>
              <a:rPr lang="en-US" sz="1400" dirty="0">
                <a:solidFill>
                  <a:schemeClr val="tx1"/>
                </a:solidFill>
              </a:rPr>
              <a:t>Có robots.txt, sitemap, structured data?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Lab 2: tối ưu SEO cho seo-shop.html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658368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" y="1481328"/>
            <a:ext cx="493776" cy="493776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4813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37160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Chạy Lighthouse SEO (Mobile), ghi điểm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09360" y="158191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09360" y="15819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3′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548640" y="2194560"/>
            <a:ext cx="658368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304288"/>
            <a:ext cx="493776" cy="493776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23042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19456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Sửa head: lang, title, description, viewport, canonical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09360" y="240487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09360" y="24048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6′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548640" y="3017520"/>
            <a:ext cx="658368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5800" y="3127248"/>
            <a:ext cx="493776" cy="493776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3127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01752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Sửa cấu trúc: h1 duy nhất, thẻ ngữ nghĩa, alt, anchor text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309360" y="322783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09360" y="322783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6′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548640" y="3840480"/>
            <a:ext cx="658368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5800" y="3950208"/>
            <a:ext cx="493776" cy="493776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85800" y="39502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371600" y="384048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Thêm Open Graph và JSON-LD (Product)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09360" y="405079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309360" y="40507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5′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548640" y="4663440"/>
            <a:ext cx="658368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85800" y="4773168"/>
            <a:ext cx="493776" cy="493776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85800" y="47731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1371600" y="466344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Tạo robots.txt và sitemap.xml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09360" y="487375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309360" y="48737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3′</a:t>
            </a:r>
            <a:endParaRPr lang="en-US" sz="1200" dirty="0"/>
          </a:p>
        </p:txBody>
      </p:sp>
      <p:sp>
        <p:nvSpPr>
          <p:cNvPr id="34" name="card"/>
          <p:cNvSpPr/>
          <p:nvPr/>
        </p:nvSpPr>
        <p:spPr>
          <a:xfrm>
            <a:off x="548640" y="5486400"/>
            <a:ext cx="658368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85800" y="5596128"/>
            <a:ext cx="493776" cy="493776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85800" y="55961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371600" y="548640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Chạy lại Lighthouse và Rich Results Test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09360" y="569671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309360" y="56967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2′</a:t>
            </a:r>
            <a:endParaRPr lang="en-US" sz="1200" dirty="0"/>
          </a:p>
        </p:txBody>
      </p:sp>
      <p:sp>
        <p:nvSpPr>
          <p:cNvPr id="40" name="card"/>
          <p:cNvSpPr/>
          <p:nvPr/>
        </p:nvSpPr>
        <p:spPr>
          <a:xfrm>
            <a:off x="7406640" y="1371600"/>
            <a:ext cx="4233672" cy="4846320"/>
          </a:xfrm>
          <a:prstGeom prst="roundRect">
            <a:avLst>
              <a:gd name="adj" fmla="val 2160"/>
            </a:avLst>
          </a:prstGeom>
          <a:solidFill>
            <a:schemeClr val="tx2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</a:rPr>
              <a:t>Tiêu chí hoàn thành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7680960" y="2103120"/>
            <a:ext cx="3703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bg1"/>
                </a:solidFill>
              </a:rPr>
              <a:t>Lighthouse SEO: </a:t>
            </a:r>
            <a:r>
              <a:rPr lang="en-US" sz="1500" dirty="0">
                <a:solidFill>
                  <a:schemeClr val="bg1"/>
                </a:solidFill>
              </a:rPr>
              <a:t>đạt 100.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bg1"/>
                </a:solidFill>
              </a:rPr>
              <a:t>JSON-LD: </a:t>
            </a:r>
            <a:r>
              <a:rPr lang="en-US" sz="1500" dirty="0">
                <a:solidFill>
                  <a:schemeClr val="bg1"/>
                </a:solidFill>
              </a:rPr>
              <a:t>hợp lệ trong Rich Results Test.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bg1"/>
                </a:solidFill>
              </a:rPr>
              <a:t>robots.txt và sitemap.xml: </a:t>
            </a:r>
            <a:r>
              <a:rPr lang="en-US" sz="1500" dirty="0">
                <a:solidFill>
                  <a:schemeClr val="bg1"/>
                </a:solidFill>
              </a:rPr>
              <a:t>đúng định dạng.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b="1" dirty="0">
                <a:solidFill>
                  <a:schemeClr val="bg1"/>
                </a:solidFill>
              </a:rPr>
              <a:t>Không còn cảnh báo </a:t>
            </a:r>
            <a:r>
              <a:rPr lang="en-US" sz="1500" dirty="0">
                <a:solidFill>
                  <a:schemeClr val="bg1"/>
                </a:solidFill>
              </a:rPr>
              <a:t>về title, description, alt, heading.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2.3 Bài tập cho sinh viên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731520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536192"/>
            <a:ext cx="393192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536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Bài 1 · Tối ưu tốc độ · Cá nhân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Chọn slow-shop.html hoặc trang của bạn. Đo Lighthouse trước/sau, áp dụng ít nhất 5 kỹ thuật (ảnh, defer, CSS, font, cache). Nộp bảng trước/sau và ảnh chụp.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" y="3017520"/>
            <a:ext cx="731520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3182112"/>
            <a:ext cx="393192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3182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Bài 2 · SEO on-page · Cá nhân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6118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Hoàn thiện trang landing sản phẩm: title, description, heading, alt, Open Graph, JSON-LD, robots.txt, sitemap.xml. Lighthouse SEO ≥ 95.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4663440"/>
            <a:ext cx="731520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4828032"/>
            <a:ext cx="3931920" cy="29260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4828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Bài 3 · Audit website · Nhóm 2 SV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52578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Audit một website thực: 5 vấn đề hiệu năng + 5 vấn đề SEO, đề xuất sửa và thứ tự ưu tiên. Thuyết trình 5 phút.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8138160" y="1371600"/>
            <a:ext cx="3502152" cy="4800600"/>
          </a:xfrm>
          <a:prstGeom prst="roundRect">
            <a:avLst>
              <a:gd name="adj" fmla="val 2611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1248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</a:rPr>
              <a:t>Tiêu chí đánh giá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Đo lường, báo cáo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0" y="2103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BBF24"/>
                </a:solidFill>
              </a:rPr>
              <a:t>30%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Kỹ thuật tối ưu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0" y="2651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BBF24"/>
                </a:solidFill>
              </a:rPr>
              <a:t>30%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SEO, structured data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BBF24"/>
                </a:solidFill>
              </a:rPr>
              <a:t>25%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841248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Trình bày, nhóm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0" y="3749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BBF24"/>
                </a:solidFill>
              </a:rPr>
              <a:t>15%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4572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</a:rPr>
              <a:t>Nộp bài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Link GitHub + file PDF báo cáo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Tổng kết và tài liệu tham khảo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544824" cy="4206240"/>
          </a:xfrm>
          <a:prstGeom prst="roundRect">
            <a:avLst>
              <a:gd name="adj" fmla="val 2580"/>
            </a:avLst>
          </a:prstGeom>
          <a:solidFill>
            <a:srgbClr val="2A3A5C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bo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175381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600200"/>
            <a:ext cx="2264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</a:rPr>
              <a:t>Tối ưu tốc độ cần nhớ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468880"/>
            <a:ext cx="29961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Đo trước, tối ưu, đo lại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LCP, INP, CLS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Ảnh, CSS, JS: nhỏ hơn, ít chặn hơn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Cache, CDN, Brotli, HTTP/2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322064" y="1371600"/>
            <a:ext cx="3544824" cy="4206240"/>
          </a:xfrm>
          <a:prstGeom prst="roundRect">
            <a:avLst>
              <a:gd name="adj" fmla="val 2580"/>
            </a:avLst>
          </a:prstGeom>
          <a:solidFill>
            <a:srgbClr val="2A3A5C"/>
          </a:solidFill>
          <a:ln/>
        </p:spPr>
      </p:sp>
      <p:sp>
        <p:nvSpPr>
          <p:cNvPr id="10" name="Shape 6"/>
          <p:cNvSpPr/>
          <p:nvPr/>
        </p:nvSpPr>
        <p:spPr>
          <a:xfrm>
            <a:off x="4596384" y="1600200"/>
            <a:ext cx="640080" cy="64008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1" name="Image 1" descr="sear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003" y="175381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19344" y="1600200"/>
            <a:ext cx="2264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BBF24"/>
                </a:solidFill>
              </a:rPr>
              <a:t>SEO cần nhớ</a:t>
            </a:r>
            <a:endParaRPr lang="en-US" sz="1900" dirty="0"/>
          </a:p>
        </p:txBody>
      </p:sp>
      <p:sp>
        <p:nvSpPr>
          <p:cNvPr id="13" name="Text 8"/>
          <p:cNvSpPr txBox="1"/>
          <p:nvPr/>
        </p:nvSpPr>
        <p:spPr>
          <a:xfrm>
            <a:off x="4596384" y="2468880"/>
            <a:ext cx="29961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Title, description, heading chuẩn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Canonical, robots, sitemap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JSON-LD, Open Graph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SSR/SSG cho trang cần SEO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095488" y="1371600"/>
            <a:ext cx="3544824" cy="4206240"/>
          </a:xfrm>
          <a:prstGeom prst="roundRect">
            <a:avLst>
              <a:gd name="adj" fmla="val 2580"/>
            </a:avLst>
          </a:prstGeom>
          <a:solidFill>
            <a:srgbClr val="2A3A5C"/>
          </a:solidFill>
          <a:ln/>
        </p:spPr>
      </p:sp>
      <p:sp>
        <p:nvSpPr>
          <p:cNvPr id="15" name="Shape 10"/>
          <p:cNvSpPr/>
          <p:nvPr/>
        </p:nvSpPr>
        <p:spPr>
          <a:xfrm>
            <a:off x="8369808" y="160020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6" name="Image 2" descr="boo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427" y="175381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92768" y="1600200"/>
            <a:ext cx="2264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78BFA"/>
                </a:solidFill>
              </a:rPr>
              <a:t>Tài liệu tự học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8369808" y="2468880"/>
            <a:ext cx="29961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web.dev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developers.google.com/search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schema.org · pagespeed.web.dev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F9488"/>
                </a:solidFill>
              </a:rPr>
              <a:t>▪ </a:t>
            </a:r>
            <a:r>
              <a:rPr lang="en-US" sz="1500" dirty="0">
                <a:solidFill>
                  <a:schemeClr val="bg1"/>
                </a:solidFill>
              </a:rPr>
              <a:t>MDN Web Docs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2DD4BF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44"/>
                </a:solidFill>
              </a:rPr>
              <a:t>Đo trước – Tối ưu – Đo lại.  Hỏi &amp; đáp!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vTools Lab">
  <a:themeElements>
    <a:clrScheme name="DevTools Lab">
      <a:dk1>
        <a:srgbClr val="111827"/>
      </a:dk1>
      <a:lt1>
        <a:srgbClr val="FFFFFF"/>
      </a:lt1>
      <a:dk2>
        <a:srgbClr val="1E2A44"/>
      </a:dk2>
      <a:lt2>
        <a:srgbClr val="F1F5F9"/>
      </a:lt2>
      <a:accent1>
        <a:srgbClr val="0F766E"/>
      </a:accent1>
      <a:accent2>
        <a:srgbClr val="B45309"/>
      </a:accent2>
      <a:accent3>
        <a:srgbClr val="B91C1C"/>
      </a:accent3>
      <a:accent4>
        <a:srgbClr val="1D4ED8"/>
      </a:accent4>
      <a:accent5>
        <a:srgbClr val="6D28D9"/>
      </a:accent5>
      <a:accent6>
        <a:srgbClr val="15803D"/>
      </a:accent6>
      <a:hlink>
        <a:srgbClr val="1D4ED8"/>
      </a:hlink>
      <a:folHlink>
        <a:srgbClr val="6D28D9"/>
      </a:folHlink>
    </a:clrScheme>
    <a:fontScheme name="DevTools 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4722</Words>
  <Application>Microsoft Office PowerPoint</Application>
  <PresentationFormat>Widescreen</PresentationFormat>
  <Paragraphs>718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</vt:lpstr>
      <vt:lpstr>Courier New</vt:lpstr>
      <vt:lpstr>DevTools Lab</vt:lpstr>
      <vt:lpstr>Chương 8: Tối ưu hoá và SEO</vt:lpstr>
      <vt:lpstr>Mục tiêu</vt:lpstr>
      <vt:lpstr>Vì sao tốc độ và SEO quan trọng?</vt:lpstr>
      <vt:lpstr>Trình duyệt tải và hiển thị trang như thế nào?</vt:lpstr>
      <vt:lpstr>Core Web Vitals: ba chỉ số cần biết</vt:lpstr>
      <vt:lpstr>Kỹ thuật tối ưu để tăng tốc độ tải trang</vt:lpstr>
      <vt:lpstr>Công cụ đo hiệu năng</vt:lpstr>
      <vt:lpstr>Cải thiện LCP, INP và CLS</vt:lpstr>
      <vt:lpstr>Tối ưu hình ảnh</vt:lpstr>
      <vt:lpstr>Tối ưu CSS</vt:lpstr>
      <vt:lpstr>Tối ưu JavaScript</vt:lpstr>
      <vt:lpstr>defer và async: tải script không chặn trang</vt:lpstr>
      <vt:lpstr>Font web và resource hints</vt:lpstr>
      <vt:lpstr>Caching và CDN</vt:lpstr>
      <vt:lpstr>Nén dữ liệu và giao thức HTTP</vt:lpstr>
      <vt:lpstr>Tối ưu khi chạy: sự kiện, render, framework</vt:lpstr>
      <vt:lpstr>Demo 1: phân tích trang chậm bằng Lighthouse</vt:lpstr>
      <vt:lpstr>Lab 1: tối ưu slow-shop.html</vt:lpstr>
      <vt:lpstr>Tổng kết 2.1</vt:lpstr>
      <vt:lpstr>SEO: tối ưu trang web để xếp hạng cao</vt:lpstr>
      <vt:lpstr>SEO là gì? Công cụ tìm kiếm hoạt động thế nào</vt:lpstr>
      <vt:lpstr>On-page SEO: title, description, URL</vt:lpstr>
      <vt:lpstr>HTML ngữ nghĩa, heading, ảnh và liên kết</vt:lpstr>
      <vt:lpstr>Meta tags: canonical, robots, Open Graph</vt:lpstr>
      <vt:lpstr>Structured data: JSON-LD và schema.org</vt:lpstr>
      <vt:lpstr>robots.txt và sitemap.xml</vt:lpstr>
      <vt:lpstr>SEO cho ứng dụng SPA: CSR, SSR, SSG</vt:lpstr>
      <vt:lpstr>Mobile-first, tốc độ, HTTPS và accessibility</vt:lpstr>
      <vt:lpstr>Nội dung, từ khóa, backlink và lỗi SEO thường gặp</vt:lpstr>
      <vt:lpstr>Công cụ kiểm tra và theo dõi SEO</vt:lpstr>
      <vt:lpstr>Demo 2: audit SEO một trang cửa hàng</vt:lpstr>
      <vt:lpstr>Lab 2: tối ưu SEO cho seo-shop.html</vt:lpstr>
      <vt:lpstr>2.3 Bài tập cho sinh viên</vt:lpstr>
      <vt:lpstr>Tổng kết và tài liệu tham khảo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8: Tối ưu hoá và SEO</dc:title>
  <dc:subject>PptxGenJS Presentation</dc:subject>
  <dc:creator>Chuyên đề Front-End</dc:creator>
  <cp:lastModifiedBy>TRANPHUONGDUY</cp:lastModifiedBy>
  <cp:revision>3</cp:revision>
  <dcterms:created xsi:type="dcterms:W3CDTF">2026-10-06T01:15:45Z</dcterms:created>
  <dcterms:modified xsi:type="dcterms:W3CDTF">2026-10-08T15:08:45Z</dcterms:modified>
</cp:coreProperties>
</file>