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402336"/>
            <a:ext cx="10545775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400" b="1">
                <a:solidFill>
                  <a:srgbClr val="1E3A8A"/>
                </a:solidFill>
                <a:latin typeface="Segoe UI"/>
              </a:defRPr>
            </a:pPr>
            <a:r>
              <a:t>🏛️ TRƯỜNG CAO ĐẲNG CÔNG NGHỆ THÔNG TIN TP.HCM • KHOA CÔNG NGHỆ THÔNG TIN – ĐIỆN TỬ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024128"/>
            <a:ext cx="10545775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365760" rIns="365760"/>
          <a:lstStyle/>
          <a:p>
            <a:pPr algn="ctr">
              <a:defRPr sz="1550" b="1">
                <a:solidFill>
                  <a:srgbClr val="2563EB"/>
                </a:solidFill>
                <a:latin typeface="Segoe UI"/>
              </a:defRPr>
            </a:pPr>
            <a:r>
              <a:t>BÁO CÁO ĐỒ ÁN MÔN HỌC: CHUYÊN ĐỀ BACK-END</a:t>
            </a:r>
          </a:p>
          <a:p>
            <a:pPr algn="ctr">
              <a:spcBef>
                <a:spcPts val="600"/>
              </a:spcBef>
              <a:defRPr sz="2850" b="1">
                <a:solidFill>
                  <a:srgbClr val="1E3A8A"/>
                </a:solidFill>
                <a:latin typeface="Segoe UI"/>
              </a:defRPr>
            </a:pPr>
            <a:r>
              <a:t>XÂY DỰNG HỆ THỐNG BACK-END CHO PHẦN MỀM</a:t>
            </a:r>
            <a:br/>
            <a:r>
              <a:t>QUẢN LÝ NHÀ HÀNG &amp; GỌI MÓN (ROYAL BISTRO)</a:t>
            </a:r>
          </a:p>
          <a:p>
            <a:pPr algn="ctr">
              <a:spcBef>
                <a:spcPts val="600"/>
              </a:spcBef>
              <a:defRPr sz="1350">
                <a:solidFill>
                  <a:srgbClr val="475569"/>
                </a:solidFill>
                <a:latin typeface="Segoe UI"/>
              </a:defRPr>
            </a:pPr>
            <a:r>
              <a:t>Kiến trúc RESTful API &amp; WebSocket Realtime • Điều phối Bếp KDS • Tự động trừ kho định mức BOM • Báo cáo doanh thu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39312"/>
            <a:ext cx="3364992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3785615"/>
            <a:ext cx="3090672" cy="402336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350" b="1">
                <a:solidFill>
                  <a:srgbClr val="2563EB"/>
                </a:solidFill>
                <a:latin typeface="Segoe UI"/>
              </a:defRPr>
            </a:pPr>
            <a:r>
              <a:t>👤 SINH VIÊN THỰC HIỆN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279392"/>
            <a:ext cx="3072384" cy="1810512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Họ và tên: </a:t>
            </a:r>
            <a:r>
              <a:rPr b="1">
                <a:solidFill>
                  <a:srgbClr val="0F172A"/>
                </a:solidFill>
              </a:rPr>
              <a:t>Nguyễn Hoàng Hưng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MSSV: </a:t>
            </a:r>
            <a:r>
              <a:rPr b="1">
                <a:solidFill>
                  <a:srgbClr val="0F172A"/>
                </a:solidFill>
              </a:rPr>
              <a:t>501250384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Khóa đào tạo: </a:t>
            </a:r>
            <a:r>
              <a:rPr b="1">
                <a:solidFill>
                  <a:srgbClr val="0F172A"/>
                </a:solidFill>
              </a:rPr>
              <a:t>Khóa K25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Chuyên ngành: </a:t>
            </a:r>
            <a:r>
              <a:rPr b="1">
                <a:solidFill>
                  <a:srgbClr val="0F172A"/>
                </a:solidFill>
              </a:rPr>
              <a:t>Công nghệ Phần mềm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3639312"/>
            <a:ext cx="3364992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53712" y="3785615"/>
            <a:ext cx="3090672" cy="402336"/>
          </a:xfrm>
          <a:prstGeom prst="roundRect">
            <a:avLst>
              <a:gd name="adj" fmla="val 30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350" b="1">
                <a:solidFill>
                  <a:srgbClr val="059669"/>
                </a:solidFill>
                <a:latin typeface="Segoe UI"/>
              </a:defRPr>
            </a:pPr>
            <a:r>
              <a:t>👨‍🏫 GIẢNG VIÊN HƯỚNG DẪN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4279392"/>
            <a:ext cx="3072384" cy="1810512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Giảng viên: </a:t>
            </a:r>
            <a:r>
              <a:rPr b="1">
                <a:solidFill>
                  <a:srgbClr val="0F172A"/>
                </a:solidFill>
              </a:rPr>
              <a:t>ThS. NGUYỄN MINH HẢI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Đơn vị: </a:t>
            </a:r>
            <a:r>
              <a:rPr b="1">
                <a:solidFill>
                  <a:srgbClr val="0F172A"/>
                </a:solidFill>
              </a:rPr>
              <a:t>Khoa CNTT – ĐT (ITC)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Môn học: </a:t>
            </a:r>
            <a:r>
              <a:rPr b="1">
                <a:solidFill>
                  <a:srgbClr val="0F172A"/>
                </a:solidFill>
              </a:rPr>
              <a:t>Chuyên Đề Back-End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Thời gian: </a:t>
            </a:r>
            <a:r>
              <a:rPr b="1">
                <a:solidFill>
                  <a:srgbClr val="0F172A"/>
                </a:solidFill>
              </a:rPr>
              <a:t>Học kỳ I /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3639312"/>
            <a:ext cx="3364992" cy="2578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7304" y="3785615"/>
            <a:ext cx="3090672" cy="402336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350" b="1">
                <a:solidFill>
                  <a:srgbClr val="D97706"/>
                </a:solidFill>
                <a:latin typeface="Segoe UI"/>
              </a:defRPr>
            </a:pPr>
            <a:r>
              <a:t>⚡ CÔNG NGHỆ CHÍNH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4279392"/>
            <a:ext cx="3072384" cy="1810512"/>
          </a:xfrm>
          <a:prstGeom prst="rect">
            <a:avLst/>
          </a:prstGeom>
          <a:noFill/>
        </p:spPr>
        <p:txBody>
          <a:bodyPr wrap="none" tIns="0" l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Máy chủ: </a:t>
            </a:r>
            <a:r>
              <a:rPr b="1">
                <a:solidFill>
                  <a:srgbClr val="0F172A"/>
                </a:solidFill>
              </a:rPr>
              <a:t>Node.js v20 &amp; Express.js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Cơ sở dữ liệu: </a:t>
            </a:r>
            <a:r>
              <a:rPr b="1">
                <a:solidFill>
                  <a:srgbClr val="0F172A"/>
                </a:solidFill>
              </a:rPr>
              <a:t>MongoDB v7 &amp; Mongoose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Realtime: </a:t>
            </a:r>
            <a:r>
              <a:rPr b="1">
                <a:solidFill>
                  <a:srgbClr val="0F172A"/>
                </a:solidFill>
              </a:rPr>
              <a:t>Socket.io WebSockets</a:t>
            </a:r>
          </a:p>
          <a:p>
            <a:pPr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Bảo mật: </a:t>
            </a:r>
            <a:r>
              <a:rPr b="1">
                <a:solidFill>
                  <a:srgbClr val="0F172A"/>
                </a:solidFill>
              </a:rPr>
              <a:t>JWT Stateless &amp; Bcrypt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1440"/>
            <a:ext cx="4023360" cy="265176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MỤC TIÊU &amp; TÁC ĐỘNG THỰC TẾ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728655" cy="6949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Segoe UI"/>
              </a:defRPr>
            </a:pPr>
            <a:r>
              <a:t>Mục Đích Dự Án &amp; Giá Trị Thực Tiễn Cho Ngành F&amp;B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Khắc phục 3 bài toán nan giải của nhà hàng truyền thống và số hóa toàn diện quy trình vận hành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2/8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2120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 rIns="228600"/>
          <a:lstStyle/>
          <a:p>
            <a:pPr algn="ctr">
              <a:defRPr sz="1550" b="1">
                <a:solidFill>
                  <a:srgbClr val="DC2626"/>
                </a:solidFill>
                <a:latin typeface="Segoe UI"/>
              </a:defRPr>
            </a:pPr>
            <a:r>
              <a:t>⚠️ 3 BÀI TOÁN THỰC TẾ NAN GIẢI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  <a:latin typeface="Segoe UI"/>
              </a:defRPr>
            </a:pPr>
            <a:r>
              <a:t>• Tắc nghẽn giờ cao điểm: </a:t>
            </a:r>
            <a:r>
              <a:rPr b="0">
                <a:solidFill>
                  <a:srgbClr val="475569"/>
                </a:solidFill>
              </a:rPr>
              <a:t>Khách chờ gọi món và thanh toán lâu trong giờ đông khách; nhân viên chạy bàn quá tải, dễ sót order.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  <a:latin typeface="Segoe UI"/>
              </a:defRPr>
            </a:pPr>
            <a:r>
              <a:t>• Thất thoát kho nguyên liệu: </a:t>
            </a:r>
            <a:r>
              <a:rPr b="0">
                <a:solidFill>
                  <a:srgbClr val="475569"/>
                </a:solidFill>
              </a:rPr>
              <a:t>Đầu bếp nấu ước lượng tay; không có định mức (BOM) liên kết trực tiếp với kho gây hao hụt chi phí.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  <a:latin typeface="Segoe UI"/>
              </a:defRPr>
            </a:pPr>
            <a:r>
              <a:t>• Sai sót &amp; chậm trễ order: </a:t>
            </a:r>
            <a:r>
              <a:rPr b="0">
                <a:solidFill>
                  <a:srgbClr val="475569"/>
                </a:solidFill>
              </a:rPr>
              <a:t>Ghi chép giấy dễ nhầm món, sót ghi chú của khách; truyền đạt từ bàn vào bếp bị gián đoạn.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 rIns="228600"/>
          <a:lstStyle/>
          <a:p>
            <a:pPr algn="ctr">
              <a:defRPr sz="1550" b="1">
                <a:solidFill>
                  <a:srgbClr val="059669"/>
                </a:solidFill>
                <a:latin typeface="Segoe UI"/>
              </a:defRPr>
            </a:pPr>
            <a:r>
              <a:t>💎 3 GIÁ TRỊ THỰC TIỄN VƯỢT TRỘI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  <a:latin typeface="Segoe UI"/>
              </a:defRPr>
            </a:pPr>
            <a:r>
              <a:t>• Tối ưu nhân sự phục vụ: </a:t>
            </a:r>
            <a:r>
              <a:rPr b="0">
                <a:solidFill>
                  <a:srgbClr val="475569"/>
                </a:solidFill>
              </a:rPr>
              <a:t>Khách tự quét mã QR duyệt thực đơn và gọi món tại bàn trên điện thoại; tinh gọn số lượng nhân viên chạy bàn.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  <a:latin typeface="Segoe UI"/>
              </a:defRPr>
            </a:pPr>
            <a:r>
              <a:t>• Kiểm soát kho chính xác: </a:t>
            </a:r>
            <a:r>
              <a:rPr b="0">
                <a:solidFill>
                  <a:srgbClr val="475569"/>
                </a:solidFill>
              </a:rPr>
              <a:t>Thuật toán tự động trừ kho theo định mức BOM khi bếp bấm nấu; cảnh báo kịp thời khi nguyên liệu sắp cạn.</a:t>
            </a:r>
          </a:p>
          <a:p>
            <a:pPr>
              <a:spcBef>
                <a:spcPts val="1000"/>
              </a:spcBef>
              <a:defRPr sz="1350" b="1">
                <a:solidFill>
                  <a:srgbClr val="0F172A"/>
                </a:solidFill>
                <a:latin typeface="Segoe UI"/>
              </a:defRPr>
            </a:pPr>
            <a:r>
              <a:t>• Truyền đơn tức thời vào Bếp: </a:t>
            </a:r>
            <a:r>
              <a:rPr b="0">
                <a:solidFill>
                  <a:srgbClr val="475569"/>
                </a:solidFill>
              </a:rPr>
              <a:t>Đơn gọi món gửi trực tiếp vào màn hình Bếp KDS qua WebSocket; chuông reo nhận đơn để chế biến ngay lập tức.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66360"/>
            <a:ext cx="3429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137160" rIns="137160"/>
          <a:lstStyle/>
          <a:p>
            <a:pPr algn="ctr">
              <a:defRPr sz="2400" b="1">
                <a:solidFill>
                  <a:srgbClr val="2563EB"/>
                </a:solidFill>
                <a:latin typeface="Segoe UI"/>
              </a:defRPr>
            </a:pPr>
            <a:r>
              <a:t>⚡ Real-Time</a:t>
            </a:r>
          </a:p>
          <a:p>
            <a:pPr algn="ctr">
              <a:spcBef>
                <a:spcPts val="300"/>
              </a:spcBef>
              <a:defRPr sz="1300" b="1">
                <a:solidFill>
                  <a:srgbClr val="475569"/>
                </a:solidFill>
                <a:latin typeface="Segoe UI"/>
              </a:defRPr>
            </a:pPr>
            <a:r>
              <a:t>Truyền đơn vào Bếp tức thời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5166360"/>
            <a:ext cx="3429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137160" rIns="137160"/>
          <a:lstStyle/>
          <a:p>
            <a:pPr algn="ctr">
              <a:defRPr sz="2400" b="1">
                <a:solidFill>
                  <a:srgbClr val="0284C7"/>
                </a:solidFill>
                <a:latin typeface="Segoe UI"/>
              </a:defRPr>
            </a:pPr>
            <a:r>
              <a:t>👥 Quét Mã QR</a:t>
            </a:r>
          </a:p>
          <a:p>
            <a:pPr algn="ctr">
              <a:spcBef>
                <a:spcPts val="300"/>
              </a:spcBef>
              <a:defRPr sz="1300" b="1">
                <a:solidFill>
                  <a:srgbClr val="475569"/>
                </a:solidFill>
                <a:latin typeface="Segoe UI"/>
              </a:defRPr>
            </a:pPr>
            <a:r>
              <a:t>Khách chủ động gọi món tại bàn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2" y="5166360"/>
            <a:ext cx="3429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137160" rIns="137160"/>
          <a:lstStyle/>
          <a:p>
            <a:pPr algn="ctr">
              <a:defRPr sz="2400" b="1">
                <a:solidFill>
                  <a:srgbClr val="059669"/>
                </a:solidFill>
                <a:latin typeface="Segoe UI"/>
              </a:defRPr>
            </a:pPr>
            <a:r>
              <a:t>📦 Định Mức BOM</a:t>
            </a:r>
          </a:p>
          <a:p>
            <a:pPr algn="ctr">
              <a:spcBef>
                <a:spcPts val="300"/>
              </a:spcBef>
              <a:defRPr sz="1300" b="1">
                <a:solidFill>
                  <a:srgbClr val="475569"/>
                </a:solidFill>
                <a:latin typeface="Segoe UI"/>
              </a:defRPr>
            </a:pPr>
            <a:r>
              <a:t>Tự động trừ kho theo từng món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1440"/>
            <a:ext cx="4114800" cy="265176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CÔNG CỤ &amp; HỆ SINH THÁI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728655" cy="6949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Segoe UI"/>
              </a:defRPr>
            </a:pPr>
            <a:r>
              <a:t>Bộ Công Cụ &amp; Công Nghệ Sử Dụng Để Xây Dựng Hệ Thống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Bộ công nghệ tuyển chọn hiện đại: Non-blocking I/O, thời gian thực và tự động hóa kiểm thử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3/8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5212080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 rIns="228600"/>
          <a:lstStyle/>
          <a:p>
            <a:pPr algn="ctr">
              <a:defRPr sz="1450" b="1">
                <a:solidFill>
                  <a:srgbClr val="2563EB"/>
                </a:solidFill>
                <a:latin typeface="Segoe UI"/>
              </a:defRPr>
            </a:pPr>
            <a:r>
              <a:t>🖥️ NỀN TẢNG MÁY CHỦ (SERVER RUNTIME)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Node.js v20 LTS: </a:t>
            </a:r>
            <a:r>
              <a:rPr b="0">
                <a:solidFill>
                  <a:srgbClr val="475569"/>
                </a:solidFill>
              </a:rPr>
              <a:t>Môi trường thực thi JavaScript Non-blocking I/O, xử lý đa luồng bất đồng bộ tải cao.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Express.js v4.19: </a:t>
            </a:r>
            <a:r>
              <a:rPr b="0">
                <a:solidFill>
                  <a:srgbClr val="475569"/>
                </a:solidFill>
              </a:rPr>
              <a:t>Framework Back-End phân tầng MVC, quản lý pipeline middleware và định tuyến RESTful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 rIns="228600"/>
          <a:lstStyle/>
          <a:p>
            <a:pPr algn="ctr">
              <a:defRPr sz="1450" b="1">
                <a:solidFill>
                  <a:srgbClr val="059669"/>
                </a:solidFill>
                <a:latin typeface="Segoe UI"/>
              </a:defRPr>
            </a:pPr>
            <a:r>
              <a:t>🍃 CƠ SỞ DỮ LIỆU &amp; ORM (DATABASE)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MongoDB v7.0: </a:t>
            </a:r>
            <a:r>
              <a:rPr b="0">
                <a:solidFill>
                  <a:srgbClr val="475569"/>
                </a:solidFill>
              </a:rPr>
              <a:t>Hệ quản trị CSDL NoSQL hướng tài liệu (JSON-like), mở rộng linh hoạt, lưu trữ 12 Collections.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Mongoose v8.3 ODM: </a:t>
            </a:r>
            <a:r>
              <a:rPr b="0">
                <a:solidFill>
                  <a:srgbClr val="475569"/>
                </a:solidFill>
              </a:rPr>
              <a:t>Mô hình hóa Schema chặt chẽ, ràng buộc dữ liệu toàn vẹn và thực thi Aggregation Pipeline.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212080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 rIns="228600"/>
          <a:lstStyle/>
          <a:p>
            <a:pPr algn="ctr">
              <a:defRPr sz="1450" b="1">
                <a:solidFill>
                  <a:srgbClr val="D97706"/>
                </a:solidFill>
                <a:latin typeface="Segoe UI"/>
              </a:defRPr>
            </a:pPr>
            <a:r>
              <a:t>⚡ KÊNH REAL-TIME &amp; BẢO MẬT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Socket.io v4.7: </a:t>
            </a:r>
            <a:r>
              <a:rPr b="0">
                <a:solidFill>
                  <a:srgbClr val="475569"/>
                </a:solidFill>
              </a:rPr>
              <a:t>Kênh WebSocket 2 chiều phát sóng sự kiện thời gian thực giữa Bàn khách, POS và Bếp KDS.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JWT &amp; Bcrypt: </a:t>
            </a:r>
            <a:r>
              <a:rPr b="0">
                <a:solidFill>
                  <a:srgbClr val="475569"/>
                </a:solidFill>
              </a:rPr>
              <a:t>Xác thực Token không lưu trạng thái (Stateless 24h) và băm mật khẩu bảo mật một chiều 10 salt rounds.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12080" cy="2423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64592" lIns="228600" rIns="228600"/>
          <a:lstStyle/>
          <a:p>
            <a:pPr algn="ctr">
              <a:defRPr sz="1450" b="1">
                <a:solidFill>
                  <a:srgbClr val="0284C7"/>
                </a:solidFill>
                <a:latin typeface="Segoe UI"/>
              </a:defRPr>
            </a:pPr>
            <a:r>
              <a:t>🛠️ CÔNG CỤ PHÁT TRIỂN &amp; BUILD (DEV TOOLS)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VS Code &amp; Postman: </a:t>
            </a:r>
            <a:r>
              <a:rPr b="0">
                <a:solidFill>
                  <a:srgbClr val="475569"/>
                </a:solidFill>
              </a:rPr>
              <a:t>Môi trường lập trình chính và công cụ gửi request mô phỏng kiểm thử tự động toàn diện các API endpoints.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Git / GitHub &amp; NPM: </a:t>
            </a:r>
            <a:r>
              <a:rPr b="0">
                <a:solidFill>
                  <a:srgbClr val="475569"/>
                </a:solidFill>
              </a:rPr>
              <a:t>Quản lý phiên bản mã nguồn phân tán Monorepo, quản lý gói phụ thuộc và tự động hóa build.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1440"/>
            <a:ext cx="4114800" cy="265176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KIẾN TRÚC &amp; TỔ CHỨC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728655" cy="6949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Segoe UI"/>
              </a:defRPr>
            </a:pPr>
            <a:r>
              <a:t>Kiến Trúc Máy Chủ Client-Server &amp; Phân Tầng Mã Nguồn Back-End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Mô hình phân tầng rõ ràng, kết hợp RESTful API với Kênh sự kiện thời gian thực WebSocket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4/8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21208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50" b="1">
                <a:solidFill>
                  <a:srgbClr val="1E3A8A"/>
                </a:solidFill>
                <a:latin typeface="Segoe UI"/>
              </a:defRPr>
            </a:pPr>
            <a:r>
              <a:t>📁 PHÂN TẦNG MÃ NGUỒN BACK-END (BE/src)</a:t>
            </a:r>
          </a:p>
          <a:p>
            <a:pPr>
              <a:spcBef>
                <a:spcPts val="700"/>
              </a:spcBef>
              <a:defRPr sz="1300" b="1">
                <a:solidFill>
                  <a:srgbClr val="2563EB"/>
                </a:solidFill>
                <a:latin typeface="Segoe UI"/>
              </a:defRPr>
            </a:pPr>
            <a:r>
              <a:t>• controllers/ </a:t>
            </a:r>
            <a:r>
              <a:rPr b="0">
                <a:solidFill>
                  <a:srgbClr val="475569"/>
                </a:solidFill>
              </a:rPr>
              <a:t>Xử lý nghiệp vụ đặt bàn, gọi món, bếp KDS, kho BOM và tính doanh thu.</a:t>
            </a:r>
          </a:p>
          <a:p>
            <a:pPr>
              <a:spcBef>
                <a:spcPts val="700"/>
              </a:spcBef>
              <a:defRPr sz="1300" b="1">
                <a:solidFill>
                  <a:srgbClr val="2563EB"/>
                </a:solidFill>
                <a:latin typeface="Segoe UI"/>
              </a:defRPr>
            </a:pPr>
            <a:r>
              <a:t>• middlewares/ </a:t>
            </a:r>
            <a:r>
              <a:rPr b="0">
                <a:solidFill>
                  <a:srgbClr val="475569"/>
                </a:solidFill>
              </a:rPr>
              <a:t>Xác thực JWT token, kiểm tra phân quyền RBAC 4 vai trò, bắt lỗi tập trung.</a:t>
            </a:r>
          </a:p>
          <a:p>
            <a:pPr>
              <a:spcBef>
                <a:spcPts val="700"/>
              </a:spcBef>
              <a:defRPr sz="1300" b="1">
                <a:solidFill>
                  <a:srgbClr val="2563EB"/>
                </a:solidFill>
                <a:latin typeface="Segoe UI"/>
              </a:defRPr>
            </a:pPr>
            <a:r>
              <a:t>• models/ </a:t>
            </a:r>
            <a:r>
              <a:rPr b="0">
                <a:solidFill>
                  <a:srgbClr val="475569"/>
                </a:solidFill>
              </a:rPr>
              <a:t>12 Lược đồ Mongoose Schema &amp; ràng buộc quan hệ n-n (BOM).</a:t>
            </a:r>
          </a:p>
          <a:p>
            <a:pPr>
              <a:spcBef>
                <a:spcPts val="700"/>
              </a:spcBef>
              <a:defRPr sz="1300" b="1">
                <a:solidFill>
                  <a:srgbClr val="2563EB"/>
                </a:solidFill>
                <a:latin typeface="Segoe UI"/>
              </a:defRPr>
            </a:pPr>
            <a:r>
              <a:t>• routes/ </a:t>
            </a:r>
            <a:r>
              <a:rPr b="0">
                <a:solidFill>
                  <a:srgbClr val="475569"/>
                </a:solidFill>
              </a:rPr>
              <a:t>Định tuyến hơn 30 RESTful API endpoints theo chuẩn RESTful conventions.</a:t>
            </a:r>
          </a:p>
          <a:p>
            <a:pPr>
              <a:spcBef>
                <a:spcPts val="700"/>
              </a:spcBef>
              <a:defRPr sz="1300" b="1">
                <a:solidFill>
                  <a:srgbClr val="2563EB"/>
                </a:solidFill>
                <a:latin typeface="Segoe UI"/>
              </a:defRPr>
            </a:pPr>
            <a:r>
              <a:t>• utils/ &amp; config/ </a:t>
            </a:r>
            <a:r>
              <a:rPr b="0">
                <a:solidFill>
                  <a:srgbClr val="475569"/>
                </a:solidFill>
              </a:rPr>
              <a:t>Kết nối CSDL MongoDB, tiện ích phát sóng Socket.io và xử lý asyncHandler.</a:t>
            </a:r>
          </a:p>
          <a:p>
            <a:pPr>
              <a:spcBef>
                <a:spcPts val="700"/>
              </a:spcBef>
              <a:defRPr sz="1300" b="1">
                <a:solidFill>
                  <a:srgbClr val="2563EB"/>
                </a:solidFill>
                <a:latin typeface="Segoe UI"/>
              </a:defRPr>
            </a:pPr>
            <a:r>
              <a:t>• server.js </a:t>
            </a:r>
            <a:r>
              <a:rPr b="0">
                <a:solidFill>
                  <a:srgbClr val="475569"/>
                </a:solidFill>
              </a:rPr>
              <a:t>Entry point khởi động Express HTTP Server &amp; Socket.io WebSocket.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50" b="1">
                <a:solidFill>
                  <a:srgbClr val="059669"/>
                </a:solidFill>
                <a:latin typeface="Segoe UI"/>
              </a:defRPr>
            </a:pPr>
            <a:r>
              <a:t>🔄 LUỒNG XỬ LÝ REQUEST &amp; REALTIME EVENT</a:t>
            </a:r>
          </a:p>
          <a:p>
            <a:pPr>
              <a:spcBef>
                <a:spcPts val="7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1. Khởi tạo yêu cầu: </a:t>
            </a:r>
            <a:r>
              <a:rPr b="0">
                <a:solidFill>
                  <a:srgbClr val="475569"/>
                </a:solidFill>
              </a:rPr>
              <a:t>Khách quét QR hoặc Thu ngân POS gửi HTTP Request / Socket Event lên máy chủ.</a:t>
            </a:r>
          </a:p>
          <a:p>
            <a:pPr>
              <a:spcBef>
                <a:spcPts val="7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2. Gateway bảo mật: </a:t>
            </a:r>
            <a:r>
              <a:rPr b="0">
                <a:solidFill>
                  <a:srgbClr val="475569"/>
                </a:solidFill>
              </a:rPr>
              <a:t>Middleware (Helmet, CORS, Rate Limit) chặn tấn công; xác thực JWT Token và quyền vai trò.</a:t>
            </a:r>
          </a:p>
          <a:p>
            <a:pPr>
              <a:spcBef>
                <a:spcPts val="7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3. Xử lý Controller: </a:t>
            </a:r>
            <a:r>
              <a:rPr b="0">
                <a:solidFill>
                  <a:srgbClr val="475569"/>
                </a:solidFill>
              </a:rPr>
              <a:t>Controller kiểm tra tính hợp lệ dữ liệu, điều phối logic nghiệp vụ phù hợp.</a:t>
            </a:r>
          </a:p>
          <a:p>
            <a:pPr>
              <a:spcBef>
                <a:spcPts val="7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4. Tương tác CSDL: </a:t>
            </a:r>
            <a:r>
              <a:rPr b="0">
                <a:solidFill>
                  <a:srgbClr val="475569"/>
                </a:solidFill>
              </a:rPr>
              <a:t>Mongoose ODM thực thi truy vấn MongoDB (CRUD, Transaction, Aggregation Pipeline).</a:t>
            </a:r>
          </a:p>
          <a:p>
            <a:pPr>
              <a:spcBef>
                <a:spcPts val="7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• 5. Đồng bộ Realtime: </a:t>
            </a:r>
            <a:r>
              <a:rPr b="0">
                <a:solidFill>
                  <a:srgbClr val="475569"/>
                </a:solidFill>
              </a:rPr>
              <a:t>Kích hoạt Socket.io phát sóng tức thời xuống màn hình Bếp KDS và Bàn ăn.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1440"/>
            <a:ext cx="3840480" cy="265176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BẢN ĐỒ TÍNH NĂNG HỆ THỐNG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728655" cy="6949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Segoe UI"/>
              </a:defRPr>
            </a:pPr>
            <a:r>
              <a:t>Tổng Quan 9 Phân Hệ Tính Năng Nghiệp Vụ Cốt Lõi Của Back-End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Bao phủ toàn diện vòng đời vận hành nhà hàng: Xác thực, Bàn ăn, Gọi món, Bếp KDS, Kho BOM, CRM và Báo cáo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5/8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234440"/>
          <a:ext cx="1072865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03120"/>
                <a:gridCol w="5699455"/>
              </a:tblGrid>
              <a:tr h="507492">
                <a:tc>
                  <a:txBody>
                    <a:bodyPr tIns="54864" bIns="54864"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Phân Hệ Nghiệp Vụ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Tuyến Đường API (Route)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Mô Tả Chức Năng Trọng Tâm Của Back-End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1. Xác Thực &amp; Phân Quyền RBAC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/api/v1/auth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Đăng nhập, cấp JWT 24h, băm Bcrypt 10 rounds, phân quyền 4 vai trò (Admin, Thu ngân, Bếp, Phục vụ)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2. Quản Lý Sơ Đồ Bàn Ăn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/api/v1/tables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Giám sát trạng thái bàn động (Trống, Có khách, Đã đặt), chuyển bàn, gộp bàn và tự động giải phóng bàn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3. Thực Đơn &amp; Danh Mục Món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/api/v1/dishes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Phân loại món ăn (Khai vị, Món chính, Đồ uống...), giá niêm yết, bật/tắt phục vụ và upload ảnh đám mây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4. Điểm Bán POS &amp; Khách Quét QR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/api/v1/orders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Lập đơn gọi món tại bàn, ghi chú khẩu vị (ít cay, không hành...), phát sóng Socket.io sự kiện đơn mới tức thời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5. Điều Phối Màn Hình Bếp KDS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/api/v1/orders/:id/status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Tiếp nhận đơn tức thời, chuông reo báo hiệu, cập nhật tiến độ nấu 1 chạm và kích hoạt khấu trừ kho BOM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6. Kho Nguyên Liệu &amp; Định Mức BOM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/api/v1/inventory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Thuật toán tự động trừ kho theo công thức BOM từng gram, cảnh báo cạn kiệt khi chạm ngưỡng tồn tối thiểu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7. Đặt Bàn Tiệc Trước (Reservation)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/api/v1/reservations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Khách hẹn đặt bàn trước, kiểm tra bàn trống theo giờ, nhận tiền cọc giữ chỗ và tự động check-in khi khách đến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8. Khách Hàng Thân Thiết &amp; CRM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/api/v1/customers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Tra cứu SĐT khách hàng, tự động tích điểm thưởng (100k = 1 điểm), nâng hạng thẻ VIP và chiết khấu trực tiếp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7492">
                <a:tc>
                  <a:txBody>
                    <a:bodyPr tIns="36576" bIns="36576"/>
                    <a:lstStyle/>
                    <a:p>
                      <a:pPr>
                        <a:defRPr sz="115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9. Báo Cáo Doanh Thu &amp; Thống Kê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00">
                          <a:solidFill>
                            <a:srgbClr val="2563EB"/>
                          </a:solidFill>
                          <a:latin typeface="Consolas"/>
                        </a:defRPr>
                      </a:pPr>
                      <a:r>
                        <a:t>/api/v1/reports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pPr>
                        <a:defRPr sz="1150">
                          <a:solidFill>
                            <a:srgbClr val="475569"/>
                          </a:solidFill>
                          <a:latin typeface="Segoe UI"/>
                        </a:defRPr>
                      </a:pPr>
                      <a:r>
                        <a:t>MongoDB Aggregation tính doanh thu theo ngày/tuần/tháng, tỷ lệ dòng tiền VietQR/tiền mặt, Top 5 món bán chạy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1440"/>
            <a:ext cx="4114800" cy="265176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TÍNH NĂNG THỰC NGHIỆM (1 &amp;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728655" cy="6949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Segoe UI"/>
              </a:defRPr>
            </a:pPr>
            <a:r>
              <a:t>Sơ Đồ Bàn Ăn Thời Gian Thực &amp; Gọi Món Đa Kênh (POS / Khách QR)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Số hóa toàn bộ khâu tiếp đón khách, mở bàn và truyền nhận đơn hàng siêu tốc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6/8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02920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50" b="1">
                <a:solidFill>
                  <a:srgbClr val="1E3A8A"/>
                </a:solidFill>
                <a:latin typeface="Segoe UI"/>
              </a:defRPr>
            </a:pPr>
            <a:r>
              <a:t>🪑 1. SƠ ĐỒ BÀN ĂN REALTIME</a:t>
            </a:r>
          </a:p>
          <a:p>
            <a:pPr>
              <a:spcBef>
                <a:spcPts val="800"/>
              </a:spcBef>
              <a:defRPr sz="1350" b="1">
                <a:solidFill>
                  <a:srgbClr val="059669"/>
                </a:solidFill>
                <a:latin typeface="Segoe UI"/>
              </a:defRPr>
            </a:pPr>
            <a:r>
              <a:t>• Trạng thái động 3 màu: </a:t>
            </a:r>
            <a:r>
              <a:rPr b="0">
                <a:solidFill>
                  <a:srgbClr val="475569"/>
                </a:solidFill>
              </a:rPr>
              <a:t>Bàn trống (Xanh lá), Có khách (Đỏ), Khách đã đặt hẹn trước (Vàng cam).</a:t>
            </a:r>
          </a:p>
          <a:p>
            <a:pPr>
              <a:spcBef>
                <a:spcPts val="800"/>
              </a:spcBef>
              <a:defRPr sz="1350" b="1">
                <a:solidFill>
                  <a:srgbClr val="059669"/>
                </a:solidFill>
                <a:latin typeface="Segoe UI"/>
              </a:defRPr>
            </a:pPr>
            <a:r>
              <a:t>• Tự động giải phóng bàn: </a:t>
            </a:r>
            <a:r>
              <a:rPr b="0">
                <a:solidFill>
                  <a:srgbClr val="475569"/>
                </a:solidFill>
              </a:rPr>
              <a:t>Khi thu ngân xác nhận thanh toán ➔ Hệ thống tự động trả bàn về trạng thái 'trống' tức thì.</a:t>
            </a:r>
          </a:p>
          <a:p>
            <a:pPr>
              <a:spcBef>
                <a:spcPts val="1600"/>
              </a:spcBef>
              <a:defRPr sz="1550" b="1">
                <a:solidFill>
                  <a:srgbClr val="1E3A8A"/>
                </a:solidFill>
                <a:latin typeface="Segoe UI"/>
              </a:defRPr>
            </a:pPr>
            <a:r>
              <a:t>📱 2. GỌI MÓN ĐA KÊNH &amp; BẮN ĐƠN BẾP</a:t>
            </a:r>
          </a:p>
          <a:p>
            <a:pPr>
              <a:spcBef>
                <a:spcPts val="800"/>
              </a:spcBef>
              <a:defRPr sz="1350" b="1">
                <a:solidFill>
                  <a:srgbClr val="2563EB"/>
                </a:solidFill>
                <a:latin typeface="Segoe UI"/>
              </a:defRPr>
            </a:pPr>
            <a:r>
              <a:t>• Khách tự quét mã QR: </a:t>
            </a:r>
            <a:r>
              <a:rPr b="0">
                <a:solidFill>
                  <a:srgbClr val="475569"/>
                </a:solidFill>
              </a:rPr>
              <a:t>Khách tự gọi món trên điện thoại, tùy chỉnh khẩu vị (ít cay, không hành, ít đá...).</a:t>
            </a:r>
          </a:p>
          <a:p>
            <a:pPr>
              <a:spcBef>
                <a:spcPts val="800"/>
              </a:spcBef>
              <a:defRPr sz="1350" b="1">
                <a:solidFill>
                  <a:srgbClr val="2563EB"/>
                </a:solidFill>
                <a:latin typeface="Segoe UI"/>
              </a:defRPr>
            </a:pPr>
            <a:r>
              <a:t>• POS Phục vụ bàn: </a:t>
            </a:r>
            <a:r>
              <a:rPr b="0">
                <a:solidFill>
                  <a:srgbClr val="475569"/>
                </a:solidFill>
              </a:rPr>
              <a:t>Nhân viên mở bàn, thêm món nhanh chóng bằng màn hình cảm ứng POS.</a:t>
            </a:r>
          </a:p>
          <a:p>
            <a:pPr>
              <a:spcBef>
                <a:spcPts val="800"/>
              </a:spcBef>
              <a:defRPr sz="1350" b="1">
                <a:solidFill>
                  <a:srgbClr val="2563EB"/>
                </a:solidFill>
                <a:latin typeface="Segoe UI"/>
              </a:defRPr>
            </a:pPr>
            <a:r>
              <a:t>• Bắn đơn Socket.io tức thời: </a:t>
            </a:r>
            <a:r>
              <a:rPr b="0">
                <a:solidFill>
                  <a:srgbClr val="475569"/>
                </a:solidFill>
              </a:rPr>
              <a:t>Xác nhận gọi món ➔ Sự kiện 'order:new' bắn thẳng xuống Bếp KDS chuông reo tức thì.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234440"/>
            <a:ext cx="5425135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53312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1E3A8A"/>
                </a:solidFill>
                <a:latin typeface="Segoe UI"/>
              </a:defRPr>
            </a:pPr>
            <a:r>
              <a:t>📸 Giao diện Sơ Đồ Bàn Ăn Thời Gian Thực (Table Map)</a:t>
            </a:r>
          </a:p>
        </p:txBody>
      </p:sp>
      <p:pic>
        <p:nvPicPr>
          <p:cNvPr id="11" name="Picture 10" descr="04_t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50815" cy="32192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1440"/>
            <a:ext cx="4114800" cy="265176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/>
          <a:lstStyle/>
          <a:p>
            <a:pPr algn="ctr">
              <a:defRPr sz="1050" b="1">
                <a:solidFill>
                  <a:srgbClr val="2563EB"/>
                </a:solidFill>
                <a:latin typeface="Segoe UI"/>
              </a:defRPr>
            </a:pPr>
            <a:r>
              <a:t>TÍNH NĂNG THỰC NGHIỆM (3 &amp; 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"/>
            <a:ext cx="10728655" cy="694944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Segoe UI"/>
              </a:defRPr>
            </a:pPr>
            <a:r>
              <a:t>Điều Phối Bếp KDS, Trừ Kho BOM &amp; Báo Cáo Doanh Thu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Tự động hóa khấu trừ nguyên liệu từng gram và phân tích tài chính thông minh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7/8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34440"/>
            <a:ext cx="502920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28600" rIns="228600"/>
          <a:lstStyle/>
          <a:p>
            <a:pPr algn="ctr">
              <a:defRPr sz="1550" b="1">
                <a:solidFill>
                  <a:srgbClr val="1E3A8A"/>
                </a:solidFill>
                <a:latin typeface="Segoe UI"/>
              </a:defRPr>
            </a:pPr>
            <a:r>
              <a:t>🍳 3. ĐIỀU PHỐI BẾP KDS &amp; TRỪ KHO BOM</a:t>
            </a:r>
          </a:p>
          <a:p>
            <a:pPr>
              <a:spcBef>
                <a:spcPts val="800"/>
              </a:spcBef>
              <a:defRPr sz="1350" b="1">
                <a:solidFill>
                  <a:srgbClr val="D97706"/>
                </a:solidFill>
                <a:latin typeface="Segoe UI"/>
              </a:defRPr>
            </a:pPr>
            <a:r>
              <a:t>• Màn hình Bếp KDS 1 chạm: </a:t>
            </a:r>
            <a:r>
              <a:rPr b="0">
                <a:solidFill>
                  <a:srgbClr val="475569"/>
                </a:solidFill>
              </a:rPr>
              <a:t>Chuông reo báo đơn; đầu bếp bấm 'Bắt Đầu Nấu' ➔ 'Hoàn Tất' để đồng bộ tiến độ món.</a:t>
            </a:r>
          </a:p>
          <a:p>
            <a:pPr>
              <a:spcBef>
                <a:spcPts val="800"/>
              </a:spcBef>
              <a:defRPr sz="1350" b="1">
                <a:solidFill>
                  <a:srgbClr val="D97706"/>
                </a:solidFill>
                <a:latin typeface="Segoe UI"/>
              </a:defRPr>
            </a:pPr>
            <a:r>
              <a:t>• Thuật toán tự động trừ kho: </a:t>
            </a:r>
            <a:r>
              <a:rPr b="0">
                <a:solidFill>
                  <a:srgbClr val="475569"/>
                </a:solidFill>
              </a:rPr>
              <a:t>Bếp bấm nấu ➔ Back-End tự tính toán theo bảng định mức BOM và trừ thẳng kho nguyên liệu từng gram.</a:t>
            </a:r>
          </a:p>
          <a:p>
            <a:pPr>
              <a:spcBef>
                <a:spcPts val="1600"/>
              </a:spcBef>
              <a:defRPr sz="1550" b="1">
                <a:solidFill>
                  <a:srgbClr val="1E3A8A"/>
                </a:solidFill>
                <a:latin typeface="Segoe UI"/>
              </a:defRPr>
            </a:pPr>
            <a:r>
              <a:t>📊 4. BÁO CÁO DOANH THU &amp; DÒNG TIỀN</a:t>
            </a:r>
          </a:p>
          <a:p>
            <a:pPr>
              <a:spcBef>
                <a:spcPts val="800"/>
              </a:spcBef>
              <a:defRPr sz="1350" b="1">
                <a:solidFill>
                  <a:srgbClr val="059669"/>
                </a:solidFill>
                <a:latin typeface="Segoe UI"/>
              </a:defRPr>
            </a:pPr>
            <a:r>
              <a:t>• MongoDB Aggregation Pipeline: </a:t>
            </a:r>
            <a:r>
              <a:rPr b="0">
                <a:solidFill>
                  <a:srgbClr val="475569"/>
                </a:solidFill>
              </a:rPr>
              <a:t>Truy vấn đường ống tính toán doanh số tự động theo thời gian thực.</a:t>
            </a:r>
          </a:p>
          <a:p>
            <a:pPr>
              <a:spcBef>
                <a:spcPts val="800"/>
              </a:spcBef>
              <a:defRPr sz="1350" b="1">
                <a:solidFill>
                  <a:srgbClr val="059669"/>
                </a:solidFill>
                <a:latin typeface="Segoe UI"/>
              </a:defRPr>
            </a:pPr>
            <a:r>
              <a:t>• Phân tích cơ cấu dòng tiền: </a:t>
            </a:r>
            <a:r>
              <a:rPr b="0">
                <a:solidFill>
                  <a:srgbClr val="475569"/>
                </a:solidFill>
              </a:rPr>
              <a:t>Thống kê tỷ lệ thanh toán chuyển khoản VietQR vs. Tiền mặt; xếp hạng Top món bán chạy nhất.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234440"/>
            <a:ext cx="5425135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53312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1E3A8A"/>
                </a:solidFill>
                <a:latin typeface="Segoe UI"/>
              </a:defRPr>
            </a:pPr>
            <a:r>
              <a:t>📸 Giao diện Điều Phối Màn Hình Bếp KDS Thông Minh</a:t>
            </a:r>
          </a:p>
        </p:txBody>
      </p:sp>
      <p:pic>
        <p:nvPicPr>
          <p:cNvPr id="11" name="Picture 10" descr="05_kit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50815" cy="32192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777240"/>
            <a:ext cx="9997135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92608" lIns="457200" rIns="457200"/>
          <a:lstStyle/>
          <a:p>
            <a:pPr algn="ctr">
              <a:defRPr sz="1500" b="1">
                <a:solidFill>
                  <a:srgbClr val="2563EB"/>
                </a:solidFill>
                <a:latin typeface="Segoe UI"/>
              </a:defRPr>
            </a:pPr>
            <a:r>
              <a:t>🏛️ KHOA CÔNG NGHỆ THÔNG TIN – ĐIỆN TỬ • ITC</a:t>
            </a:r>
          </a:p>
          <a:p>
            <a:pPr algn="ctr">
              <a:spcBef>
                <a:spcPts val="1200"/>
              </a:spcBef>
              <a:defRPr sz="3400" b="1">
                <a:solidFill>
                  <a:srgbClr val="1E3A8A"/>
                </a:solidFill>
                <a:latin typeface="Segoe UI"/>
              </a:defRPr>
            </a:pPr>
            <a:r>
              <a:t>XIN CHÂN THÀNH CẢM ƠN!</a:t>
            </a:r>
          </a:p>
          <a:p>
            <a:pPr algn="ctr">
              <a:spcBef>
                <a:spcPts val="800"/>
              </a:spcBef>
              <a:defRPr sz="1650">
                <a:solidFill>
                  <a:srgbClr val="475569"/>
                </a:solidFill>
                <a:latin typeface="Segoe UI"/>
              </a:defRPr>
            </a:pPr>
            <a:r>
              <a:t>Kính chúc Quý Thầy Cô trong Hội đồng thật nhiều sức khỏe, hạnh phúc và thành công!</a:t>
            </a:r>
          </a:p>
          <a:p>
            <a:pPr algn="ctr">
              <a:spcBef>
                <a:spcPts val="1800"/>
              </a:spcBef>
              <a:defRPr sz="2300" b="1">
                <a:solidFill>
                  <a:srgbClr val="D97706"/>
                </a:solidFill>
                <a:latin typeface="Segoe UI"/>
              </a:defRPr>
            </a:pPr>
            <a:r>
              <a:t>❓ PHẦN HỎI &amp; ĐÁP (Q &amp; A)</a:t>
            </a:r>
          </a:p>
          <a:p>
            <a:pPr algn="ctr">
              <a:spcBef>
                <a:spcPts val="600"/>
              </a:spcBef>
              <a:defRPr sz="1550">
                <a:solidFill>
                  <a:srgbClr val="475569"/>
                </a:solidFill>
                <a:latin typeface="Segoe UI"/>
              </a:defRPr>
            </a:pPr>
            <a:r>
              <a:t>Em rất mong nhận được những câu hỏi phản biện, lời nhận xét và góp ý quý báu của Quý Thầy Cô để hoàn thiện đề tài.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892040"/>
            <a:ext cx="9997135" cy="128016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365760" rIns="365760"/>
          <a:lstStyle/>
          <a:p>
            <a:pPr algn="ctr">
              <a:defRPr sz="1400" b="1">
                <a:solidFill>
                  <a:srgbClr val="1E3A8A"/>
                </a:solidFill>
                <a:latin typeface="Segoe UI"/>
              </a:defRPr>
            </a:pPr>
            <a:r>
              <a:t>👤 Sinh viên: NGUYỄN HOÀNG HƯNG   |   MSSV: 501250384   |   Lớp: Khóa K25 – Công nghệ Phần mềm</a:t>
            </a:r>
          </a:p>
          <a:p>
            <a:pPr algn="ctr">
              <a:spcBef>
                <a:spcPts val="600"/>
              </a:spcBef>
              <a:defRPr sz="1300">
                <a:solidFill>
                  <a:srgbClr val="475569"/>
                </a:solidFill>
                <a:latin typeface="Segoe UI"/>
              </a:defRPr>
            </a:pPr>
            <a:r>
              <a:t>👨‍🏫 Giảng viên hướng dẫn: ThS. NGUYỄN MINH HẢI   |   Đề tài: Hệ Thống Back-End Quản Lý Nhà Hàng &amp; Gọi Món (Royal Bistro)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728655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050">
                <a:solidFill>
                  <a:srgbClr val="94A3B8"/>
                </a:solidFill>
                <a:latin typeface="Segoe UI"/>
              </a:defRPr>
            </a:pPr>
            <a:r>
              <a:t>Đồ Án Chuyên Đề Back-End: Royal Bistro  |  Sinh viên: Nguyễn Hoàng Hưng – 501250384 (K25)                                   Trang 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