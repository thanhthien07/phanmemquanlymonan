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D4C435-9C3A-403D-ABCB-68C9E5CC8635}" v="4" dt="2026-10-27T00:15:59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ưng Nguyễn" userId="62088adbe5b10a38" providerId="LiveId" clId="{0038B2EA-E61B-494E-8805-E1A7D9E185B2}"/>
    <pc:docChg chg="undo custSel addSld delSld modSld sldOrd">
      <pc:chgData name="Hưng Nguyễn" userId="62088adbe5b10a38" providerId="LiveId" clId="{0038B2EA-E61B-494E-8805-E1A7D9E185B2}" dt="2026-10-27T00:17:22.488" v="284" actId="20577"/>
      <pc:docMkLst>
        <pc:docMk/>
      </pc:docMkLst>
      <pc:sldChg chg="modSp mod">
        <pc:chgData name="Hưng Nguyễn" userId="62088adbe5b10a38" providerId="LiveId" clId="{0038B2EA-E61B-494E-8805-E1A7D9E185B2}" dt="2026-10-27T00:15:22.178" v="269" actId="20577"/>
        <pc:sldMkLst>
          <pc:docMk/>
          <pc:sldMk cId="0" sldId="256"/>
        </pc:sldMkLst>
        <pc:spChg chg="mod">
          <ac:chgData name="Hưng Nguyễn" userId="62088adbe5b10a38" providerId="LiveId" clId="{0038B2EA-E61B-494E-8805-E1A7D9E185B2}" dt="2026-10-27T00:15:22.178" v="269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Hưng Nguyễn" userId="62088adbe5b10a38" providerId="LiveId" clId="{0038B2EA-E61B-494E-8805-E1A7D9E185B2}" dt="2026-10-27T00:13:28.546" v="226" actId="403"/>
          <ac:spMkLst>
            <pc:docMk/>
            <pc:sldMk cId="0" sldId="256"/>
            <ac:spMk id="8" creationId="{00000000-0000-0000-0000-000000000000}"/>
          </ac:spMkLst>
        </pc:spChg>
        <pc:spChg chg="mod">
          <ac:chgData name="Hưng Nguyễn" userId="62088adbe5b10a38" providerId="LiveId" clId="{0038B2EA-E61B-494E-8805-E1A7D9E185B2}" dt="2026-10-27T00:13:43.095" v="266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Hưng Nguyễn" userId="62088adbe5b10a38" providerId="LiveId" clId="{0038B2EA-E61B-494E-8805-E1A7D9E185B2}" dt="2026-10-26T23:59:22.279" v="69" actId="20577"/>
          <ac:spMkLst>
            <pc:docMk/>
            <pc:sldMk cId="0" sldId="256"/>
            <ac:spMk id="14" creationId="{00000000-0000-0000-0000-000000000000}"/>
          </ac:spMkLst>
        </pc:spChg>
      </pc:sldChg>
      <pc:sldChg chg="addSp delSp modSp mod">
        <pc:chgData name="Hưng Nguyễn" userId="62088adbe5b10a38" providerId="LiveId" clId="{0038B2EA-E61B-494E-8805-E1A7D9E185B2}" dt="2026-10-27T00:17:22.488" v="284" actId="20577"/>
        <pc:sldMkLst>
          <pc:docMk/>
          <pc:sldMk cId="0" sldId="257"/>
        </pc:sldMkLst>
        <pc:spChg chg="del">
          <ac:chgData name="Hưng Nguyễn" userId="62088adbe5b10a38" providerId="LiveId" clId="{0038B2EA-E61B-494E-8805-E1A7D9E185B2}" dt="2026-10-26T23:55:14.772" v="55" actId="478"/>
          <ac:spMkLst>
            <pc:docMk/>
            <pc:sldMk cId="0" sldId="257"/>
            <ac:spMk id="5" creationId="{00000000-0000-0000-0000-000000000000}"/>
          </ac:spMkLst>
        </pc:spChg>
        <pc:spChg chg="mod">
          <ac:chgData name="Hưng Nguyễn" userId="62088adbe5b10a38" providerId="LiveId" clId="{0038B2EA-E61B-494E-8805-E1A7D9E185B2}" dt="2026-10-27T00:15:50.042" v="272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Hưng Nguyễn" userId="62088adbe5b10a38" providerId="LiveId" clId="{0038B2EA-E61B-494E-8805-E1A7D9E185B2}" dt="2026-10-27T00:17:22.488" v="284" actId="20577"/>
          <ac:spMkLst>
            <pc:docMk/>
            <pc:sldMk cId="0" sldId="257"/>
            <ac:spMk id="8" creationId="{00000000-0000-0000-0000-000000000000}"/>
          </ac:spMkLst>
        </pc:spChg>
        <pc:spChg chg="add del">
          <ac:chgData name="Hưng Nguyễn" userId="62088adbe5b10a38" providerId="LiveId" clId="{0038B2EA-E61B-494E-8805-E1A7D9E185B2}" dt="2026-10-27T00:12:36.429" v="216" actId="478"/>
          <ac:spMkLst>
            <pc:docMk/>
            <pc:sldMk cId="0" sldId="257"/>
            <ac:spMk id="9" creationId="{00000000-0000-0000-0000-000000000000}"/>
          </ac:spMkLst>
        </pc:spChg>
      </pc:sldChg>
      <pc:sldChg chg="delSp modSp mod">
        <pc:chgData name="Hưng Nguyễn" userId="62088adbe5b10a38" providerId="LiveId" clId="{0038B2EA-E61B-494E-8805-E1A7D9E185B2}" dt="2026-10-26T23:55:08.954" v="53" actId="478"/>
        <pc:sldMkLst>
          <pc:docMk/>
          <pc:sldMk cId="0" sldId="258"/>
        </pc:sldMkLst>
        <pc:spChg chg="del">
          <ac:chgData name="Hưng Nguyễn" userId="62088adbe5b10a38" providerId="LiveId" clId="{0038B2EA-E61B-494E-8805-E1A7D9E185B2}" dt="2026-10-26T23:55:08.954" v="53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Hưng Nguyễn" userId="62088adbe5b10a38" providerId="LiveId" clId="{0038B2EA-E61B-494E-8805-E1A7D9E185B2}" dt="2026-10-26T23:55:01.547" v="52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Hưng Nguyễn" userId="62088adbe5b10a38" providerId="LiveId" clId="{0038B2EA-E61B-494E-8805-E1A7D9E185B2}" dt="2026-10-26T23:54:55.808" v="51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Hưng Nguyễn" userId="62088adbe5b10a38" providerId="LiveId" clId="{0038B2EA-E61B-494E-8805-E1A7D9E185B2}" dt="2026-10-26T23:54:55.808" v="51" actId="403"/>
          <ac:spMkLst>
            <pc:docMk/>
            <pc:sldMk cId="0" sldId="258"/>
            <ac:spMk id="9" creationId="{00000000-0000-0000-0000-000000000000}"/>
          </ac:spMkLst>
        </pc:spChg>
        <pc:spChg chg="mod">
          <ac:chgData name="Hưng Nguyễn" userId="62088adbe5b10a38" providerId="LiveId" clId="{0038B2EA-E61B-494E-8805-E1A7D9E185B2}" dt="2026-10-26T23:54:55.808" v="51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Hưng Nguyễn" userId="62088adbe5b10a38" providerId="LiveId" clId="{0038B2EA-E61B-494E-8805-E1A7D9E185B2}" dt="2026-10-26T23:54:55.808" v="51" actId="403"/>
          <ac:spMkLst>
            <pc:docMk/>
            <pc:sldMk cId="0" sldId="258"/>
            <ac:spMk id="11" creationId="{00000000-0000-0000-0000-000000000000}"/>
          </ac:spMkLst>
        </pc:spChg>
      </pc:sldChg>
      <pc:sldChg chg="delSp del mod">
        <pc:chgData name="Hưng Nguyễn" userId="62088adbe5b10a38" providerId="LiveId" clId="{0038B2EA-E61B-494E-8805-E1A7D9E185B2}" dt="2026-10-26T23:56:57.953" v="65" actId="47"/>
        <pc:sldMkLst>
          <pc:docMk/>
          <pc:sldMk cId="0" sldId="259"/>
        </pc:sldMkLst>
        <pc:spChg chg="del">
          <ac:chgData name="Hưng Nguyễn" userId="62088adbe5b10a38" providerId="LiveId" clId="{0038B2EA-E61B-494E-8805-E1A7D9E185B2}" dt="2026-10-26T23:55:12.219" v="54" actId="478"/>
          <ac:spMkLst>
            <pc:docMk/>
            <pc:sldMk cId="0" sldId="259"/>
            <ac:spMk id="5" creationId="{00000000-0000-0000-0000-000000000000}"/>
          </ac:spMkLst>
        </pc:spChg>
      </pc:sldChg>
      <pc:sldChg chg="addSp delSp modSp mod">
        <pc:chgData name="Hưng Nguyễn" userId="62088adbe5b10a38" providerId="LiveId" clId="{0038B2EA-E61B-494E-8805-E1A7D9E185B2}" dt="2026-10-27T00:10:36.611" v="133" actId="22"/>
        <pc:sldMkLst>
          <pc:docMk/>
          <pc:sldMk cId="0" sldId="260"/>
        </pc:sldMkLst>
        <pc:spChg chg="del">
          <ac:chgData name="Hưng Nguyễn" userId="62088adbe5b10a38" providerId="LiveId" clId="{0038B2EA-E61B-494E-8805-E1A7D9E185B2}" dt="2026-10-26T23:55:18.262" v="56" actId="478"/>
          <ac:spMkLst>
            <pc:docMk/>
            <pc:sldMk cId="0" sldId="260"/>
            <ac:spMk id="5" creationId="{00000000-0000-0000-0000-000000000000}"/>
          </ac:spMkLst>
        </pc:spChg>
        <pc:spChg chg="mod">
          <ac:chgData name="Hưng Nguyễn" userId="62088adbe5b10a38" providerId="LiveId" clId="{0038B2EA-E61B-494E-8805-E1A7D9E185B2}" dt="2026-10-26T23:55:41.196" v="61" actId="20577"/>
          <ac:spMkLst>
            <pc:docMk/>
            <pc:sldMk cId="0" sldId="260"/>
            <ac:spMk id="6" creationId="{00000000-0000-0000-0000-000000000000}"/>
          </ac:spMkLst>
        </pc:spChg>
        <pc:spChg chg="add del">
          <ac:chgData name="Hưng Nguyễn" userId="62088adbe5b10a38" providerId="LiveId" clId="{0038B2EA-E61B-494E-8805-E1A7D9E185B2}" dt="2026-10-27T00:10:36.611" v="133" actId="22"/>
          <ac:spMkLst>
            <pc:docMk/>
            <pc:sldMk cId="0" sldId="260"/>
            <ac:spMk id="10" creationId="{923864D8-EF9A-B9E6-FCAD-7B56CA7354DA}"/>
          </ac:spMkLst>
        </pc:spChg>
        <pc:graphicFrameChg chg="modGraphic">
          <ac:chgData name="Hưng Nguyễn" userId="62088adbe5b10a38" providerId="LiveId" clId="{0038B2EA-E61B-494E-8805-E1A7D9E185B2}" dt="2026-10-27T00:09:18.049" v="124" actId="20577"/>
          <ac:graphicFrameMkLst>
            <pc:docMk/>
            <pc:sldMk cId="0" sldId="260"/>
            <ac:graphicFrameMk id="8" creationId="{00000000-0000-0000-0000-000000000000}"/>
          </ac:graphicFrameMkLst>
        </pc:graphicFrameChg>
      </pc:sldChg>
      <pc:sldChg chg="delSp modSp mod">
        <pc:chgData name="Hưng Nguyễn" userId="62088adbe5b10a38" providerId="LiveId" clId="{0038B2EA-E61B-494E-8805-E1A7D9E185B2}" dt="2026-10-27T00:00:32.489" v="70" actId="120"/>
        <pc:sldMkLst>
          <pc:docMk/>
          <pc:sldMk cId="0" sldId="261"/>
        </pc:sldMkLst>
        <pc:spChg chg="del">
          <ac:chgData name="Hưng Nguyễn" userId="62088adbe5b10a38" providerId="LiveId" clId="{0038B2EA-E61B-494E-8805-E1A7D9E185B2}" dt="2026-10-26T23:55:20.933" v="57" actId="478"/>
          <ac:spMkLst>
            <pc:docMk/>
            <pc:sldMk cId="0" sldId="261"/>
            <ac:spMk id="5" creationId="{00000000-0000-0000-0000-000000000000}"/>
          </ac:spMkLst>
        </pc:spChg>
        <pc:spChg chg="mod">
          <ac:chgData name="Hưng Nguyễn" userId="62088adbe5b10a38" providerId="LiveId" clId="{0038B2EA-E61B-494E-8805-E1A7D9E185B2}" dt="2026-10-26T23:55:36.441" v="60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Hưng Nguyễn" userId="62088adbe5b10a38" providerId="LiveId" clId="{0038B2EA-E61B-494E-8805-E1A7D9E185B2}" dt="2026-10-27T00:00:32.489" v="70" actId="120"/>
          <ac:spMkLst>
            <pc:docMk/>
            <pc:sldMk cId="0" sldId="261"/>
            <ac:spMk id="8" creationId="{00000000-0000-0000-0000-000000000000}"/>
          </ac:spMkLst>
        </pc:spChg>
      </pc:sldChg>
      <pc:sldChg chg="delSp modSp mod">
        <pc:chgData name="Hưng Nguyễn" userId="62088adbe5b10a38" providerId="LiveId" clId="{0038B2EA-E61B-494E-8805-E1A7D9E185B2}" dt="2026-10-27T00:00:40.282" v="71" actId="120"/>
        <pc:sldMkLst>
          <pc:docMk/>
          <pc:sldMk cId="0" sldId="262"/>
        </pc:sldMkLst>
        <pc:spChg chg="del">
          <ac:chgData name="Hưng Nguyễn" userId="62088adbe5b10a38" providerId="LiveId" clId="{0038B2EA-E61B-494E-8805-E1A7D9E185B2}" dt="2026-10-26T23:55:22.686" v="58" actId="478"/>
          <ac:spMkLst>
            <pc:docMk/>
            <pc:sldMk cId="0" sldId="262"/>
            <ac:spMk id="5" creationId="{00000000-0000-0000-0000-000000000000}"/>
          </ac:spMkLst>
        </pc:spChg>
        <pc:spChg chg="mod">
          <ac:chgData name="Hưng Nguyễn" userId="62088adbe5b10a38" providerId="LiveId" clId="{0038B2EA-E61B-494E-8805-E1A7D9E185B2}" dt="2026-10-26T23:55:31.742" v="59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Hưng Nguyễn" userId="62088adbe5b10a38" providerId="LiveId" clId="{0038B2EA-E61B-494E-8805-E1A7D9E185B2}" dt="2026-10-27T00:00:40.282" v="71" actId="120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add mod ord">
        <pc:chgData name="Hưng Nguyễn" userId="62088adbe5b10a38" providerId="LiveId" clId="{0038B2EA-E61B-494E-8805-E1A7D9E185B2}" dt="2026-10-27T00:16:10.850" v="278" actId="14100"/>
        <pc:sldMkLst>
          <pc:docMk/>
          <pc:sldMk cId="991760483" sldId="264"/>
        </pc:sldMkLst>
        <pc:spChg chg="mod">
          <ac:chgData name="Hưng Nguyễn" userId="62088adbe5b10a38" providerId="LiveId" clId="{0038B2EA-E61B-494E-8805-E1A7D9E185B2}" dt="2026-10-27T00:15:59.905" v="276"/>
          <ac:spMkLst>
            <pc:docMk/>
            <pc:sldMk cId="991760483" sldId="264"/>
            <ac:spMk id="6" creationId="{340F6564-9A28-1098-E82F-EDCF90CC2BF7}"/>
          </ac:spMkLst>
        </pc:spChg>
        <pc:spChg chg="add mod">
          <ac:chgData name="Hưng Nguyễn" userId="62088adbe5b10a38" providerId="LiveId" clId="{0038B2EA-E61B-494E-8805-E1A7D9E185B2}" dt="2026-10-27T00:16:10.850" v="278" actId="14100"/>
          <ac:spMkLst>
            <pc:docMk/>
            <pc:sldMk cId="991760483" sldId="264"/>
            <ac:spMk id="9" creationId="{27996997-78A7-C0F3-8D75-1CDE45A64D8C}"/>
          </ac:spMkLst>
        </pc:spChg>
        <pc:graphicFrameChg chg="del modGraphic">
          <ac:chgData name="Hưng Nguyễn" userId="62088adbe5b10a38" providerId="LiveId" clId="{0038B2EA-E61B-494E-8805-E1A7D9E185B2}" dt="2026-10-27T00:11:35.933" v="193" actId="478"/>
          <ac:graphicFrameMkLst>
            <pc:docMk/>
            <pc:sldMk cId="991760483" sldId="264"/>
            <ac:graphicFrameMk id="8" creationId="{FB49DC46-7A2A-DD88-BC0B-B235E21DF954}"/>
          </ac:graphicFrameMkLst>
        </pc:graphicFrameChg>
      </pc:sldChg>
      <pc:sldChg chg="add del">
        <pc:chgData name="Hưng Nguyễn" userId="62088adbe5b10a38" providerId="LiveId" clId="{0038B2EA-E61B-494E-8805-E1A7D9E185B2}" dt="2026-10-27T00:10:48.919" v="135"/>
        <pc:sldMkLst>
          <pc:docMk/>
          <pc:sldMk cId="3790747092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402336"/>
            <a:ext cx="10545775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Segoe UI"/>
              </a:defRPr>
            </a:pPr>
            <a:r>
              <a:t>🏛️ TRƯỜNG CAO ĐẲNG CÔNG NGHỆ THÔNG TIN TP.HCM • KHOA CÔNG NGHỆ THÔNG TIN – ĐIỆN TỬ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24128"/>
            <a:ext cx="10545775" cy="2487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Ins="365760" rtlCol="0" anchor="ctr"/>
          <a:lstStyle/>
          <a:p>
            <a:pPr algn="ctr">
              <a:defRPr sz="1550" b="1">
                <a:solidFill>
                  <a:srgbClr val="2563EB"/>
                </a:solidFill>
                <a:latin typeface="Segoe UI"/>
              </a:defRPr>
            </a:pPr>
            <a:r>
              <a:rPr dirty="0"/>
              <a:t>BÁO CÁO ĐỒ ÁN MÔN HỌC: CHUYÊN ĐỀ BACK-END</a:t>
            </a:r>
          </a:p>
          <a:p>
            <a:pPr algn="ctr">
              <a:spcBef>
                <a:spcPts val="600"/>
              </a:spcBef>
              <a:defRPr sz="2850" b="1">
                <a:solidFill>
                  <a:srgbClr val="1E3A8A"/>
                </a:solidFill>
                <a:latin typeface="Segoe UI"/>
              </a:defRPr>
            </a:pPr>
            <a:r>
              <a:rPr dirty="0"/>
              <a:t>XÂY DỰNG PHẦN MỀM</a:t>
            </a:r>
            <a:br>
              <a:rPr dirty="0"/>
            </a:br>
            <a:r>
              <a:rPr dirty="0"/>
              <a:t>QUẢN LÝ NHÀ HÀNG &amp; GỌI MÓN (ROYAL BISTRO)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39312"/>
            <a:ext cx="3364992" cy="2578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3785615"/>
            <a:ext cx="3090672" cy="402336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350" b="1">
                <a:solidFill>
                  <a:srgbClr val="2563EB"/>
                </a:solidFill>
                <a:latin typeface="Segoe UI"/>
              </a:defRPr>
            </a:pPr>
            <a:r>
              <a:t>👤 SINH VIÊN THỰC HIỆN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4279392"/>
            <a:ext cx="2551852" cy="800219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rPr dirty="0" err="1"/>
              <a:t>Họ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tên</a:t>
            </a:r>
            <a:r>
              <a:rPr dirty="0"/>
              <a:t>: </a:t>
            </a:r>
            <a:r>
              <a:rPr b="1" dirty="0">
                <a:solidFill>
                  <a:srgbClr val="0F172A"/>
                </a:solidFill>
              </a:rPr>
              <a:t>Nguyễn Hoàng Hưng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rPr dirty="0"/>
              <a:t>MSSV: </a:t>
            </a:r>
            <a:r>
              <a:rPr b="1" dirty="0">
                <a:solidFill>
                  <a:srgbClr val="0F172A"/>
                </a:solidFill>
              </a:rPr>
              <a:t>501250384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rPr dirty="0" err="1"/>
              <a:t>Khóa</a:t>
            </a:r>
            <a:r>
              <a:rPr dirty="0"/>
              <a:t> </a:t>
            </a:r>
            <a:r>
              <a:rPr dirty="0" err="1"/>
              <a:t>đào</a:t>
            </a:r>
            <a:r>
              <a:rPr dirty="0"/>
              <a:t> </a:t>
            </a:r>
            <a:r>
              <a:rPr dirty="0" err="1"/>
              <a:t>tạo</a:t>
            </a:r>
            <a:r>
              <a:rPr dirty="0"/>
              <a:t>: </a:t>
            </a:r>
            <a:r>
              <a:rPr b="1" dirty="0" err="1">
                <a:solidFill>
                  <a:srgbClr val="0F172A"/>
                </a:solidFill>
              </a:rPr>
              <a:t>Khóa</a:t>
            </a:r>
            <a:r>
              <a:rPr b="1" dirty="0">
                <a:solidFill>
                  <a:srgbClr val="0F172A"/>
                </a:solidFill>
              </a:rPr>
              <a:t> K25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3639312"/>
            <a:ext cx="3364992" cy="2578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53712" y="3785615"/>
            <a:ext cx="3090672" cy="402336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350" b="1">
                <a:solidFill>
                  <a:srgbClr val="059669"/>
                </a:solidFill>
                <a:latin typeface="Segoe UI"/>
              </a:defRPr>
            </a:pPr>
            <a:r>
              <a:t>👨‍🏫 GIẢNG VIÊN HƯỚNG DẪN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4279392"/>
            <a:ext cx="2719655" cy="800219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rPr dirty="0" err="1"/>
              <a:t>Giảng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: </a:t>
            </a:r>
            <a:r>
              <a:rPr b="1" dirty="0">
                <a:solidFill>
                  <a:srgbClr val="0F172A"/>
                </a:solidFill>
              </a:rPr>
              <a:t>ThS. N</a:t>
            </a:r>
            <a:r>
              <a:rPr lang="en-US" b="1" dirty="0">
                <a:solidFill>
                  <a:srgbClr val="0F172A"/>
                </a:solidFill>
              </a:rPr>
              <a:t>guyễn Minh </a:t>
            </a:r>
            <a:r>
              <a:rPr lang="en-US" b="1" dirty="0" err="1">
                <a:solidFill>
                  <a:srgbClr val="0F172A"/>
                </a:solidFill>
              </a:rPr>
              <a:t>Hải</a:t>
            </a:r>
            <a:endParaRPr b="1" dirty="0">
              <a:solidFill>
                <a:srgbClr val="0F172A"/>
              </a:solidFill>
            </a:endParaRP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vị</a:t>
            </a:r>
            <a:r>
              <a:rPr dirty="0"/>
              <a:t>: </a:t>
            </a:r>
            <a:r>
              <a:rPr b="1" dirty="0">
                <a:solidFill>
                  <a:srgbClr val="0F172A"/>
                </a:solidFill>
              </a:rPr>
              <a:t>Khoa CNTT – ĐT (ITC)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rPr dirty="0"/>
              <a:t>Môn </a:t>
            </a:r>
            <a:r>
              <a:rPr dirty="0" err="1"/>
              <a:t>học</a:t>
            </a:r>
            <a:r>
              <a:rPr dirty="0"/>
              <a:t>: </a:t>
            </a:r>
            <a:r>
              <a:rPr b="1" dirty="0">
                <a:solidFill>
                  <a:srgbClr val="0F172A"/>
                </a:solidFill>
              </a:rPr>
              <a:t>Chuyên </a:t>
            </a:r>
            <a:r>
              <a:rPr b="1" dirty="0" err="1">
                <a:solidFill>
                  <a:srgbClr val="0F172A"/>
                </a:solidFill>
              </a:rPr>
              <a:t>Đề</a:t>
            </a:r>
            <a:r>
              <a:rPr b="1" dirty="0">
                <a:solidFill>
                  <a:srgbClr val="0F172A"/>
                </a:solidFill>
              </a:rPr>
              <a:t> Back-End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3639312"/>
            <a:ext cx="3364992" cy="2578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47304" y="3785615"/>
            <a:ext cx="3090672" cy="402336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⚡ CÔNG NGHỆ CHÍNH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4279392"/>
            <a:ext cx="3239028" cy="107721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chủ</a:t>
            </a:r>
            <a:r>
              <a:rPr dirty="0"/>
              <a:t>: </a:t>
            </a:r>
            <a:r>
              <a:rPr b="1" dirty="0">
                <a:solidFill>
                  <a:srgbClr val="0F172A"/>
                </a:solidFill>
              </a:rPr>
              <a:t>Node.js v20 &amp; Express.js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sở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: </a:t>
            </a:r>
            <a:r>
              <a:rPr b="1" dirty="0">
                <a:solidFill>
                  <a:srgbClr val="0F172A"/>
                </a:solidFill>
              </a:rPr>
              <a:t>MongoDB v7 &amp; Mongoose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rPr dirty="0"/>
              <a:t>Realtime: </a:t>
            </a:r>
            <a:r>
              <a:rPr b="1" dirty="0">
                <a:solidFill>
                  <a:srgbClr val="0F172A"/>
                </a:solidFill>
              </a:rPr>
              <a:t>Socket.io </a:t>
            </a:r>
            <a:r>
              <a:rPr b="1" dirty="0" err="1">
                <a:solidFill>
                  <a:srgbClr val="0F172A"/>
                </a:solidFill>
              </a:rPr>
              <a:t>WebSockets</a:t>
            </a:r>
            <a:endParaRPr b="1" dirty="0">
              <a:solidFill>
                <a:srgbClr val="0F172A"/>
              </a:solidFill>
            </a:endParaRP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rPr dirty="0"/>
              <a:t>Bảo </a:t>
            </a:r>
            <a:r>
              <a:rPr dirty="0" err="1"/>
              <a:t>mật</a:t>
            </a:r>
            <a:r>
              <a:rPr dirty="0"/>
              <a:t>: </a:t>
            </a:r>
            <a:r>
              <a:rPr b="1" dirty="0">
                <a:solidFill>
                  <a:srgbClr val="0F172A"/>
                </a:solidFill>
              </a:rPr>
              <a:t>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10528"/>
            <a:ext cx="10728655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Đồ Án Chuyên Đề Back-End: Royal Bistro  |  Sinh viên: Nguyễn Hoàng Hưng – 501250384 (K25)                                   Trang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41549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Đích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Á</a:t>
            </a:r>
            <a:r>
              <a:rPr lang="en-US" dirty="0" err="1"/>
              <a:t>n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Đồ Án Chuyên Đề Back-End: Royal Bistro  |  Sinh viên: Nguyễn Hoàng Hưng – 501250384 (K25)                                   Trang 2/8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725912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defRPr sz="1550" b="1">
                <a:solidFill>
                  <a:srgbClr val="DC2626"/>
                </a:solidFill>
                <a:latin typeface="Segoe UI"/>
              </a:defRPr>
            </a:pPr>
            <a:r>
              <a:rPr sz="1600" dirty="0"/>
              <a:t>⚠️ 3 BÀI TOÁN THỰC TẾ NAN GIẢI</a:t>
            </a:r>
          </a:p>
          <a:p>
            <a:pPr>
              <a:spcBef>
                <a:spcPts val="10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</a:t>
            </a:r>
            <a:r>
              <a:rPr sz="1600" dirty="0" err="1"/>
              <a:t>Tắc</a:t>
            </a:r>
            <a:r>
              <a:rPr sz="1600" dirty="0"/>
              <a:t> </a:t>
            </a:r>
            <a:r>
              <a:rPr sz="1600" dirty="0" err="1"/>
              <a:t>nghẽn</a:t>
            </a:r>
            <a:r>
              <a:rPr sz="1600" dirty="0"/>
              <a:t> </a:t>
            </a:r>
            <a:r>
              <a:rPr sz="1600" dirty="0" err="1"/>
              <a:t>giờ</a:t>
            </a:r>
            <a:r>
              <a:rPr sz="1600" dirty="0"/>
              <a:t> </a:t>
            </a:r>
            <a:r>
              <a:rPr sz="1600" dirty="0" err="1"/>
              <a:t>cao</a:t>
            </a:r>
            <a:r>
              <a:rPr sz="1600" dirty="0"/>
              <a:t> </a:t>
            </a:r>
            <a:r>
              <a:rPr sz="1600" dirty="0" err="1"/>
              <a:t>điểm</a:t>
            </a:r>
            <a:r>
              <a:rPr sz="1600" dirty="0"/>
              <a:t>: </a:t>
            </a:r>
            <a:r>
              <a:rPr sz="1600" b="0" dirty="0" err="1">
                <a:solidFill>
                  <a:srgbClr val="475569"/>
                </a:solidFill>
              </a:rPr>
              <a:t>Khách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chờ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gọi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món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và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thanh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toán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lâu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trong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giờ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đông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khách</a:t>
            </a:r>
            <a:r>
              <a:rPr sz="1600" b="0" dirty="0">
                <a:solidFill>
                  <a:srgbClr val="475569"/>
                </a:solidFill>
              </a:rPr>
              <a:t>; </a:t>
            </a:r>
            <a:r>
              <a:rPr sz="1600" b="0" dirty="0" err="1">
                <a:solidFill>
                  <a:srgbClr val="475569"/>
                </a:solidFill>
              </a:rPr>
              <a:t>nhân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viên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chạy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bàn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quá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tải</a:t>
            </a:r>
            <a:r>
              <a:rPr sz="1600" b="0" dirty="0">
                <a:solidFill>
                  <a:srgbClr val="475569"/>
                </a:solidFill>
              </a:rPr>
              <a:t>, </a:t>
            </a:r>
            <a:r>
              <a:rPr sz="1600" b="0" dirty="0" err="1">
                <a:solidFill>
                  <a:srgbClr val="475569"/>
                </a:solidFill>
              </a:rPr>
              <a:t>dễ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sót</a:t>
            </a:r>
            <a:r>
              <a:rPr sz="1600" b="0" dirty="0">
                <a:solidFill>
                  <a:srgbClr val="475569"/>
                </a:solidFill>
              </a:rPr>
              <a:t> order.</a:t>
            </a:r>
          </a:p>
          <a:p>
            <a:pPr>
              <a:spcBef>
                <a:spcPts val="10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Thất </a:t>
            </a:r>
            <a:r>
              <a:rPr sz="1600" dirty="0" err="1"/>
              <a:t>thoát</a:t>
            </a:r>
            <a:r>
              <a:rPr sz="1600" dirty="0"/>
              <a:t> </a:t>
            </a:r>
            <a:r>
              <a:rPr sz="1600" dirty="0" err="1"/>
              <a:t>kho</a:t>
            </a:r>
            <a:r>
              <a:rPr sz="1600" dirty="0"/>
              <a:t> </a:t>
            </a:r>
            <a:r>
              <a:rPr sz="1600" dirty="0" err="1"/>
              <a:t>nguyên</a:t>
            </a:r>
            <a:r>
              <a:rPr sz="1600" dirty="0"/>
              <a:t> </a:t>
            </a:r>
            <a:r>
              <a:rPr sz="1600" dirty="0" err="1"/>
              <a:t>liệu</a:t>
            </a:r>
            <a:r>
              <a:rPr sz="1600" dirty="0"/>
              <a:t>: </a:t>
            </a:r>
            <a:r>
              <a:rPr sz="1600" b="0" dirty="0" err="1">
                <a:solidFill>
                  <a:srgbClr val="475569"/>
                </a:solidFill>
              </a:rPr>
              <a:t>Đầu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bếp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nấu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ước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lượng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tay</a:t>
            </a:r>
            <a:r>
              <a:rPr sz="1600" b="0" dirty="0">
                <a:solidFill>
                  <a:srgbClr val="475569"/>
                </a:solidFill>
              </a:rPr>
              <a:t>; </a:t>
            </a:r>
            <a:r>
              <a:rPr sz="1600" b="0" dirty="0" err="1">
                <a:solidFill>
                  <a:srgbClr val="475569"/>
                </a:solidFill>
              </a:rPr>
              <a:t>không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có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định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mức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liên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kết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trực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tiếp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với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kho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gây</a:t>
            </a:r>
            <a:r>
              <a:rPr sz="1600" b="0" dirty="0">
                <a:solidFill>
                  <a:srgbClr val="475569"/>
                </a:solidFill>
              </a:rPr>
              <a:t> hao </a:t>
            </a:r>
            <a:r>
              <a:rPr sz="1600" b="0" dirty="0" err="1">
                <a:solidFill>
                  <a:srgbClr val="475569"/>
                </a:solidFill>
              </a:rPr>
              <a:t>hụt</a:t>
            </a:r>
            <a:r>
              <a:rPr sz="1600" b="0" dirty="0">
                <a:solidFill>
                  <a:srgbClr val="475569"/>
                </a:solidFill>
              </a:rPr>
              <a:t> chi </a:t>
            </a:r>
            <a:r>
              <a:rPr sz="1600" b="0" dirty="0" err="1">
                <a:solidFill>
                  <a:srgbClr val="475569"/>
                </a:solidFill>
              </a:rPr>
              <a:t>phí</a:t>
            </a:r>
            <a:r>
              <a:rPr sz="1600" b="0" dirty="0">
                <a:solidFill>
                  <a:srgbClr val="475569"/>
                </a:solidFill>
              </a:rPr>
              <a:t>.</a:t>
            </a:r>
          </a:p>
          <a:p>
            <a:pPr>
              <a:spcBef>
                <a:spcPts val="10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Sai </a:t>
            </a:r>
            <a:r>
              <a:rPr sz="1600" dirty="0" err="1"/>
              <a:t>sót</a:t>
            </a:r>
            <a:r>
              <a:rPr sz="1600" dirty="0"/>
              <a:t> &amp; </a:t>
            </a:r>
            <a:r>
              <a:rPr sz="1600" dirty="0" err="1"/>
              <a:t>chậm</a:t>
            </a:r>
            <a:r>
              <a:rPr sz="1600" dirty="0"/>
              <a:t> </a:t>
            </a:r>
            <a:r>
              <a:rPr sz="1600" dirty="0" err="1"/>
              <a:t>trễ</a:t>
            </a:r>
            <a:r>
              <a:rPr sz="1600" dirty="0"/>
              <a:t> order: </a:t>
            </a:r>
            <a:r>
              <a:rPr sz="1600" b="0" dirty="0" err="1">
                <a:solidFill>
                  <a:srgbClr val="475569"/>
                </a:solidFill>
              </a:rPr>
              <a:t>Ghi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chép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giấy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dễ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nhầm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món</a:t>
            </a:r>
            <a:r>
              <a:rPr sz="1600" b="0" dirty="0">
                <a:solidFill>
                  <a:srgbClr val="475569"/>
                </a:solidFill>
              </a:rPr>
              <a:t>, </a:t>
            </a:r>
            <a:r>
              <a:rPr sz="1600" b="0" dirty="0" err="1">
                <a:solidFill>
                  <a:srgbClr val="475569"/>
                </a:solidFill>
              </a:rPr>
              <a:t>sót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ghi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chú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của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khách</a:t>
            </a:r>
            <a:r>
              <a:rPr sz="1600" b="0" dirty="0">
                <a:solidFill>
                  <a:srgbClr val="475569"/>
                </a:solidFill>
              </a:rPr>
              <a:t>; </a:t>
            </a:r>
            <a:r>
              <a:rPr sz="1600" b="0" dirty="0" err="1">
                <a:solidFill>
                  <a:srgbClr val="475569"/>
                </a:solidFill>
              </a:rPr>
              <a:t>truyền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đạt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từ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bàn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vào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bếp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bị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gián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đoạn</a:t>
            </a:r>
            <a:r>
              <a:rPr sz="1600" b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3429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64592" rIns="137160" rtlCol="0" anchor="ctr"/>
          <a:lstStyle/>
          <a:p>
            <a:pPr algn="ctr">
              <a:defRPr sz="2400" b="1">
                <a:solidFill>
                  <a:srgbClr val="2563EB"/>
                </a:solidFill>
                <a:latin typeface="Segoe UI"/>
              </a:defRPr>
            </a:pPr>
            <a:r>
              <a:t>⚡ Real-Time</a:t>
            </a:r>
          </a:p>
          <a:p>
            <a:pPr algn="ctr">
              <a:spcBef>
                <a:spcPts val="300"/>
              </a:spcBef>
              <a:defRPr sz="1300" b="1">
                <a:solidFill>
                  <a:srgbClr val="475569"/>
                </a:solidFill>
                <a:latin typeface="Segoe UI"/>
              </a:defRPr>
            </a:pPr>
            <a:r>
              <a:t>Truyền đơn vào Bếp tức thời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5166360"/>
            <a:ext cx="3429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64592" rIns="137160" rtlCol="0" anchor="ctr"/>
          <a:lstStyle/>
          <a:p>
            <a:pPr algn="ctr">
              <a:defRPr sz="2400" b="1">
                <a:solidFill>
                  <a:srgbClr val="0284C7"/>
                </a:solidFill>
                <a:latin typeface="Segoe UI"/>
              </a:defRPr>
            </a:pPr>
            <a:r>
              <a:t>👥 Quét Mã QR</a:t>
            </a:r>
          </a:p>
          <a:p>
            <a:pPr algn="ctr">
              <a:spcBef>
                <a:spcPts val="300"/>
              </a:spcBef>
              <a:defRPr sz="1300" b="1">
                <a:solidFill>
                  <a:srgbClr val="475569"/>
                </a:solidFill>
                <a:latin typeface="Segoe UI"/>
              </a:defRPr>
            </a:pPr>
            <a:r>
              <a:t>Khách chủ động gọi món tại bàn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5166360"/>
            <a:ext cx="34290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64592" rIns="137160" rtlCol="0" anchor="ctr"/>
          <a:lstStyle/>
          <a:p>
            <a:pPr algn="ctr">
              <a:defRPr sz="2400" b="1">
                <a:solidFill>
                  <a:srgbClr val="059669"/>
                </a:solidFill>
                <a:latin typeface="Segoe UI"/>
              </a:defRPr>
            </a:pPr>
            <a:r>
              <a:t>📦 Định Mức BOM</a:t>
            </a:r>
          </a:p>
          <a:p>
            <a:pPr algn="ctr">
              <a:spcBef>
                <a:spcPts val="300"/>
              </a:spcBef>
              <a:defRPr sz="1300" b="1">
                <a:solidFill>
                  <a:srgbClr val="475569"/>
                </a:solidFill>
                <a:latin typeface="Segoe UI"/>
              </a:defRPr>
            </a:pPr>
            <a:r>
              <a:t>Tự động trừ kho theo từng món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41549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rPr dirty="0" err="1"/>
              <a:t>Bộ</a:t>
            </a:r>
            <a:r>
              <a:rPr dirty="0"/>
              <a:t> Công </a:t>
            </a:r>
            <a:r>
              <a:rPr dirty="0" err="1"/>
              <a:t>Cụ</a:t>
            </a:r>
            <a:r>
              <a:rPr dirty="0"/>
              <a:t> &amp; Công </a:t>
            </a:r>
            <a:r>
              <a:rPr dirty="0" err="1"/>
              <a:t>Nghệ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Đồ Án Chuyên Đề Back-End: Royal Bistro  |  Sinh viên: Nguyễn Hoàng Hưng – 501250384 (K25)                                   Trang 3/8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1208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defRPr sz="1450" b="1">
                <a:solidFill>
                  <a:srgbClr val="2563EB"/>
                </a:solidFill>
                <a:latin typeface="Segoe UI"/>
              </a:defRPr>
            </a:pPr>
            <a:r>
              <a:rPr sz="1600" dirty="0"/>
              <a:t>🖥️ NỀN TẢNG MÁY CHỦ (SERVER RUNTIME)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Node.js v20 LTS</a:t>
            </a:r>
            <a:endParaRPr lang="en-US" sz="1600" dirty="0"/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Express.js v4.19</a:t>
            </a:r>
            <a:endParaRPr sz="1600" b="0" dirty="0">
              <a:solidFill>
                <a:srgbClr val="475569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defRPr sz="1450" b="1">
                <a:solidFill>
                  <a:srgbClr val="059669"/>
                </a:solidFill>
                <a:latin typeface="Segoe UI"/>
              </a:defRPr>
            </a:pPr>
            <a:r>
              <a:rPr sz="1600" dirty="0"/>
              <a:t>🍃 CƠ SỞ DỮ LIỆU &amp; ORM (DATABASE)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MongoDB v7.0</a:t>
            </a:r>
            <a:endParaRPr lang="en-US" sz="1600" dirty="0"/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Mongoose v8.3 ODM</a:t>
            </a:r>
            <a:endParaRPr sz="1600" b="0" dirty="0">
              <a:solidFill>
                <a:srgbClr val="475569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1208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defRPr sz="1450" b="1">
                <a:solidFill>
                  <a:srgbClr val="D97706"/>
                </a:solidFill>
                <a:latin typeface="Segoe UI"/>
              </a:defRPr>
            </a:pPr>
            <a:r>
              <a:rPr sz="1600" dirty="0"/>
              <a:t>⚡ KÊNH REAL-TIME &amp; BẢO MẬT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Socket.io v4.7</a:t>
            </a:r>
            <a:endParaRPr lang="en-US" sz="1600" dirty="0"/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JWT</a:t>
            </a:r>
            <a:endParaRPr sz="1600" b="0" dirty="0">
              <a:solidFill>
                <a:srgbClr val="475569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3886200"/>
            <a:ext cx="521208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defRPr sz="1450" b="1">
                <a:solidFill>
                  <a:srgbClr val="0284C7"/>
                </a:solidFill>
                <a:latin typeface="Segoe UI"/>
              </a:defRPr>
            </a:pPr>
            <a:r>
              <a:rPr sz="1600" dirty="0"/>
              <a:t>🛠️ CÔNG CỤ PHÁT TRIỂN &amp; BUILD (DEV TOOLS)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</a:t>
            </a:r>
            <a:r>
              <a:rPr lang="en-US" sz="1600" dirty="0"/>
              <a:t>Antigravity</a:t>
            </a:r>
            <a:r>
              <a:rPr sz="1600" dirty="0"/>
              <a:t> &amp; Postman</a:t>
            </a:r>
            <a:endParaRPr lang="en-US" sz="1600" dirty="0"/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Git / GitHub &amp; NPM</a:t>
            </a:r>
            <a:endParaRPr sz="1600" b="0" dirty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41549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rPr dirty="0" err="1"/>
              <a:t>Tổng</a:t>
            </a:r>
            <a:r>
              <a:rPr dirty="0"/>
              <a:t> Quan 9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Cốt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Back-End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Đồ Án Chuyên Đề Back-End: Royal Bistro  |  Sinh viên: Nguyễn Hoàng Hưng – 501250384 (K25)                                   Trang 5/8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496298"/>
              </p:ext>
            </p:extLst>
          </p:nvPr>
        </p:nvGraphicFramePr>
        <p:xfrm>
          <a:off x="731520" y="1234440"/>
          <a:ext cx="10728655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9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9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Phân Hệ Nghiệp Vụ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Mô Tả Chức Năng Trọng Tâm Của Back-End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dirty="0"/>
                        <a:t>1. Xác </a:t>
                      </a:r>
                      <a:r>
                        <a:rPr dirty="0" err="1"/>
                        <a:t>Thực</a:t>
                      </a:r>
                      <a:r>
                        <a:rPr dirty="0"/>
                        <a:t> &amp; </a:t>
                      </a:r>
                      <a:r>
                        <a:rPr dirty="0" err="1"/>
                        <a:t>Phân</a:t>
                      </a:r>
                      <a:r>
                        <a:rPr dirty="0"/>
                        <a:t> Quyền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Đăng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nhập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phân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quyền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4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vai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trò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(Admin, Thu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ngân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Bếp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, Phục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vụ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2. Quản Lý Sơ Đồ Bàn Ăn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Giám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sát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trạng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thái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bàn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động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Trống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Có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khách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Đã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đặt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và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tự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động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giải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phóng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bàn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3. Thực Đơn &amp; Danh Mục Món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Phân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loại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món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ăn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(Khai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vị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Món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chính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Đồ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uống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...),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giá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niêm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yết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và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upload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ảnh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đám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mây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4. Điểm Bán POS &amp; Khách Quét QR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Lập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đơn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gọi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món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tại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bàn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ghi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chú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khẩu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vị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ít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cay,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không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hành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...),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phát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sóng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Socket.io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sự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kiện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đơn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mới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tức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thời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5. Điều Phối Màn Hình Bếp KDS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Tiếp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nhận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đơn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tức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thời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chuông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reo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báo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hiệu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cập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nhật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tiến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độ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nấu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1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chạm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và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kích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hoạt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khấu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trừ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kho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6. Kho Nguyên Liệu &amp; Định Mức BOM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Thuật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toán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tự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động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trừ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kho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theo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công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thức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BOM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từng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gram,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cảnh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báo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cạn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kiệt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khi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chạm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ngưỡng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tồn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tối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thiểu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7. Đặt Bàn Tiệc Trước (Reservation)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Khách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hẹn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đặt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bàn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trước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kiểm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tra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bàn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trống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theo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giờ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nhận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tiền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cọc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giữ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chỗ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và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tự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động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check-in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khi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khách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đến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8. Khách Hàng Thân Thiết &amp; CRM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rPr sz="1100" b="1">
                          <a:solidFill>
                            <a:schemeClr val="tx1"/>
                          </a:solidFill>
                        </a:rPr>
                        <a:t>Tra cứu SĐT khách hàng, tự động tích điểm thưởng (100k = 1 điểm), nâng hạng thẻ VIP và chiết khấu trực tiếp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9. Báo Cáo Doanh Thu &amp; Thống Kê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MongoDB Aggregation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tính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doanh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thu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theo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ngày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tuần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tháng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tỷ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lệ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dòng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tiền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VietQR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tiền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mặt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, Top 5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món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bán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chạy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41549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rPr dirty="0" err="1"/>
              <a:t>Sơ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Bàn</a:t>
            </a:r>
            <a:r>
              <a:rPr dirty="0"/>
              <a:t> </a:t>
            </a:r>
            <a:r>
              <a:rPr dirty="0" err="1"/>
              <a:t>Ăn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Gian </a:t>
            </a:r>
            <a:r>
              <a:rPr dirty="0" err="1"/>
              <a:t>Thực</a:t>
            </a:r>
            <a:r>
              <a:rPr dirty="0"/>
              <a:t> &amp; </a:t>
            </a:r>
            <a:r>
              <a:rPr dirty="0" err="1"/>
              <a:t>Gọi</a:t>
            </a:r>
            <a:r>
              <a:rPr dirty="0"/>
              <a:t> </a:t>
            </a:r>
            <a:r>
              <a:rPr dirty="0" err="1"/>
              <a:t>Món</a:t>
            </a:r>
            <a:r>
              <a:rPr dirty="0"/>
              <a:t> </a:t>
            </a:r>
            <a:r>
              <a:rPr dirty="0" err="1"/>
              <a:t>Đa</a:t>
            </a:r>
            <a:r>
              <a:rPr dirty="0"/>
              <a:t> </a:t>
            </a:r>
            <a:r>
              <a:rPr dirty="0" err="1"/>
              <a:t>Kênh</a:t>
            </a:r>
            <a:r>
              <a:rPr dirty="0"/>
              <a:t> (POS / </a:t>
            </a:r>
            <a:r>
              <a:rPr dirty="0" err="1"/>
              <a:t>Khách</a:t>
            </a:r>
            <a:r>
              <a:rPr dirty="0"/>
              <a:t> QR)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Đồ Án Chuyên Đề Back-End: Royal Bistro  |  Sinh viên: Nguyễn Hoàng Hưng – 501250384 (K25)                                   Trang 6/8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02920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>
              <a:defRPr sz="1550" b="1">
                <a:solidFill>
                  <a:srgbClr val="1E3A8A"/>
                </a:solidFill>
                <a:latin typeface="Segoe UI"/>
              </a:defRPr>
            </a:pPr>
            <a:r>
              <a:rPr dirty="0"/>
              <a:t>🪑 1. SƠ ĐỒ BÀN ĂN REALTIME</a:t>
            </a:r>
          </a:p>
          <a:p>
            <a:pPr>
              <a:spcBef>
                <a:spcPts val="800"/>
              </a:spcBef>
              <a:defRPr sz="1350" b="1">
                <a:solidFill>
                  <a:srgbClr val="059669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3 </a:t>
            </a:r>
            <a:r>
              <a:rPr dirty="0" err="1"/>
              <a:t>màu</a:t>
            </a:r>
            <a:r>
              <a:rPr dirty="0"/>
              <a:t>: </a:t>
            </a:r>
            <a:r>
              <a:rPr b="0" dirty="0" err="1">
                <a:solidFill>
                  <a:srgbClr val="475569"/>
                </a:solidFill>
              </a:rPr>
              <a:t>Bàn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trống</a:t>
            </a:r>
            <a:r>
              <a:rPr b="0" dirty="0">
                <a:solidFill>
                  <a:srgbClr val="475569"/>
                </a:solidFill>
              </a:rPr>
              <a:t> (Xanh </a:t>
            </a:r>
            <a:r>
              <a:rPr b="0" dirty="0" err="1">
                <a:solidFill>
                  <a:srgbClr val="475569"/>
                </a:solidFill>
              </a:rPr>
              <a:t>lá</a:t>
            </a:r>
            <a:r>
              <a:rPr b="0" dirty="0">
                <a:solidFill>
                  <a:srgbClr val="475569"/>
                </a:solidFill>
              </a:rPr>
              <a:t>), </a:t>
            </a:r>
            <a:r>
              <a:rPr b="0" dirty="0" err="1">
                <a:solidFill>
                  <a:srgbClr val="475569"/>
                </a:solidFill>
              </a:rPr>
              <a:t>Có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khách</a:t>
            </a:r>
            <a:r>
              <a:rPr b="0" dirty="0">
                <a:solidFill>
                  <a:srgbClr val="475569"/>
                </a:solidFill>
              </a:rPr>
              <a:t> (</a:t>
            </a:r>
            <a:r>
              <a:rPr b="0" dirty="0" err="1">
                <a:solidFill>
                  <a:srgbClr val="475569"/>
                </a:solidFill>
              </a:rPr>
              <a:t>Đỏ</a:t>
            </a:r>
            <a:r>
              <a:rPr b="0" dirty="0">
                <a:solidFill>
                  <a:srgbClr val="475569"/>
                </a:solidFill>
              </a:rPr>
              <a:t>), </a:t>
            </a:r>
            <a:r>
              <a:rPr b="0" dirty="0" err="1">
                <a:solidFill>
                  <a:srgbClr val="475569"/>
                </a:solidFill>
              </a:rPr>
              <a:t>Khách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đã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đặt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hẹn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trước</a:t>
            </a:r>
            <a:r>
              <a:rPr b="0" dirty="0">
                <a:solidFill>
                  <a:srgbClr val="475569"/>
                </a:solidFill>
              </a:rPr>
              <a:t> (</a:t>
            </a:r>
            <a:r>
              <a:rPr b="0" dirty="0" err="1">
                <a:solidFill>
                  <a:srgbClr val="475569"/>
                </a:solidFill>
              </a:rPr>
              <a:t>Vàng</a:t>
            </a:r>
            <a:r>
              <a:rPr b="0" dirty="0">
                <a:solidFill>
                  <a:srgbClr val="475569"/>
                </a:solidFill>
              </a:rPr>
              <a:t> cam).</a:t>
            </a:r>
          </a:p>
          <a:p>
            <a:pPr>
              <a:spcBef>
                <a:spcPts val="800"/>
              </a:spcBef>
              <a:defRPr sz="1350" b="1">
                <a:solidFill>
                  <a:srgbClr val="059669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phóng</a:t>
            </a:r>
            <a:r>
              <a:rPr dirty="0"/>
              <a:t> </a:t>
            </a:r>
            <a:r>
              <a:rPr dirty="0" err="1"/>
              <a:t>bàn</a:t>
            </a:r>
            <a:r>
              <a:rPr dirty="0"/>
              <a:t>: </a:t>
            </a:r>
            <a:r>
              <a:rPr b="0" dirty="0">
                <a:solidFill>
                  <a:srgbClr val="475569"/>
                </a:solidFill>
              </a:rPr>
              <a:t>Khi </a:t>
            </a:r>
            <a:r>
              <a:rPr b="0" dirty="0" err="1">
                <a:solidFill>
                  <a:srgbClr val="475569"/>
                </a:solidFill>
              </a:rPr>
              <a:t>thu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ngân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xác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nhận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thanh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toán</a:t>
            </a:r>
            <a:r>
              <a:rPr b="0" dirty="0">
                <a:solidFill>
                  <a:srgbClr val="475569"/>
                </a:solidFill>
              </a:rPr>
              <a:t> ➔ </a:t>
            </a:r>
            <a:r>
              <a:rPr b="0" dirty="0" err="1">
                <a:solidFill>
                  <a:srgbClr val="475569"/>
                </a:solidFill>
              </a:rPr>
              <a:t>Hệ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thống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tự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động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trả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bàn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về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trạng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thái</a:t>
            </a:r>
            <a:r>
              <a:rPr b="0" dirty="0">
                <a:solidFill>
                  <a:srgbClr val="475569"/>
                </a:solidFill>
              </a:rPr>
              <a:t> '</a:t>
            </a:r>
            <a:r>
              <a:rPr b="0" dirty="0" err="1">
                <a:solidFill>
                  <a:srgbClr val="475569"/>
                </a:solidFill>
              </a:rPr>
              <a:t>trống</a:t>
            </a:r>
            <a:r>
              <a:rPr b="0" dirty="0">
                <a:solidFill>
                  <a:srgbClr val="475569"/>
                </a:solidFill>
              </a:rPr>
              <a:t>' </a:t>
            </a:r>
            <a:r>
              <a:rPr b="0" dirty="0" err="1">
                <a:solidFill>
                  <a:srgbClr val="475569"/>
                </a:solidFill>
              </a:rPr>
              <a:t>tức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thì</a:t>
            </a:r>
            <a:r>
              <a:rPr b="0" dirty="0">
                <a:solidFill>
                  <a:srgbClr val="475569"/>
                </a:solidFill>
              </a:rPr>
              <a:t>.</a:t>
            </a:r>
          </a:p>
          <a:p>
            <a:pPr>
              <a:spcBef>
                <a:spcPts val="1600"/>
              </a:spcBef>
              <a:defRPr sz="1550" b="1">
                <a:solidFill>
                  <a:srgbClr val="1E3A8A"/>
                </a:solidFill>
                <a:latin typeface="Segoe UI"/>
              </a:defRPr>
            </a:pPr>
            <a:r>
              <a:rPr dirty="0"/>
              <a:t>📱 2. GỌI MÓN ĐA KÊNH &amp; BẮN ĐƠN BẾP</a:t>
            </a:r>
          </a:p>
          <a:p>
            <a:pPr>
              <a:spcBef>
                <a:spcPts val="800"/>
              </a:spcBef>
              <a:defRPr sz="1350" b="1">
                <a:solidFill>
                  <a:srgbClr val="2563EB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Khách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quét</a:t>
            </a:r>
            <a:r>
              <a:rPr dirty="0"/>
              <a:t> </a:t>
            </a:r>
            <a:r>
              <a:rPr dirty="0" err="1"/>
              <a:t>mã</a:t>
            </a:r>
            <a:r>
              <a:rPr dirty="0"/>
              <a:t> QR: </a:t>
            </a:r>
            <a:r>
              <a:rPr b="0" dirty="0" err="1">
                <a:solidFill>
                  <a:srgbClr val="475569"/>
                </a:solidFill>
              </a:rPr>
              <a:t>Khách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tự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gọi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món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trên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điện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thoại</a:t>
            </a:r>
            <a:r>
              <a:rPr b="0" dirty="0">
                <a:solidFill>
                  <a:srgbClr val="475569"/>
                </a:solidFill>
              </a:rPr>
              <a:t>, </a:t>
            </a:r>
            <a:r>
              <a:rPr b="0" dirty="0" err="1">
                <a:solidFill>
                  <a:srgbClr val="475569"/>
                </a:solidFill>
              </a:rPr>
              <a:t>tùy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chỉnh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khẩu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vị</a:t>
            </a:r>
            <a:r>
              <a:rPr b="0" dirty="0">
                <a:solidFill>
                  <a:srgbClr val="475569"/>
                </a:solidFill>
              </a:rPr>
              <a:t> (</a:t>
            </a:r>
            <a:r>
              <a:rPr b="0" dirty="0" err="1">
                <a:solidFill>
                  <a:srgbClr val="475569"/>
                </a:solidFill>
              </a:rPr>
              <a:t>ít</a:t>
            </a:r>
            <a:r>
              <a:rPr b="0" dirty="0">
                <a:solidFill>
                  <a:srgbClr val="475569"/>
                </a:solidFill>
              </a:rPr>
              <a:t> cay, </a:t>
            </a:r>
            <a:r>
              <a:rPr b="0" dirty="0" err="1">
                <a:solidFill>
                  <a:srgbClr val="475569"/>
                </a:solidFill>
              </a:rPr>
              <a:t>không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hành</a:t>
            </a:r>
            <a:r>
              <a:rPr b="0" dirty="0">
                <a:solidFill>
                  <a:srgbClr val="475569"/>
                </a:solidFill>
              </a:rPr>
              <a:t>, </a:t>
            </a:r>
            <a:r>
              <a:rPr b="0" dirty="0" err="1">
                <a:solidFill>
                  <a:srgbClr val="475569"/>
                </a:solidFill>
              </a:rPr>
              <a:t>ít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đá</a:t>
            </a:r>
            <a:r>
              <a:rPr b="0" dirty="0">
                <a:solidFill>
                  <a:srgbClr val="475569"/>
                </a:solidFill>
              </a:rPr>
              <a:t>...).</a:t>
            </a:r>
          </a:p>
          <a:p>
            <a:pPr>
              <a:spcBef>
                <a:spcPts val="800"/>
              </a:spcBef>
              <a:defRPr sz="1350" b="1">
                <a:solidFill>
                  <a:srgbClr val="2563EB"/>
                </a:solidFill>
                <a:latin typeface="Segoe UI"/>
              </a:defRPr>
            </a:pPr>
            <a:r>
              <a:rPr dirty="0"/>
              <a:t>• POS Phục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bàn</a:t>
            </a:r>
            <a:r>
              <a:rPr dirty="0"/>
              <a:t>: </a:t>
            </a:r>
            <a:r>
              <a:rPr b="0" dirty="0" err="1">
                <a:solidFill>
                  <a:srgbClr val="475569"/>
                </a:solidFill>
              </a:rPr>
              <a:t>Nhân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viên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mở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bàn</a:t>
            </a:r>
            <a:r>
              <a:rPr b="0" dirty="0">
                <a:solidFill>
                  <a:srgbClr val="475569"/>
                </a:solidFill>
              </a:rPr>
              <a:t>, </a:t>
            </a:r>
            <a:r>
              <a:rPr b="0" dirty="0" err="1">
                <a:solidFill>
                  <a:srgbClr val="475569"/>
                </a:solidFill>
              </a:rPr>
              <a:t>thêm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món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nhanh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chóng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bằng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màn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hình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cảm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ứng</a:t>
            </a:r>
            <a:r>
              <a:rPr b="0" dirty="0">
                <a:solidFill>
                  <a:srgbClr val="475569"/>
                </a:solidFill>
              </a:rPr>
              <a:t> POS.</a:t>
            </a:r>
          </a:p>
          <a:p>
            <a:pPr>
              <a:spcBef>
                <a:spcPts val="800"/>
              </a:spcBef>
              <a:defRPr sz="1350" b="1">
                <a:solidFill>
                  <a:srgbClr val="2563EB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Bắn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Socket.io </a:t>
            </a:r>
            <a:r>
              <a:rPr dirty="0" err="1"/>
              <a:t>tức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: </a:t>
            </a:r>
            <a:r>
              <a:rPr b="0" dirty="0">
                <a:solidFill>
                  <a:srgbClr val="475569"/>
                </a:solidFill>
              </a:rPr>
              <a:t>Xác </a:t>
            </a:r>
            <a:r>
              <a:rPr b="0" dirty="0" err="1">
                <a:solidFill>
                  <a:srgbClr val="475569"/>
                </a:solidFill>
              </a:rPr>
              <a:t>nhận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gọi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món</a:t>
            </a:r>
            <a:r>
              <a:rPr b="0" dirty="0">
                <a:solidFill>
                  <a:srgbClr val="475569"/>
                </a:solidFill>
              </a:rPr>
              <a:t> ➔ </a:t>
            </a:r>
            <a:r>
              <a:rPr b="0" dirty="0" err="1">
                <a:solidFill>
                  <a:srgbClr val="475569"/>
                </a:solidFill>
              </a:rPr>
              <a:t>Sự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kiện</a:t>
            </a:r>
            <a:r>
              <a:rPr b="0" dirty="0">
                <a:solidFill>
                  <a:srgbClr val="475569"/>
                </a:solidFill>
              </a:rPr>
              <a:t> '</a:t>
            </a:r>
            <a:r>
              <a:rPr b="0" dirty="0" err="1">
                <a:solidFill>
                  <a:srgbClr val="475569"/>
                </a:solidFill>
              </a:rPr>
              <a:t>order:new</a:t>
            </a:r>
            <a:r>
              <a:rPr b="0" dirty="0">
                <a:solidFill>
                  <a:srgbClr val="475569"/>
                </a:solidFill>
              </a:rPr>
              <a:t>' </a:t>
            </a:r>
            <a:r>
              <a:rPr b="0" dirty="0" err="1">
                <a:solidFill>
                  <a:srgbClr val="475569"/>
                </a:solidFill>
              </a:rPr>
              <a:t>bắn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thẳng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xuống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Bếp</a:t>
            </a:r>
            <a:r>
              <a:rPr b="0" dirty="0">
                <a:solidFill>
                  <a:srgbClr val="475569"/>
                </a:solidFill>
              </a:rPr>
              <a:t> KDS </a:t>
            </a:r>
            <a:r>
              <a:rPr b="0" dirty="0" err="1">
                <a:solidFill>
                  <a:srgbClr val="475569"/>
                </a:solidFill>
              </a:rPr>
              <a:t>chuông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reo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tức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thì</a:t>
            </a:r>
            <a:r>
              <a:rPr b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34440"/>
            <a:ext cx="5425135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353312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E3A8A"/>
                </a:solidFill>
                <a:latin typeface="Segoe UI"/>
              </a:defRPr>
            </a:pPr>
            <a:r>
              <a:t>📸 Giao diện Sơ Đồ Bàn Ăn Thời Gian Thực (Table Map)</a:t>
            </a:r>
          </a:p>
        </p:txBody>
      </p:sp>
      <p:pic>
        <p:nvPicPr>
          <p:cNvPr id="11" name="Picture 10" descr="04_t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83080"/>
            <a:ext cx="5150815" cy="32192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728655" cy="41549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rPr dirty="0" err="1"/>
              <a:t>Điều</a:t>
            </a:r>
            <a:r>
              <a:rPr dirty="0"/>
              <a:t> </a:t>
            </a:r>
            <a:r>
              <a:rPr dirty="0" err="1"/>
              <a:t>Phối</a:t>
            </a:r>
            <a:r>
              <a:rPr dirty="0"/>
              <a:t> </a:t>
            </a:r>
            <a:r>
              <a:rPr dirty="0" err="1"/>
              <a:t>Bếp</a:t>
            </a:r>
            <a:r>
              <a:rPr dirty="0"/>
              <a:t> KDS, </a:t>
            </a:r>
            <a:r>
              <a:rPr dirty="0" err="1"/>
              <a:t>Trừ</a:t>
            </a:r>
            <a:r>
              <a:rPr dirty="0"/>
              <a:t> Kho BOM &amp; Báo Cáo Doanh Thu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728655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Đồ Án Chuyên Đề Back-End: Royal Bistro  |  Sinh viên: Nguyễn Hoàng Hưng – 501250384 (K25)                                   Trang 7/8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02920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>
              <a:defRPr sz="1550" b="1">
                <a:solidFill>
                  <a:srgbClr val="1E3A8A"/>
                </a:solidFill>
                <a:latin typeface="Segoe UI"/>
              </a:defRPr>
            </a:pPr>
            <a:r>
              <a:rPr dirty="0"/>
              <a:t>🍳 3. ĐIỀU PHỐI BẾP KDS &amp; TRỪ KHO BOM</a:t>
            </a:r>
          </a:p>
          <a:p>
            <a:pPr>
              <a:spcBef>
                <a:spcPts val="800"/>
              </a:spcBef>
              <a:defRPr sz="1350" b="1">
                <a:solidFill>
                  <a:srgbClr val="D97706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Màn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Bếp</a:t>
            </a:r>
            <a:r>
              <a:rPr dirty="0"/>
              <a:t> KDS 1 </a:t>
            </a:r>
            <a:r>
              <a:rPr dirty="0" err="1"/>
              <a:t>chạm</a:t>
            </a:r>
            <a:r>
              <a:rPr dirty="0"/>
              <a:t>: </a:t>
            </a:r>
            <a:r>
              <a:rPr b="0" dirty="0" err="1">
                <a:solidFill>
                  <a:srgbClr val="475569"/>
                </a:solidFill>
              </a:rPr>
              <a:t>Chuông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reo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báo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đơn</a:t>
            </a:r>
            <a:r>
              <a:rPr b="0" dirty="0">
                <a:solidFill>
                  <a:srgbClr val="475569"/>
                </a:solidFill>
              </a:rPr>
              <a:t>; </a:t>
            </a:r>
            <a:r>
              <a:rPr b="0" dirty="0" err="1">
                <a:solidFill>
                  <a:srgbClr val="475569"/>
                </a:solidFill>
              </a:rPr>
              <a:t>đầu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bếp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bấm</a:t>
            </a:r>
            <a:r>
              <a:rPr b="0" dirty="0">
                <a:solidFill>
                  <a:srgbClr val="475569"/>
                </a:solidFill>
              </a:rPr>
              <a:t> '</a:t>
            </a:r>
            <a:r>
              <a:rPr b="0" dirty="0" err="1">
                <a:solidFill>
                  <a:srgbClr val="475569"/>
                </a:solidFill>
              </a:rPr>
              <a:t>Bắt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Đầu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Nấu</a:t>
            </a:r>
            <a:r>
              <a:rPr b="0" dirty="0">
                <a:solidFill>
                  <a:srgbClr val="475569"/>
                </a:solidFill>
              </a:rPr>
              <a:t>' ➔ 'Hoàn </a:t>
            </a:r>
            <a:r>
              <a:rPr b="0" dirty="0" err="1">
                <a:solidFill>
                  <a:srgbClr val="475569"/>
                </a:solidFill>
              </a:rPr>
              <a:t>Tất</a:t>
            </a:r>
            <a:r>
              <a:rPr b="0" dirty="0">
                <a:solidFill>
                  <a:srgbClr val="475569"/>
                </a:solidFill>
              </a:rPr>
              <a:t>' </a:t>
            </a:r>
            <a:r>
              <a:rPr b="0" dirty="0" err="1">
                <a:solidFill>
                  <a:srgbClr val="475569"/>
                </a:solidFill>
              </a:rPr>
              <a:t>để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đồng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bộ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tiến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độ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món</a:t>
            </a:r>
            <a:r>
              <a:rPr b="0" dirty="0">
                <a:solidFill>
                  <a:srgbClr val="475569"/>
                </a:solidFill>
              </a:rPr>
              <a:t>.</a:t>
            </a:r>
          </a:p>
          <a:p>
            <a:pPr>
              <a:spcBef>
                <a:spcPts val="800"/>
              </a:spcBef>
              <a:defRPr sz="1350" b="1">
                <a:solidFill>
                  <a:srgbClr val="D97706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trừ</a:t>
            </a:r>
            <a:r>
              <a:rPr dirty="0"/>
              <a:t> </a:t>
            </a:r>
            <a:r>
              <a:rPr dirty="0" err="1"/>
              <a:t>kho</a:t>
            </a:r>
            <a:r>
              <a:rPr dirty="0"/>
              <a:t>: </a:t>
            </a:r>
            <a:r>
              <a:rPr b="0" dirty="0" err="1">
                <a:solidFill>
                  <a:srgbClr val="475569"/>
                </a:solidFill>
              </a:rPr>
              <a:t>Bếp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bấm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nấu</a:t>
            </a:r>
            <a:r>
              <a:rPr b="0" dirty="0">
                <a:solidFill>
                  <a:srgbClr val="475569"/>
                </a:solidFill>
              </a:rPr>
              <a:t> ➔ Back-End </a:t>
            </a:r>
            <a:r>
              <a:rPr b="0" dirty="0" err="1">
                <a:solidFill>
                  <a:srgbClr val="475569"/>
                </a:solidFill>
              </a:rPr>
              <a:t>tự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tính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toán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theo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bảng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định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mức</a:t>
            </a:r>
            <a:r>
              <a:rPr b="0" dirty="0">
                <a:solidFill>
                  <a:srgbClr val="475569"/>
                </a:solidFill>
              </a:rPr>
              <a:t> BOM </a:t>
            </a:r>
            <a:r>
              <a:rPr b="0" dirty="0" err="1">
                <a:solidFill>
                  <a:srgbClr val="475569"/>
                </a:solidFill>
              </a:rPr>
              <a:t>và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trừ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thẳng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kho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nguyên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liệu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từng</a:t>
            </a:r>
            <a:r>
              <a:rPr b="0" dirty="0">
                <a:solidFill>
                  <a:srgbClr val="475569"/>
                </a:solidFill>
              </a:rPr>
              <a:t> gram.</a:t>
            </a:r>
          </a:p>
          <a:p>
            <a:pPr>
              <a:spcBef>
                <a:spcPts val="1600"/>
              </a:spcBef>
              <a:defRPr sz="1550" b="1">
                <a:solidFill>
                  <a:srgbClr val="1E3A8A"/>
                </a:solidFill>
                <a:latin typeface="Segoe UI"/>
              </a:defRPr>
            </a:pPr>
            <a:r>
              <a:rPr dirty="0"/>
              <a:t>📊 4. BÁO CÁO DOANH THU &amp; DÒNG TIỀN</a:t>
            </a:r>
          </a:p>
          <a:p>
            <a:pPr>
              <a:spcBef>
                <a:spcPts val="800"/>
              </a:spcBef>
              <a:defRPr sz="1350" b="1">
                <a:solidFill>
                  <a:srgbClr val="059669"/>
                </a:solidFill>
                <a:latin typeface="Segoe UI"/>
              </a:defRPr>
            </a:pPr>
            <a:r>
              <a:rPr dirty="0"/>
              <a:t>• MongoDB Aggregation Pipeline: </a:t>
            </a:r>
            <a:r>
              <a:rPr b="0" dirty="0" err="1">
                <a:solidFill>
                  <a:srgbClr val="475569"/>
                </a:solidFill>
              </a:rPr>
              <a:t>Truy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vấn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đường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ống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tính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toán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doanh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số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tự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động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theo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thời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gian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thực</a:t>
            </a:r>
            <a:r>
              <a:rPr b="0" dirty="0">
                <a:solidFill>
                  <a:srgbClr val="475569"/>
                </a:solidFill>
              </a:rPr>
              <a:t>.</a:t>
            </a:r>
          </a:p>
          <a:p>
            <a:pPr>
              <a:spcBef>
                <a:spcPts val="800"/>
              </a:spcBef>
              <a:defRPr sz="1350" b="1">
                <a:solidFill>
                  <a:srgbClr val="059669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dòng</a:t>
            </a:r>
            <a:r>
              <a:rPr dirty="0"/>
              <a:t> </a:t>
            </a:r>
            <a:r>
              <a:rPr dirty="0" err="1"/>
              <a:t>tiền</a:t>
            </a:r>
            <a:r>
              <a:rPr dirty="0"/>
              <a:t>: </a:t>
            </a:r>
            <a:r>
              <a:rPr b="0" dirty="0" err="1">
                <a:solidFill>
                  <a:srgbClr val="475569"/>
                </a:solidFill>
              </a:rPr>
              <a:t>Thống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kê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tỷ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lệ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thanh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toán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chuyển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khoản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VietQR</a:t>
            </a:r>
            <a:r>
              <a:rPr b="0" dirty="0">
                <a:solidFill>
                  <a:srgbClr val="475569"/>
                </a:solidFill>
              </a:rPr>
              <a:t> vs. </a:t>
            </a:r>
            <a:r>
              <a:rPr b="0" dirty="0" err="1">
                <a:solidFill>
                  <a:srgbClr val="475569"/>
                </a:solidFill>
              </a:rPr>
              <a:t>Tiền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mặt</a:t>
            </a:r>
            <a:r>
              <a:rPr b="0" dirty="0">
                <a:solidFill>
                  <a:srgbClr val="475569"/>
                </a:solidFill>
              </a:rPr>
              <a:t>; </a:t>
            </a:r>
            <a:r>
              <a:rPr b="0" dirty="0" err="1">
                <a:solidFill>
                  <a:srgbClr val="475569"/>
                </a:solidFill>
              </a:rPr>
              <a:t>xếp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hạng</a:t>
            </a:r>
            <a:r>
              <a:rPr b="0" dirty="0">
                <a:solidFill>
                  <a:srgbClr val="475569"/>
                </a:solidFill>
              </a:rPr>
              <a:t> Top </a:t>
            </a:r>
            <a:r>
              <a:rPr b="0" dirty="0" err="1">
                <a:solidFill>
                  <a:srgbClr val="475569"/>
                </a:solidFill>
              </a:rPr>
              <a:t>món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bán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chạy</a:t>
            </a:r>
            <a:r>
              <a:rPr b="0" dirty="0">
                <a:solidFill>
                  <a:srgbClr val="475569"/>
                </a:solidFill>
              </a:rPr>
              <a:t> </a:t>
            </a:r>
            <a:r>
              <a:rPr b="0" dirty="0" err="1">
                <a:solidFill>
                  <a:srgbClr val="475569"/>
                </a:solidFill>
              </a:rPr>
              <a:t>nhất</a:t>
            </a:r>
            <a:r>
              <a:rPr b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34440"/>
            <a:ext cx="5425135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353312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E3A8A"/>
                </a:solidFill>
                <a:latin typeface="Segoe UI"/>
              </a:defRPr>
            </a:pPr>
            <a:r>
              <a:t>📸 Giao diện Điều Phối Màn Hình Bếp KDS Thông Minh</a:t>
            </a:r>
          </a:p>
        </p:txBody>
      </p:sp>
      <p:pic>
        <p:nvPicPr>
          <p:cNvPr id="11" name="Picture 10" descr="05_kit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83080"/>
            <a:ext cx="5150815" cy="32192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E2EB-8C48-AFA8-2036-D79ECBB6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C4D2F7-826A-C4FE-7CCB-2DBE63CBDEE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BF524D-4E13-CBEF-E4B9-F91FB04D9262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5DC93B-077D-03E3-73DC-891C70F24DFA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F6564-9A28-1098-E82F-EDCF90CC2BF7}"/>
              </a:ext>
            </a:extLst>
          </p:cNvPr>
          <p:cNvSpPr txBox="1"/>
          <p:nvPr/>
        </p:nvSpPr>
        <p:spPr>
          <a:xfrm>
            <a:off x="731520" y="365760"/>
            <a:ext cx="10728655" cy="41549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rPr lang="en-US" sz="2400" dirty="0" err="1"/>
              <a:t>Kết</a:t>
            </a:r>
            <a:r>
              <a:rPr lang="en-US" sz="2400" dirty="0"/>
              <a:t> Quả </a:t>
            </a:r>
            <a:r>
              <a:rPr lang="en-US" sz="2400" dirty="0" err="1"/>
              <a:t>Đạt</a:t>
            </a:r>
            <a:r>
              <a:rPr lang="en-US" sz="2400" dirty="0"/>
              <a:t> </a:t>
            </a:r>
            <a:r>
              <a:rPr lang="en-US" sz="2400" dirty="0" err="1"/>
              <a:t>Được</a:t>
            </a:r>
            <a:r>
              <a:rPr lang="en-US" sz="2400" dirty="0"/>
              <a:t> &amp;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Tiễn</a:t>
            </a:r>
            <a:endParaRPr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3B769-ECB0-A85E-1E3C-01A488C26DA7}"/>
              </a:ext>
            </a:extLst>
          </p:cNvPr>
          <p:cNvSpPr txBox="1"/>
          <p:nvPr/>
        </p:nvSpPr>
        <p:spPr>
          <a:xfrm>
            <a:off x="731520" y="6510528"/>
            <a:ext cx="10728655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Đồ Án Chuyên Đề Back-End: Royal Bistro  |  Sinh viên: Nguyễn Hoàng Hưng – 501250384 (K25)                                   Trang 5/8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7996997-78A7-C0F3-8D75-1CDE45A64D8C}"/>
              </a:ext>
            </a:extLst>
          </p:cNvPr>
          <p:cNvSpPr/>
          <p:nvPr/>
        </p:nvSpPr>
        <p:spPr>
          <a:xfrm>
            <a:off x="883767" y="2025445"/>
            <a:ext cx="10576408" cy="34426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defRPr sz="1550" b="1">
                <a:solidFill>
                  <a:srgbClr val="059669"/>
                </a:solidFill>
                <a:latin typeface="Segoe UI"/>
              </a:defRPr>
            </a:pPr>
            <a:r>
              <a:rPr sz="1600" dirty="0"/>
              <a:t>💎 3 GIÁ TRỊ THỰC TIỄN VƯỢT TRỘI</a:t>
            </a:r>
          </a:p>
          <a:p>
            <a:pPr>
              <a:spcBef>
                <a:spcPts val="10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</a:t>
            </a:r>
            <a:r>
              <a:rPr sz="1600" dirty="0" err="1"/>
              <a:t>Tối</a:t>
            </a:r>
            <a:r>
              <a:rPr sz="1600" dirty="0"/>
              <a:t> </a:t>
            </a:r>
            <a:r>
              <a:rPr sz="1600" dirty="0" err="1"/>
              <a:t>ưu</a:t>
            </a:r>
            <a:r>
              <a:rPr sz="1600" dirty="0"/>
              <a:t> </a:t>
            </a:r>
            <a:r>
              <a:rPr sz="1600" dirty="0" err="1"/>
              <a:t>nhân</a:t>
            </a:r>
            <a:r>
              <a:rPr sz="1600" dirty="0"/>
              <a:t> </a:t>
            </a:r>
            <a:r>
              <a:rPr sz="1600" dirty="0" err="1"/>
              <a:t>sự</a:t>
            </a:r>
            <a:r>
              <a:rPr sz="1600" dirty="0"/>
              <a:t> </a:t>
            </a:r>
            <a:r>
              <a:rPr sz="1600" dirty="0" err="1"/>
              <a:t>phục</a:t>
            </a:r>
            <a:r>
              <a:rPr sz="1600" dirty="0"/>
              <a:t> </a:t>
            </a:r>
            <a:r>
              <a:rPr sz="1600" dirty="0" err="1"/>
              <a:t>vụ</a:t>
            </a:r>
            <a:r>
              <a:rPr sz="1600" dirty="0"/>
              <a:t>: </a:t>
            </a:r>
            <a:r>
              <a:rPr sz="1600" b="0" dirty="0" err="1">
                <a:solidFill>
                  <a:srgbClr val="475569"/>
                </a:solidFill>
              </a:rPr>
              <a:t>Khách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tự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quét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mã</a:t>
            </a:r>
            <a:r>
              <a:rPr sz="1600" b="0" dirty="0">
                <a:solidFill>
                  <a:srgbClr val="475569"/>
                </a:solidFill>
              </a:rPr>
              <a:t> QR </a:t>
            </a:r>
            <a:r>
              <a:rPr sz="1600" b="0" dirty="0" err="1">
                <a:solidFill>
                  <a:srgbClr val="475569"/>
                </a:solidFill>
              </a:rPr>
              <a:t>duyệt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thực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đơn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và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gọi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món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tại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bàn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trên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điện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thoại</a:t>
            </a:r>
            <a:r>
              <a:rPr sz="1600" b="0" dirty="0">
                <a:solidFill>
                  <a:srgbClr val="475569"/>
                </a:solidFill>
              </a:rPr>
              <a:t>; </a:t>
            </a:r>
            <a:r>
              <a:rPr sz="1600" b="0" dirty="0" err="1">
                <a:solidFill>
                  <a:srgbClr val="475569"/>
                </a:solidFill>
              </a:rPr>
              <a:t>tinh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gọn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số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lượng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nhân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viên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chạy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bàn</a:t>
            </a:r>
            <a:r>
              <a:rPr sz="1600" b="0" dirty="0">
                <a:solidFill>
                  <a:srgbClr val="475569"/>
                </a:solidFill>
              </a:rPr>
              <a:t>.</a:t>
            </a:r>
          </a:p>
          <a:p>
            <a:pPr>
              <a:spcBef>
                <a:spcPts val="10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</a:t>
            </a:r>
            <a:r>
              <a:rPr sz="1600" dirty="0" err="1"/>
              <a:t>Kiểm</a:t>
            </a:r>
            <a:r>
              <a:rPr sz="1600" dirty="0"/>
              <a:t> </a:t>
            </a:r>
            <a:r>
              <a:rPr sz="1600" dirty="0" err="1"/>
              <a:t>soát</a:t>
            </a:r>
            <a:r>
              <a:rPr sz="1600" dirty="0"/>
              <a:t> </a:t>
            </a:r>
            <a:r>
              <a:rPr sz="1600" dirty="0" err="1"/>
              <a:t>kho</a:t>
            </a:r>
            <a:r>
              <a:rPr sz="1600" dirty="0"/>
              <a:t> </a:t>
            </a:r>
            <a:r>
              <a:rPr sz="1600" dirty="0" err="1"/>
              <a:t>chính</a:t>
            </a:r>
            <a:r>
              <a:rPr sz="1600" dirty="0"/>
              <a:t> </a:t>
            </a:r>
            <a:r>
              <a:rPr sz="1600" dirty="0" err="1"/>
              <a:t>xác</a:t>
            </a:r>
            <a:r>
              <a:rPr sz="1600" dirty="0"/>
              <a:t>: </a:t>
            </a:r>
            <a:r>
              <a:rPr sz="1600" b="0" dirty="0" err="1">
                <a:solidFill>
                  <a:srgbClr val="475569"/>
                </a:solidFill>
              </a:rPr>
              <a:t>Thuật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toán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tự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động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trừ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kho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theo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định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mức</a:t>
            </a:r>
            <a:r>
              <a:rPr sz="1600" b="0" dirty="0">
                <a:solidFill>
                  <a:srgbClr val="475569"/>
                </a:solidFill>
              </a:rPr>
              <a:t> BOM </a:t>
            </a:r>
            <a:r>
              <a:rPr sz="1600" b="0" dirty="0" err="1">
                <a:solidFill>
                  <a:srgbClr val="475569"/>
                </a:solidFill>
              </a:rPr>
              <a:t>khi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bếp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bấm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nấu</a:t>
            </a:r>
            <a:r>
              <a:rPr sz="1600" b="0" dirty="0">
                <a:solidFill>
                  <a:srgbClr val="475569"/>
                </a:solidFill>
              </a:rPr>
              <a:t>; </a:t>
            </a:r>
            <a:r>
              <a:rPr sz="1600" b="0" dirty="0" err="1">
                <a:solidFill>
                  <a:srgbClr val="475569"/>
                </a:solidFill>
              </a:rPr>
              <a:t>cảnh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báo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kịp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thời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khi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nguyên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liệu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sắp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cạn</a:t>
            </a:r>
            <a:r>
              <a:rPr sz="1600" b="0" dirty="0">
                <a:solidFill>
                  <a:srgbClr val="475569"/>
                </a:solidFill>
              </a:rPr>
              <a:t>.</a:t>
            </a:r>
          </a:p>
          <a:p>
            <a:pPr>
              <a:spcBef>
                <a:spcPts val="10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• </a:t>
            </a:r>
            <a:r>
              <a:rPr sz="1600" dirty="0" err="1"/>
              <a:t>Truyền</a:t>
            </a:r>
            <a:r>
              <a:rPr sz="1600" dirty="0"/>
              <a:t> </a:t>
            </a:r>
            <a:r>
              <a:rPr sz="1600" dirty="0" err="1"/>
              <a:t>đơn</a:t>
            </a:r>
            <a:r>
              <a:rPr sz="1600" dirty="0"/>
              <a:t> </a:t>
            </a:r>
            <a:r>
              <a:rPr sz="1600" dirty="0" err="1"/>
              <a:t>tức</a:t>
            </a:r>
            <a:r>
              <a:rPr sz="1600" dirty="0"/>
              <a:t> </a:t>
            </a:r>
            <a:r>
              <a:rPr sz="1600" dirty="0" err="1"/>
              <a:t>thời</a:t>
            </a:r>
            <a:r>
              <a:rPr sz="1600" dirty="0"/>
              <a:t> </a:t>
            </a:r>
            <a:r>
              <a:rPr sz="1600" dirty="0" err="1"/>
              <a:t>vào</a:t>
            </a:r>
            <a:r>
              <a:rPr sz="1600" dirty="0"/>
              <a:t> </a:t>
            </a:r>
            <a:r>
              <a:rPr sz="1600" dirty="0" err="1"/>
              <a:t>Bếp</a:t>
            </a:r>
            <a:r>
              <a:rPr sz="1600" dirty="0"/>
              <a:t>: </a:t>
            </a:r>
            <a:r>
              <a:rPr sz="1600" b="0" dirty="0" err="1">
                <a:solidFill>
                  <a:srgbClr val="475569"/>
                </a:solidFill>
              </a:rPr>
              <a:t>Đơn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gọi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món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gửi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trực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tiếp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vào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màn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hình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Bếp</a:t>
            </a:r>
            <a:r>
              <a:rPr sz="1600" b="0" dirty="0">
                <a:solidFill>
                  <a:srgbClr val="475569"/>
                </a:solidFill>
              </a:rPr>
              <a:t> KDS qua WebSocket; </a:t>
            </a:r>
            <a:r>
              <a:rPr sz="1600" b="0" dirty="0" err="1">
                <a:solidFill>
                  <a:srgbClr val="475569"/>
                </a:solidFill>
              </a:rPr>
              <a:t>chuông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reo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nhận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đơn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để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chế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biến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ngay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lập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tức</a:t>
            </a:r>
            <a:r>
              <a:rPr sz="1600" b="0" dirty="0">
                <a:solidFill>
                  <a:srgbClr val="47556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1760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777240"/>
            <a:ext cx="9997135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292608" rIns="457200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🏛️ KHOA CÔNG NGHỆ THÔNG TIN – ĐIỆN TỬ • ITC</a:t>
            </a:r>
          </a:p>
          <a:p>
            <a:pPr algn="ctr">
              <a:spcBef>
                <a:spcPts val="1200"/>
              </a:spcBef>
              <a:defRPr sz="3400" b="1">
                <a:solidFill>
                  <a:srgbClr val="1E3A8A"/>
                </a:solidFill>
                <a:latin typeface="Segoe UI"/>
              </a:defRPr>
            </a:pPr>
            <a:r>
              <a:t>XIN CHÂN THÀNH CẢM ƠN!</a:t>
            </a:r>
          </a:p>
          <a:p>
            <a:pPr algn="ctr">
              <a:spcBef>
                <a:spcPts val="800"/>
              </a:spcBef>
              <a:defRPr sz="1650">
                <a:solidFill>
                  <a:srgbClr val="475569"/>
                </a:solidFill>
                <a:latin typeface="Segoe UI"/>
              </a:defRPr>
            </a:pPr>
            <a:r>
              <a:t>Kính chúc Quý Thầy Cô trong Hội đồng thật nhiều sức khỏe, hạnh phúc và thành công!</a:t>
            </a:r>
          </a:p>
          <a:p>
            <a:pPr algn="ctr">
              <a:spcBef>
                <a:spcPts val="1800"/>
              </a:spcBef>
              <a:defRPr sz="2300" b="1">
                <a:solidFill>
                  <a:srgbClr val="D97706"/>
                </a:solidFill>
                <a:latin typeface="Segoe UI"/>
              </a:defRPr>
            </a:pPr>
            <a:r>
              <a:t>❓ PHẦN HỎI &amp; ĐÁP (Q &amp; A)</a:t>
            </a:r>
          </a:p>
          <a:p>
            <a:pPr algn="ctr">
              <a:spcBef>
                <a:spcPts val="600"/>
              </a:spcBef>
              <a:defRPr sz="1550">
                <a:solidFill>
                  <a:srgbClr val="475569"/>
                </a:solidFill>
                <a:latin typeface="Segoe UI"/>
              </a:defRPr>
            </a:pPr>
            <a:r>
              <a:t>Em rất mong nhận được những câu hỏi phản biện, lời nhận xét và góp ý quý báu của Quý Thầy Cô để hoàn thiện đề tài.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892040"/>
            <a:ext cx="9997135" cy="128016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Ins="365760" rtlCol="0" anchor="ctr"/>
          <a:lstStyle/>
          <a:p>
            <a:pPr algn="ctr">
              <a:defRPr sz="1400" b="1">
                <a:solidFill>
                  <a:srgbClr val="1E3A8A"/>
                </a:solidFill>
                <a:latin typeface="Segoe UI"/>
              </a:defRPr>
            </a:pPr>
            <a:r>
              <a:t>👤 Sinh viên: NGUYỄN HOÀNG HƯNG   |   MSSV: 501250384   |   Lớp: Khóa K25 – Công nghệ Phần mềm</a:t>
            </a:r>
          </a:p>
          <a:p>
            <a:pPr algn="ctr">
              <a:spcBef>
                <a:spcPts val="6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👨‍🏫 Giảng viên hướng dẫn: ThS. NGUYỄN MINH HẢI   |   Đề tài: Hệ Thống Back-End Quản Lý Nhà Hàng &amp; Gọi Món (Royal Bistro)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728655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Đồ Án Chuyên Đề Back-End: Royal Bistro  |  Sinh viên: Nguyễn Hoàng Hưng – 501250384 (K25)                                   Trang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1427</Words>
  <Application>Microsoft Office PowerPoint</Application>
  <PresentationFormat>Widescreen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Hưng Nguyễn</cp:lastModifiedBy>
  <cp:revision>1</cp:revision>
  <dcterms:created xsi:type="dcterms:W3CDTF">2013-01-27T09:14:16Z</dcterms:created>
  <dcterms:modified xsi:type="dcterms:W3CDTF">2026-10-27T00:17:32Z</dcterms:modified>
  <cp:category/>
</cp:coreProperties>
</file>