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B1CD5-E6E4-4BFC-AC97-A84AF4E3D68D}" v="2" dt="2026-10-20T01:27:24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ưng Nguyễn" userId="62088adbe5b10a38" providerId="LiveId" clId="{0038B2EA-E61B-494E-8805-E1A7D9E185B2}"/>
    <pc:docChg chg="custSel delSld modSld">
      <pc:chgData name="Hưng Nguyễn" userId="62088adbe5b10a38" providerId="LiveId" clId="{0038B2EA-E61B-494E-8805-E1A7D9E185B2}" dt="2026-10-20T01:50:20.361" v="211" actId="1076"/>
      <pc:docMkLst>
        <pc:docMk/>
      </pc:docMkLst>
      <pc:sldChg chg="modSp mod">
        <pc:chgData name="Hưng Nguyễn" userId="62088adbe5b10a38" providerId="LiveId" clId="{0038B2EA-E61B-494E-8805-E1A7D9E185B2}" dt="2026-10-20T01:50:20.361" v="211" actId="1076"/>
        <pc:sldMkLst>
          <pc:docMk/>
          <pc:sldMk cId="0" sldId="256"/>
        </pc:sldMkLst>
        <pc:spChg chg="mod">
          <ac:chgData name="Hưng Nguyễn" userId="62088adbe5b10a38" providerId="LiveId" clId="{0038B2EA-E61B-494E-8805-E1A7D9E185B2}" dt="2026-10-20T01:50:20.361" v="211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49:39.782" v="207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50:04.046" v="210" actId="1076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Hưng Nguyễn" userId="62088adbe5b10a38" providerId="LiveId" clId="{0038B2EA-E61B-494E-8805-E1A7D9E185B2}" dt="2026-10-20T01:18:27.375" v="21" actId="403"/>
        <pc:sldMkLst>
          <pc:docMk/>
          <pc:sldMk cId="0" sldId="257"/>
        </pc:sldMkLst>
        <pc:spChg chg="mod">
          <ac:chgData name="Hưng Nguyễn" userId="62088adbe5b10a38" providerId="LiveId" clId="{0038B2EA-E61B-494E-8805-E1A7D9E185B2}" dt="2026-10-20T01:18:19.206" v="17" actId="403"/>
          <ac:spMkLst>
            <pc:docMk/>
            <pc:sldMk cId="0" sldId="257"/>
            <ac:spMk id="8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18:27.375" v="21" actId="403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Hưng Nguyễn" userId="62088adbe5b10a38" providerId="LiveId" clId="{0038B2EA-E61B-494E-8805-E1A7D9E185B2}" dt="2026-10-20T01:49:06.837" v="201" actId="403"/>
        <pc:sldMkLst>
          <pc:docMk/>
          <pc:sldMk cId="0" sldId="258"/>
        </pc:sldMkLst>
        <pc:spChg chg="mod">
          <ac:chgData name="Hưng Nguyễn" userId="62088adbe5b10a38" providerId="LiveId" clId="{0038B2EA-E61B-494E-8805-E1A7D9E185B2}" dt="2026-10-20T01:49:06.837" v="201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49:06.837" v="201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49:06.837" v="201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49:06.837" v="201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17:56.870" v="9" actId="1076"/>
          <ac:spMkLst>
            <pc:docMk/>
            <pc:sldMk cId="0" sldId="258"/>
            <ac:spMk id="13" creationId="{00000000-0000-0000-0000-000000000000}"/>
          </ac:spMkLst>
        </pc:spChg>
        <pc:picChg chg="mod">
          <ac:chgData name="Hưng Nguyễn" userId="62088adbe5b10a38" providerId="LiveId" clId="{0038B2EA-E61B-494E-8805-E1A7D9E185B2}" dt="2026-10-20T01:17:46.282" v="4" actId="1076"/>
          <ac:picMkLst>
            <pc:docMk/>
            <pc:sldMk cId="0" sldId="258"/>
            <ac:picMk id="14" creationId="{00000000-0000-0000-0000-000000000000}"/>
          </ac:picMkLst>
        </pc:picChg>
      </pc:sldChg>
      <pc:sldChg chg="modSp del mod">
        <pc:chgData name="Hưng Nguyễn" userId="62088adbe5b10a38" providerId="LiveId" clId="{0038B2EA-E61B-494E-8805-E1A7D9E185B2}" dt="2026-10-20T01:48:50.433" v="190" actId="2696"/>
        <pc:sldMkLst>
          <pc:docMk/>
          <pc:sldMk cId="0" sldId="259"/>
        </pc:sldMkLst>
        <pc:spChg chg="mod">
          <ac:chgData name="Hưng Nguyễn" userId="62088adbe5b10a38" providerId="LiveId" clId="{0038B2EA-E61B-494E-8805-E1A7D9E185B2}" dt="2026-10-20T01:28:24.435" v="189" actId="403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Hưng Nguyễn" userId="62088adbe5b10a38" providerId="LiveId" clId="{0038B2EA-E61B-494E-8805-E1A7D9E185B2}" dt="2026-10-20T01:28:18.401" v="187" actId="403"/>
        <pc:sldMkLst>
          <pc:docMk/>
          <pc:sldMk cId="0" sldId="260"/>
        </pc:sldMkLst>
        <pc:spChg chg="mod">
          <ac:chgData name="Hưng Nguyễn" userId="62088adbe5b10a38" providerId="LiveId" clId="{0038B2EA-E61B-494E-8805-E1A7D9E185B2}" dt="2026-10-20T01:28:18.401" v="187" actId="403"/>
          <ac:spMkLst>
            <pc:docMk/>
            <pc:sldMk cId="0" sldId="260"/>
            <ac:spMk id="8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0:16.808" v="26" actId="1076"/>
          <ac:spMkLst>
            <pc:docMk/>
            <pc:sldMk cId="0" sldId="260"/>
            <ac:spMk id="10" creationId="{00000000-0000-0000-0000-000000000000}"/>
          </ac:spMkLst>
        </pc:spChg>
        <pc:picChg chg="mod">
          <ac:chgData name="Hưng Nguyễn" userId="62088adbe5b10a38" providerId="LiveId" clId="{0038B2EA-E61B-494E-8805-E1A7D9E185B2}" dt="2026-10-20T01:20:06.853" v="22" actId="1076"/>
          <ac:picMkLst>
            <pc:docMk/>
            <pc:sldMk cId="0" sldId="260"/>
            <ac:picMk id="11" creationId="{00000000-0000-0000-0000-000000000000}"/>
          </ac:picMkLst>
        </pc:picChg>
      </pc:sldChg>
      <pc:sldChg chg="modSp del mod">
        <pc:chgData name="Hưng Nguyễn" userId="62088adbe5b10a38" providerId="LiveId" clId="{0038B2EA-E61B-494E-8805-E1A7D9E185B2}" dt="2026-10-20T01:21:30.705" v="34" actId="2696"/>
        <pc:sldMkLst>
          <pc:docMk/>
          <pc:sldMk cId="0" sldId="261"/>
        </pc:sldMkLst>
        <pc:spChg chg="mod">
          <ac:chgData name="Hưng Nguyễn" userId="62088adbe5b10a38" providerId="LiveId" clId="{0038B2EA-E61B-494E-8805-E1A7D9E185B2}" dt="2026-10-20T01:20:45.582" v="33" actId="1076"/>
          <ac:spMkLst>
            <pc:docMk/>
            <pc:sldMk cId="0" sldId="261"/>
            <ac:spMk id="12" creationId="{00000000-0000-0000-0000-000000000000}"/>
          </ac:spMkLst>
        </pc:spChg>
        <pc:picChg chg="mod">
          <ac:chgData name="Hưng Nguyễn" userId="62088adbe5b10a38" providerId="LiveId" clId="{0038B2EA-E61B-494E-8805-E1A7D9E185B2}" dt="2026-10-20T01:20:32.113" v="27" actId="1076"/>
          <ac:picMkLst>
            <pc:docMk/>
            <pc:sldMk cId="0" sldId="261"/>
            <ac:picMk id="13" creationId="{00000000-0000-0000-0000-000000000000}"/>
          </ac:picMkLst>
        </pc:picChg>
      </pc:sldChg>
      <pc:sldChg chg="delSp modSp mod">
        <pc:chgData name="Hưng Nguyễn" userId="62088adbe5b10a38" providerId="LiveId" clId="{0038B2EA-E61B-494E-8805-E1A7D9E185B2}" dt="2026-10-20T01:28:07.633" v="183" actId="207"/>
        <pc:sldMkLst>
          <pc:docMk/>
          <pc:sldMk cId="0" sldId="262"/>
        </pc:sldMkLst>
        <pc:spChg chg="mod">
          <ac:chgData name="Hưng Nguyễn" userId="62088adbe5b10a38" providerId="LiveId" clId="{0038B2EA-E61B-494E-8805-E1A7D9E185B2}" dt="2026-10-20T01:27:14.421" v="169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7:14.421" v="169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7:14.421" v="169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7:14.421" v="169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8:07.633" v="183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6:55.321" v="167" actId="1076"/>
          <ac:spMkLst>
            <pc:docMk/>
            <pc:sldMk cId="0" sldId="262"/>
            <ac:spMk id="13" creationId="{00000000-0000-0000-0000-000000000000}"/>
          </ac:spMkLst>
        </pc:spChg>
        <pc:spChg chg="del mod">
          <ac:chgData name="Hưng Nguyễn" userId="62088adbe5b10a38" providerId="LiveId" clId="{0038B2EA-E61B-494E-8805-E1A7D9E185B2}" dt="2026-10-20T01:26:38.055" v="159" actId="478"/>
          <ac:spMkLst>
            <pc:docMk/>
            <pc:sldMk cId="0" sldId="262"/>
            <ac:spMk id="15" creationId="{00000000-0000-0000-0000-000000000000}"/>
          </ac:spMkLst>
        </pc:spChg>
        <pc:picChg chg="mod">
          <ac:chgData name="Hưng Nguyễn" userId="62088adbe5b10a38" providerId="LiveId" clId="{0038B2EA-E61B-494E-8805-E1A7D9E185B2}" dt="2026-10-20T01:26:46.013" v="161" actId="1076"/>
          <ac:picMkLst>
            <pc:docMk/>
            <pc:sldMk cId="0" sldId="262"/>
            <ac:picMk id="14" creationId="{00000000-0000-0000-0000-000000000000}"/>
          </ac:picMkLst>
        </pc:picChg>
      </pc:sldChg>
      <pc:sldChg chg="addSp delSp modSp mod">
        <pc:chgData name="Hưng Nguyễn" userId="62088adbe5b10a38" providerId="LiveId" clId="{0038B2EA-E61B-494E-8805-E1A7D9E185B2}" dt="2026-10-20T01:28:00.947" v="182" actId="207"/>
        <pc:sldMkLst>
          <pc:docMk/>
          <pc:sldMk cId="0" sldId="263"/>
        </pc:sldMkLst>
        <pc:spChg chg="mod">
          <ac:chgData name="Hưng Nguyễn" userId="62088adbe5b10a38" providerId="LiveId" clId="{0038B2EA-E61B-494E-8805-E1A7D9E185B2}" dt="2026-10-20T01:27:26.938" v="173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7:26.938" v="173" actId="403"/>
          <ac:spMkLst>
            <pc:docMk/>
            <pc:sldMk cId="0" sldId="263"/>
            <ac:spMk id="9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7:26.938" v="173" actId="40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7:26.938" v="173" actId="40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8:00.947" v="182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7:43.864" v="180" actId="403"/>
          <ac:spMkLst>
            <pc:docMk/>
            <pc:sldMk cId="0" sldId="263"/>
            <ac:spMk id="13" creationId="{00000000-0000-0000-0000-000000000000}"/>
          </ac:spMkLst>
        </pc:spChg>
        <pc:spChg chg="del">
          <ac:chgData name="Hưng Nguyễn" userId="62088adbe5b10a38" providerId="LiveId" clId="{0038B2EA-E61B-494E-8805-E1A7D9E185B2}" dt="2026-10-20T01:27:31.035" v="174" actId="478"/>
          <ac:spMkLst>
            <pc:docMk/>
            <pc:sldMk cId="0" sldId="263"/>
            <ac:spMk id="15" creationId="{00000000-0000-0000-0000-000000000000}"/>
          </ac:spMkLst>
        </pc:spChg>
        <pc:spChg chg="add mod">
          <ac:chgData name="Hưng Nguyễn" userId="62088adbe5b10a38" providerId="LiveId" clId="{0038B2EA-E61B-494E-8805-E1A7D9E185B2}" dt="2026-10-20T01:27:24.401" v="171" actId="571"/>
          <ac:spMkLst>
            <pc:docMk/>
            <pc:sldMk cId="0" sldId="263"/>
            <ac:spMk id="16" creationId="{226DF966-B0C0-B7DF-9678-8FD8FA3F2901}"/>
          </ac:spMkLst>
        </pc:spChg>
        <pc:spChg chg="add mod">
          <ac:chgData name="Hưng Nguyễn" userId="62088adbe5b10a38" providerId="LiveId" clId="{0038B2EA-E61B-494E-8805-E1A7D9E185B2}" dt="2026-10-20T01:27:24.401" v="171" actId="571"/>
          <ac:spMkLst>
            <pc:docMk/>
            <pc:sldMk cId="0" sldId="263"/>
            <ac:spMk id="17" creationId="{1768870B-E59A-BB9B-1A1A-BBF2F339D3EF}"/>
          </ac:spMkLst>
        </pc:spChg>
        <pc:spChg chg="add mod">
          <ac:chgData name="Hưng Nguyễn" userId="62088adbe5b10a38" providerId="LiveId" clId="{0038B2EA-E61B-494E-8805-E1A7D9E185B2}" dt="2026-10-20T01:27:24.401" v="171" actId="571"/>
          <ac:spMkLst>
            <pc:docMk/>
            <pc:sldMk cId="0" sldId="263"/>
            <ac:spMk id="18" creationId="{D91F5A1E-BCA0-6738-F17C-3B81DDA0C29C}"/>
          </ac:spMkLst>
        </pc:spChg>
        <pc:spChg chg="add mod">
          <ac:chgData name="Hưng Nguyễn" userId="62088adbe5b10a38" providerId="LiveId" clId="{0038B2EA-E61B-494E-8805-E1A7D9E185B2}" dt="2026-10-20T01:27:24.401" v="171" actId="571"/>
          <ac:spMkLst>
            <pc:docMk/>
            <pc:sldMk cId="0" sldId="263"/>
            <ac:spMk id="19" creationId="{97162432-E760-31AD-99A8-10E56723F852}"/>
          </ac:spMkLst>
        </pc:spChg>
        <pc:picChg chg="mod">
          <ac:chgData name="Hưng Nguyễn" userId="62088adbe5b10a38" providerId="LiveId" clId="{0038B2EA-E61B-494E-8805-E1A7D9E185B2}" dt="2026-10-20T01:27:47.436" v="181" actId="1076"/>
          <ac:picMkLst>
            <pc:docMk/>
            <pc:sldMk cId="0" sldId="263"/>
            <ac:picMk id="14" creationId="{00000000-0000-0000-0000-000000000000}"/>
          </ac:picMkLst>
        </pc:picChg>
      </pc:sldChg>
      <pc:sldChg chg="del">
        <pc:chgData name="Hưng Nguyễn" userId="62088adbe5b10a38" providerId="LiveId" clId="{0038B2EA-E61B-494E-8805-E1A7D9E185B2}" dt="2026-10-20T01:21:47.875" v="35" actId="2696"/>
        <pc:sldMkLst>
          <pc:docMk/>
          <pc:sldMk cId="0" sldId="264"/>
        </pc:sldMkLst>
      </pc:sldChg>
      <pc:sldChg chg="del">
        <pc:chgData name="Hưng Nguyễn" userId="62088adbe5b10a38" providerId="LiveId" clId="{0038B2EA-E61B-494E-8805-E1A7D9E185B2}" dt="2026-10-20T01:17:00.554" v="3" actId="2696"/>
        <pc:sldMkLst>
          <pc:docMk/>
          <pc:sldMk cId="0" sldId="265"/>
        </pc:sldMkLst>
      </pc:sldChg>
      <pc:sldChg chg="del">
        <pc:chgData name="Hưng Nguyễn" userId="62088adbe5b10a38" providerId="LiveId" clId="{0038B2EA-E61B-494E-8805-E1A7D9E185B2}" dt="2026-10-20T01:16:56.733" v="2" actId="2696"/>
        <pc:sldMkLst>
          <pc:docMk/>
          <pc:sldMk cId="0" sldId="266"/>
        </pc:sldMkLst>
      </pc:sldChg>
      <pc:sldChg chg="delSp modSp mod">
        <pc:chgData name="Hưng Nguyễn" userId="62088adbe5b10a38" providerId="LiveId" clId="{0038B2EA-E61B-494E-8805-E1A7D9E185B2}" dt="2026-10-20T01:23:29.079" v="154" actId="20577"/>
        <pc:sldMkLst>
          <pc:docMk/>
          <pc:sldMk cId="0" sldId="267"/>
        </pc:sldMkLst>
        <pc:spChg chg="mod">
          <ac:chgData name="Hưng Nguyễn" userId="62088adbe5b10a38" providerId="LiveId" clId="{0038B2EA-E61B-494E-8805-E1A7D9E185B2}" dt="2026-10-20T01:23:01.650" v="144" actId="403"/>
          <ac:spMkLst>
            <pc:docMk/>
            <pc:sldMk cId="0" sldId="267"/>
            <ac:spMk id="6" creationId="{00000000-0000-0000-0000-000000000000}"/>
          </ac:spMkLst>
        </pc:spChg>
        <pc:spChg chg="del mod">
          <ac:chgData name="Hưng Nguyễn" userId="62088adbe5b10a38" providerId="LiveId" clId="{0038B2EA-E61B-494E-8805-E1A7D9E185B2}" dt="2026-10-20T01:22:41.819" v="45" actId="478"/>
          <ac:spMkLst>
            <pc:docMk/>
            <pc:sldMk cId="0" sldId="267"/>
            <ac:spMk id="8" creationId="{00000000-0000-0000-0000-000000000000}"/>
          </ac:spMkLst>
        </pc:spChg>
        <pc:spChg chg="mod">
          <ac:chgData name="Hưng Nguyễn" userId="62088adbe5b10a38" providerId="LiveId" clId="{0038B2EA-E61B-494E-8805-E1A7D9E185B2}" dt="2026-10-20T01:23:29.079" v="154" actId="20577"/>
          <ac:spMkLst>
            <pc:docMk/>
            <pc:sldMk cId="0" sldId="267"/>
            <ac:spMk id="9" creationId="{00000000-0000-0000-0000-000000000000}"/>
          </ac:spMkLst>
        </pc:spChg>
      </pc:sldChg>
      <pc:sldChg chg="del">
        <pc:chgData name="Hưng Nguyễn" userId="62088adbe5b10a38" providerId="LiveId" clId="{0038B2EA-E61B-494E-8805-E1A7D9E185B2}" dt="2026-10-20T01:16:46.471" v="1" actId="2696"/>
        <pc:sldMkLst>
          <pc:docMk/>
          <pc:sldMk cId="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502920"/>
            <a:ext cx="1054577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🏛️ TRƯỜNG CAO ĐẲNG CÔNG NGHỆ THÔNG TIN TP.HCM • KHOA CÔNG NGHỆ THÔNG TIN – ĐIỆN TỬ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10545775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rtlCol="0" anchor="ctr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BÁO CÁO ĐỒ ÁN MÔN HỌC: CHUYÊN ĐỀ BACK-END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E3A8A"/>
                </a:solidFill>
                <a:latin typeface="Segoe UI"/>
              </a:defRPr>
            </a:pPr>
            <a:r>
              <a:t>XÂY DỰNG HỆ THỐNG BACK-END CHO PHẦN MỀM</a:t>
            </a:r>
            <a:br/>
            <a:r>
              <a:t>QUẢN LÝ NHÀ HÀNG &amp; GỌI MÓN (ROYAL BISTRO)</a:t>
            </a:r>
          </a:p>
          <a:p>
            <a:pPr algn="ctr">
              <a:spcBef>
                <a:spcPts val="6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Kiến trúc máy chủ RESTful API &amp; WebSocket Realtime • Điều phối Bếp KDS • Tự động trừ kho định lượng BOM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74720"/>
            <a:ext cx="3364992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3639312"/>
            <a:ext cx="2999232" cy="347472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👤 SINH VIÊN THỰC HIỆN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663" y="4169664"/>
            <a:ext cx="3190938" cy="1215717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 err="1"/>
              <a:t>Họ</a:t>
            </a:r>
            <a:r>
              <a:rPr sz="1400" dirty="0"/>
              <a:t> </a:t>
            </a:r>
            <a:r>
              <a:rPr sz="1400" dirty="0" err="1"/>
              <a:t>và</a:t>
            </a:r>
            <a:r>
              <a:rPr sz="1400" dirty="0"/>
              <a:t> </a:t>
            </a:r>
            <a:r>
              <a:rPr sz="1400" dirty="0" err="1"/>
              <a:t>tên</a:t>
            </a:r>
            <a:r>
              <a:rPr sz="1400" dirty="0"/>
              <a:t>: </a:t>
            </a:r>
            <a:r>
              <a:rPr sz="1400" b="1" dirty="0">
                <a:solidFill>
                  <a:srgbClr val="0F172A"/>
                </a:solidFill>
              </a:rPr>
              <a:t>Nguyễn Hoàng Hưng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MSSV: </a:t>
            </a:r>
            <a:r>
              <a:rPr sz="1400" b="1" dirty="0">
                <a:solidFill>
                  <a:srgbClr val="0F172A"/>
                </a:solidFill>
              </a:rPr>
              <a:t>501250384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 err="1"/>
              <a:t>Khóa</a:t>
            </a:r>
            <a:r>
              <a:rPr sz="1400" dirty="0"/>
              <a:t> </a:t>
            </a:r>
            <a:r>
              <a:rPr sz="1400" dirty="0" err="1"/>
              <a:t>đào</a:t>
            </a:r>
            <a:r>
              <a:rPr sz="1400" dirty="0"/>
              <a:t> </a:t>
            </a:r>
            <a:r>
              <a:rPr sz="1400" dirty="0" err="1"/>
              <a:t>tạo</a:t>
            </a:r>
            <a:r>
              <a:rPr sz="1400" dirty="0"/>
              <a:t>: </a:t>
            </a:r>
            <a:r>
              <a:rPr sz="1400" b="1" dirty="0" err="1">
                <a:solidFill>
                  <a:srgbClr val="0F172A"/>
                </a:solidFill>
              </a:rPr>
              <a:t>Khóa</a:t>
            </a:r>
            <a:r>
              <a:rPr sz="1400" b="1" dirty="0">
                <a:solidFill>
                  <a:srgbClr val="0F172A"/>
                </a:solidFill>
              </a:rPr>
              <a:t> K25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Chuyên </a:t>
            </a:r>
            <a:r>
              <a:rPr sz="1400" dirty="0" err="1"/>
              <a:t>ngành</a:t>
            </a:r>
            <a:r>
              <a:rPr sz="1400" dirty="0"/>
              <a:t>: </a:t>
            </a:r>
            <a:r>
              <a:rPr sz="1400" b="1" dirty="0">
                <a:solidFill>
                  <a:srgbClr val="0F172A"/>
                </a:solidFill>
              </a:rPr>
              <a:t>Công </a:t>
            </a:r>
            <a:r>
              <a:rPr sz="1400" b="1" dirty="0" err="1">
                <a:solidFill>
                  <a:srgbClr val="0F172A"/>
                </a:solidFill>
              </a:rPr>
              <a:t>nghệ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Phần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mềm</a:t>
            </a:r>
            <a:endParaRPr sz="1400" b="1" dirty="0">
              <a:solidFill>
                <a:srgbClr val="0F172A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16552" y="3474720"/>
            <a:ext cx="3364992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99432" y="3639312"/>
            <a:ext cx="2999232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👨‍🏫 GIẢNG VIÊN HƯỚNG DẪN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4169663"/>
            <a:ext cx="2920030" cy="1215717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 err="1"/>
              <a:t>Giảng</a:t>
            </a:r>
            <a:r>
              <a:rPr sz="1400" dirty="0"/>
              <a:t> </a:t>
            </a:r>
            <a:r>
              <a:rPr sz="1400" dirty="0" err="1"/>
              <a:t>viên</a:t>
            </a:r>
            <a:r>
              <a:rPr sz="1400" dirty="0"/>
              <a:t>: </a:t>
            </a:r>
            <a:r>
              <a:rPr sz="1400" b="1" dirty="0" err="1">
                <a:solidFill>
                  <a:srgbClr val="0F172A"/>
                </a:solidFill>
              </a:rPr>
              <a:t>ThS</a:t>
            </a:r>
            <a:r>
              <a:rPr sz="1400" b="1" dirty="0">
                <a:solidFill>
                  <a:srgbClr val="0F172A"/>
                </a:solidFill>
              </a:rPr>
              <a:t>. Nguyễn Minh Hải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 err="1"/>
              <a:t>Đơn</a:t>
            </a:r>
            <a:r>
              <a:rPr sz="1400" dirty="0"/>
              <a:t> </a:t>
            </a:r>
            <a:r>
              <a:rPr sz="1400" dirty="0" err="1"/>
              <a:t>vị</a:t>
            </a:r>
            <a:r>
              <a:rPr sz="1400" dirty="0"/>
              <a:t>: </a:t>
            </a:r>
            <a:r>
              <a:rPr sz="1400" b="1" dirty="0">
                <a:solidFill>
                  <a:srgbClr val="0F172A"/>
                </a:solidFill>
              </a:rPr>
              <a:t>Khoa CNTT – </a:t>
            </a:r>
            <a:r>
              <a:rPr sz="1400" b="1" dirty="0" err="1">
                <a:solidFill>
                  <a:srgbClr val="0F172A"/>
                </a:solidFill>
              </a:rPr>
              <a:t>Điện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tử</a:t>
            </a:r>
            <a:endParaRPr sz="1400" b="1" dirty="0">
              <a:solidFill>
                <a:srgbClr val="0F172A"/>
              </a:solidFill>
            </a:endParaRP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Môn </a:t>
            </a:r>
            <a:r>
              <a:rPr sz="1400" dirty="0" err="1"/>
              <a:t>học</a:t>
            </a:r>
            <a:r>
              <a:rPr sz="1400" dirty="0"/>
              <a:t>: </a:t>
            </a:r>
            <a:r>
              <a:rPr sz="1400" b="1" dirty="0">
                <a:solidFill>
                  <a:srgbClr val="0F172A"/>
                </a:solidFill>
              </a:rPr>
              <a:t>Chuyên </a:t>
            </a:r>
            <a:r>
              <a:rPr sz="1400" b="1" dirty="0" err="1">
                <a:solidFill>
                  <a:srgbClr val="0F172A"/>
                </a:solidFill>
              </a:rPr>
              <a:t>Đề</a:t>
            </a:r>
            <a:r>
              <a:rPr sz="1400" b="1" dirty="0">
                <a:solidFill>
                  <a:srgbClr val="0F172A"/>
                </a:solidFill>
              </a:rPr>
              <a:t> Back-End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 err="1"/>
              <a:t>Thời</a:t>
            </a:r>
            <a:r>
              <a:rPr sz="1400" dirty="0"/>
              <a:t> </a:t>
            </a:r>
            <a:r>
              <a:rPr sz="1400" dirty="0" err="1"/>
              <a:t>gian</a:t>
            </a:r>
            <a:r>
              <a:rPr sz="1400" dirty="0"/>
              <a:t>: </a:t>
            </a:r>
            <a:r>
              <a:rPr sz="1400" b="1" dirty="0" err="1">
                <a:solidFill>
                  <a:srgbClr val="0F172A"/>
                </a:solidFill>
              </a:rPr>
              <a:t>Tháng</a:t>
            </a:r>
            <a:r>
              <a:rPr sz="1400" b="1" dirty="0">
                <a:solidFill>
                  <a:srgbClr val="0F172A"/>
                </a:solidFill>
              </a:rPr>
              <a:t> 10 /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474720"/>
            <a:ext cx="3364992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93023" y="3639312"/>
            <a:ext cx="2999232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⚡ CÔNG NGHỆ CHÍNH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4169664"/>
            <a:ext cx="3229410" cy="1215717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 err="1"/>
              <a:t>Môi</a:t>
            </a:r>
            <a:r>
              <a:rPr sz="1400" dirty="0"/>
              <a:t> </a:t>
            </a:r>
            <a:r>
              <a:rPr sz="1400" dirty="0" err="1"/>
              <a:t>trường</a:t>
            </a:r>
            <a:r>
              <a:rPr sz="1400" dirty="0"/>
              <a:t>: </a:t>
            </a:r>
            <a:r>
              <a:rPr sz="1400" b="1" dirty="0">
                <a:solidFill>
                  <a:srgbClr val="0F172A"/>
                </a:solidFill>
              </a:rPr>
              <a:t>Node.js v20 &amp; Express.js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 err="1"/>
              <a:t>Cơ</a:t>
            </a:r>
            <a:r>
              <a:rPr sz="1400" dirty="0"/>
              <a:t> </a:t>
            </a:r>
            <a:r>
              <a:rPr sz="1400" dirty="0" err="1"/>
              <a:t>sở</a:t>
            </a:r>
            <a:r>
              <a:rPr sz="1400" dirty="0"/>
              <a:t> </a:t>
            </a:r>
            <a:r>
              <a:rPr sz="1400" dirty="0" err="1"/>
              <a:t>dữ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: </a:t>
            </a:r>
            <a:r>
              <a:rPr sz="1400" b="1" dirty="0">
                <a:solidFill>
                  <a:srgbClr val="0F172A"/>
                </a:solidFill>
              </a:rPr>
              <a:t>MongoDB &amp; Mongoose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 err="1"/>
              <a:t>Thời</a:t>
            </a:r>
            <a:r>
              <a:rPr sz="1400" dirty="0"/>
              <a:t> </a:t>
            </a:r>
            <a:r>
              <a:rPr sz="1400" dirty="0" err="1"/>
              <a:t>gian</a:t>
            </a:r>
            <a:r>
              <a:rPr sz="1400" dirty="0"/>
              <a:t> </a:t>
            </a:r>
            <a:r>
              <a:rPr sz="1400" dirty="0" err="1"/>
              <a:t>thực</a:t>
            </a:r>
            <a:r>
              <a:rPr sz="1400" dirty="0"/>
              <a:t>: </a:t>
            </a:r>
            <a:r>
              <a:rPr sz="1400" b="1" dirty="0">
                <a:solidFill>
                  <a:srgbClr val="0F172A"/>
                </a:solidFill>
              </a:rPr>
              <a:t>Socket.io </a:t>
            </a:r>
            <a:r>
              <a:rPr sz="1400" b="1" dirty="0" err="1">
                <a:solidFill>
                  <a:srgbClr val="0F172A"/>
                </a:solidFill>
              </a:rPr>
              <a:t>WebSockets</a:t>
            </a:r>
            <a:endParaRPr sz="1400" b="1" dirty="0">
              <a:solidFill>
                <a:srgbClr val="0F172A"/>
              </a:solidFill>
            </a:endParaRP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sz="1400" dirty="0" err="1"/>
              <a:t>Xác</a:t>
            </a:r>
            <a:r>
              <a:rPr sz="1400" dirty="0"/>
              <a:t> </a:t>
            </a:r>
            <a:r>
              <a:rPr sz="1400" dirty="0" err="1"/>
              <a:t>thực</a:t>
            </a:r>
            <a:r>
              <a:rPr sz="1400" dirty="0"/>
              <a:t>: </a:t>
            </a:r>
            <a:r>
              <a:rPr sz="1400" b="1" dirty="0">
                <a:solidFill>
                  <a:srgbClr val="0F172A"/>
                </a:solidFill>
              </a:rPr>
              <a:t>JWT Bearer &amp; </a:t>
            </a:r>
            <a:r>
              <a:rPr sz="1400" b="1" dirty="0" err="1">
                <a:solidFill>
                  <a:srgbClr val="0F172A"/>
                </a:solidFill>
              </a:rPr>
              <a:t>Bcrypt</a:t>
            </a:r>
            <a:endParaRPr sz="1400" b="1" dirty="0">
              <a:solidFill>
                <a:srgbClr val="0F172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| Sinh viên: Nguyễn Hoàng Hưng – 501250384 (K25)                                 Trang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37744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CHƯƠNG 1: GIỚI THIỆU TỔNG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Segoe UI"/>
              </a:defRPr>
            </a:pPr>
            <a:r>
              <a:t>Thực Trạng F&amp;B &amp; Mục Tiêu Hệ Thống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Chuyển đổi quy trình thủ công sang tự động hóa thông minh với Back-End tập trung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| Sinh viên: Nguyễn Hoàng Hưng – 501250384 (K25)                                 Trang 2/13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2120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250" b="1">
                <a:solidFill>
                  <a:srgbClr val="DC2626"/>
                </a:solidFill>
                <a:latin typeface="Segoe UI"/>
              </a:defRPr>
            </a:pPr>
            <a:r>
              <a:rPr sz="1400" dirty="0"/>
              <a:t>⚠️ 4 BẤT CẬP QUY TRÌNH TRUYỀN THỐNG</a:t>
            </a:r>
          </a:p>
          <a:p>
            <a:pPr>
              <a:spcBef>
                <a:spcPts val="10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</a:t>
            </a:r>
            <a:r>
              <a:rPr sz="1400" dirty="0" err="1"/>
              <a:t>Tắc</a:t>
            </a:r>
            <a:r>
              <a:rPr sz="1400" dirty="0"/>
              <a:t> </a:t>
            </a:r>
            <a:r>
              <a:rPr sz="1400" dirty="0" err="1"/>
              <a:t>nghẽn</a:t>
            </a:r>
            <a:r>
              <a:rPr sz="1400" dirty="0"/>
              <a:t> </a:t>
            </a:r>
            <a:r>
              <a:rPr sz="1400" dirty="0" err="1"/>
              <a:t>giờ</a:t>
            </a:r>
            <a:r>
              <a:rPr sz="1400" dirty="0"/>
              <a:t> </a:t>
            </a:r>
            <a:r>
              <a:rPr sz="1400" dirty="0" err="1"/>
              <a:t>cao</a:t>
            </a:r>
            <a:r>
              <a:rPr sz="1400" dirty="0"/>
              <a:t> </a:t>
            </a:r>
            <a:r>
              <a:rPr sz="1400" dirty="0" err="1"/>
              <a:t>điểm</a:t>
            </a:r>
            <a:r>
              <a:rPr sz="1400" dirty="0"/>
              <a:t>: </a:t>
            </a:r>
            <a:r>
              <a:rPr sz="1400" b="0" dirty="0" err="1">
                <a:solidFill>
                  <a:srgbClr val="475569"/>
                </a:solidFill>
              </a:rPr>
              <a:t>Ghi</a:t>
            </a:r>
            <a:r>
              <a:rPr sz="1400" b="0" dirty="0">
                <a:solidFill>
                  <a:srgbClr val="475569"/>
                </a:solidFill>
              </a:rPr>
              <a:t> bill </a:t>
            </a:r>
            <a:r>
              <a:rPr sz="1400" b="0" dirty="0" err="1">
                <a:solidFill>
                  <a:srgbClr val="475569"/>
                </a:solidFill>
              </a:rPr>
              <a:t>giấy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chậm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trễ</a:t>
            </a:r>
            <a:r>
              <a:rPr sz="1400" b="0" dirty="0">
                <a:solidFill>
                  <a:srgbClr val="475569"/>
                </a:solidFill>
              </a:rPr>
              <a:t>, </a:t>
            </a:r>
            <a:r>
              <a:rPr sz="1400" b="0" dirty="0" err="1">
                <a:solidFill>
                  <a:srgbClr val="475569"/>
                </a:solidFill>
              </a:rPr>
              <a:t>khách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chờ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lâu</a:t>
            </a:r>
            <a:r>
              <a:rPr sz="1400" b="0" dirty="0">
                <a:solidFill>
                  <a:srgbClr val="475569"/>
                </a:solidFill>
              </a:rPr>
              <a:t>, </a:t>
            </a:r>
            <a:r>
              <a:rPr sz="1400" b="0" dirty="0" err="1">
                <a:solidFill>
                  <a:srgbClr val="475569"/>
                </a:solidFill>
              </a:rPr>
              <a:t>giảm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vòng</a:t>
            </a:r>
            <a:r>
              <a:rPr sz="1400" b="0" dirty="0">
                <a:solidFill>
                  <a:srgbClr val="475569"/>
                </a:solidFill>
              </a:rPr>
              <a:t> quay </a:t>
            </a:r>
            <a:r>
              <a:rPr sz="1400" b="0" dirty="0" err="1">
                <a:solidFill>
                  <a:srgbClr val="475569"/>
                </a:solidFill>
              </a:rPr>
              <a:t>bàn</a:t>
            </a:r>
            <a:r>
              <a:rPr sz="14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0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Sai </a:t>
            </a:r>
            <a:r>
              <a:rPr sz="1400" dirty="0" err="1"/>
              <a:t>sót</a:t>
            </a:r>
            <a:r>
              <a:rPr sz="1400" dirty="0"/>
              <a:t> </a:t>
            </a:r>
            <a:r>
              <a:rPr sz="1400" dirty="0" err="1"/>
              <a:t>khi</a:t>
            </a:r>
            <a:r>
              <a:rPr sz="1400" dirty="0"/>
              <a:t> </a:t>
            </a:r>
            <a:r>
              <a:rPr sz="1400" dirty="0" err="1"/>
              <a:t>truyền</a:t>
            </a:r>
            <a:r>
              <a:rPr sz="1400" dirty="0"/>
              <a:t> </a:t>
            </a:r>
            <a:r>
              <a:rPr sz="1400" dirty="0" err="1"/>
              <a:t>đạt</a:t>
            </a:r>
            <a:r>
              <a:rPr sz="1400" dirty="0"/>
              <a:t>: </a:t>
            </a:r>
            <a:r>
              <a:rPr sz="1400" b="0" dirty="0" err="1">
                <a:solidFill>
                  <a:srgbClr val="475569"/>
                </a:solidFill>
              </a:rPr>
              <a:t>Chữ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viết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tay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khó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đọc</a:t>
            </a:r>
            <a:r>
              <a:rPr sz="1400" b="0" dirty="0">
                <a:solidFill>
                  <a:srgbClr val="475569"/>
                </a:solidFill>
              </a:rPr>
              <a:t>, </a:t>
            </a:r>
            <a:r>
              <a:rPr sz="1400" b="0" dirty="0" err="1">
                <a:solidFill>
                  <a:srgbClr val="475569"/>
                </a:solidFill>
              </a:rPr>
              <a:t>dễ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nhầm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món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và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quên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ghi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chú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chế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biến</a:t>
            </a:r>
            <a:r>
              <a:rPr sz="14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0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Thất </a:t>
            </a:r>
            <a:r>
              <a:rPr sz="1400" dirty="0" err="1"/>
              <a:t>thoát</a:t>
            </a:r>
            <a:r>
              <a:rPr sz="1400" dirty="0"/>
              <a:t> </a:t>
            </a:r>
            <a:r>
              <a:rPr sz="1400" dirty="0" err="1"/>
              <a:t>nguyên</a:t>
            </a:r>
            <a:r>
              <a:rPr sz="1400" dirty="0"/>
              <a:t> </a:t>
            </a:r>
            <a:r>
              <a:rPr sz="1400" dirty="0" err="1"/>
              <a:t>vật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: </a:t>
            </a:r>
            <a:r>
              <a:rPr sz="1400" b="0" dirty="0" err="1">
                <a:solidFill>
                  <a:srgbClr val="475569"/>
                </a:solidFill>
              </a:rPr>
              <a:t>Không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có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công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thức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định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lượng</a:t>
            </a:r>
            <a:r>
              <a:rPr sz="1400" b="0" dirty="0">
                <a:solidFill>
                  <a:srgbClr val="475569"/>
                </a:solidFill>
              </a:rPr>
              <a:t> (BOM) </a:t>
            </a:r>
            <a:r>
              <a:rPr sz="1400" b="0" dirty="0" err="1">
                <a:solidFill>
                  <a:srgbClr val="475569"/>
                </a:solidFill>
              </a:rPr>
              <a:t>gắn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liền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với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tồn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kho</a:t>
            </a:r>
            <a:r>
              <a:rPr sz="14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0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</a:t>
            </a:r>
            <a:r>
              <a:rPr sz="1400" dirty="0" err="1"/>
              <a:t>Thiếu</a:t>
            </a:r>
            <a:r>
              <a:rPr sz="1400" dirty="0"/>
              <a:t> </a:t>
            </a:r>
            <a:r>
              <a:rPr sz="1400" dirty="0" err="1"/>
              <a:t>số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 </a:t>
            </a:r>
            <a:r>
              <a:rPr sz="1400" dirty="0" err="1"/>
              <a:t>tức</a:t>
            </a:r>
            <a:r>
              <a:rPr sz="1400" dirty="0"/>
              <a:t> </a:t>
            </a:r>
            <a:r>
              <a:rPr sz="1400" dirty="0" err="1"/>
              <a:t>thời</a:t>
            </a:r>
            <a:r>
              <a:rPr sz="1400" dirty="0"/>
              <a:t>: </a:t>
            </a:r>
            <a:r>
              <a:rPr sz="1400" b="0" dirty="0" err="1">
                <a:solidFill>
                  <a:srgbClr val="475569"/>
                </a:solidFill>
              </a:rPr>
              <a:t>Không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nắm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được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doanh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số</a:t>
            </a:r>
            <a:r>
              <a:rPr sz="1400" b="0" dirty="0">
                <a:solidFill>
                  <a:srgbClr val="475569"/>
                </a:solidFill>
              </a:rPr>
              <a:t>, </a:t>
            </a:r>
            <a:r>
              <a:rPr sz="1400" b="0" dirty="0" err="1">
                <a:solidFill>
                  <a:srgbClr val="475569"/>
                </a:solidFill>
              </a:rPr>
              <a:t>tồn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kho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và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công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nợ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theo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thời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gian</a:t>
            </a:r>
            <a:r>
              <a:rPr sz="1400" b="0" dirty="0">
                <a:solidFill>
                  <a:srgbClr val="475569"/>
                </a:solidFill>
              </a:rPr>
              <a:t> </a:t>
            </a:r>
            <a:r>
              <a:rPr sz="1400" b="0" dirty="0" err="1">
                <a:solidFill>
                  <a:srgbClr val="475569"/>
                </a:solidFill>
              </a:rPr>
              <a:t>thực</a:t>
            </a:r>
            <a:r>
              <a:rPr sz="1400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250" b="1">
                <a:solidFill>
                  <a:srgbClr val="059669"/>
                </a:solidFill>
                <a:latin typeface="Segoe UI"/>
              </a:defRPr>
            </a:pPr>
            <a:r>
              <a:rPr sz="1400" dirty="0"/>
              <a:t>🎯 </a:t>
            </a:r>
            <a:r>
              <a:rPr lang="en-US" sz="1400" dirty="0"/>
              <a:t>3</a:t>
            </a:r>
            <a:r>
              <a:rPr sz="1400" dirty="0"/>
              <a:t> MỤC TIÊU GIẢI PHÁP ROYAL BISTRO</a:t>
            </a:r>
          </a:p>
          <a:p>
            <a:pPr>
              <a:spcBef>
                <a:spcPts val="10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</a:t>
            </a:r>
            <a:r>
              <a:rPr sz="1600" dirty="0" err="1"/>
              <a:t>Đồng</a:t>
            </a:r>
            <a:r>
              <a:rPr sz="1600" dirty="0"/>
              <a:t> </a:t>
            </a:r>
            <a:r>
              <a:rPr sz="1600" dirty="0" err="1"/>
              <a:t>bộ</a:t>
            </a:r>
            <a:r>
              <a:rPr sz="1600" dirty="0"/>
              <a:t> Realtime &lt;50ms: </a:t>
            </a:r>
            <a:r>
              <a:rPr sz="1600" b="0" dirty="0" err="1">
                <a:solidFill>
                  <a:srgbClr val="475569"/>
                </a:solidFill>
              </a:rPr>
              <a:t>Truyền</a:t>
            </a:r>
            <a:r>
              <a:rPr sz="1600" b="0" dirty="0">
                <a:solidFill>
                  <a:srgbClr val="475569"/>
                </a:solidFill>
              </a:rPr>
              <a:t> order </a:t>
            </a:r>
            <a:r>
              <a:rPr sz="1600" b="0" dirty="0" err="1">
                <a:solidFill>
                  <a:srgbClr val="475569"/>
                </a:solidFill>
              </a:rPr>
              <a:t>ngay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tức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thì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từ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bàn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ăn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xuống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màn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hình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Bếp</a:t>
            </a:r>
            <a:r>
              <a:rPr sz="1600" b="0" dirty="0">
                <a:solidFill>
                  <a:srgbClr val="475569"/>
                </a:solidFill>
              </a:rPr>
              <a:t> KDS.</a:t>
            </a:r>
          </a:p>
          <a:p>
            <a:pPr>
              <a:spcBef>
                <a:spcPts val="10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</a:t>
            </a:r>
            <a:r>
              <a:rPr sz="1600" dirty="0" err="1"/>
              <a:t>Tự</a:t>
            </a:r>
            <a:r>
              <a:rPr sz="1600" dirty="0"/>
              <a:t> </a:t>
            </a:r>
            <a:r>
              <a:rPr sz="1600" dirty="0" err="1"/>
              <a:t>động</a:t>
            </a:r>
            <a:r>
              <a:rPr sz="1600" dirty="0"/>
              <a:t> </a:t>
            </a:r>
            <a:r>
              <a:rPr sz="1600" dirty="0" err="1"/>
              <a:t>trừ</a:t>
            </a:r>
            <a:r>
              <a:rPr sz="1600" dirty="0"/>
              <a:t> </a:t>
            </a:r>
            <a:r>
              <a:rPr sz="1600" dirty="0" err="1"/>
              <a:t>kho</a:t>
            </a:r>
            <a:r>
              <a:rPr sz="1600" dirty="0"/>
              <a:t> </a:t>
            </a:r>
            <a:r>
              <a:rPr sz="1600" dirty="0" err="1"/>
              <a:t>theo</a:t>
            </a:r>
            <a:r>
              <a:rPr sz="1600" dirty="0"/>
              <a:t> BOM: </a:t>
            </a:r>
            <a:r>
              <a:rPr sz="1600" b="0" dirty="0" err="1">
                <a:solidFill>
                  <a:srgbClr val="475569"/>
                </a:solidFill>
              </a:rPr>
              <a:t>Thuật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toán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trừ</a:t>
            </a:r>
            <a:r>
              <a:rPr sz="1600" b="0" dirty="0">
                <a:solidFill>
                  <a:srgbClr val="475569"/>
                </a:solidFill>
              </a:rPr>
              <a:t> hao </a:t>
            </a:r>
            <a:r>
              <a:rPr sz="1600" b="0" dirty="0" err="1">
                <a:solidFill>
                  <a:srgbClr val="475569"/>
                </a:solidFill>
              </a:rPr>
              <a:t>phí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nguyên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liệu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chuẩn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xác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khi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bếp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nấu</a:t>
            </a:r>
            <a:r>
              <a:rPr sz="16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0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Thanh </a:t>
            </a:r>
            <a:r>
              <a:rPr sz="1600" dirty="0" err="1"/>
              <a:t>toán</a:t>
            </a:r>
            <a:r>
              <a:rPr sz="1600" dirty="0"/>
              <a:t> QR &amp; CRM: </a:t>
            </a:r>
            <a:r>
              <a:rPr sz="1600" b="0" dirty="0">
                <a:solidFill>
                  <a:srgbClr val="475569"/>
                </a:solidFill>
              </a:rPr>
              <a:t>Sinh </a:t>
            </a:r>
            <a:r>
              <a:rPr sz="1600" b="0" dirty="0" err="1">
                <a:solidFill>
                  <a:srgbClr val="475569"/>
                </a:solidFill>
              </a:rPr>
              <a:t>mã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VietQR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động</a:t>
            </a:r>
            <a:r>
              <a:rPr sz="1600" b="0" dirty="0">
                <a:solidFill>
                  <a:srgbClr val="475569"/>
                </a:solidFill>
              </a:rPr>
              <a:t>, </a:t>
            </a:r>
            <a:r>
              <a:rPr sz="1600" b="0" dirty="0" err="1">
                <a:solidFill>
                  <a:srgbClr val="475569"/>
                </a:solidFill>
              </a:rPr>
              <a:t>tự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động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tích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lũy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điểm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thưởng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hội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viên</a:t>
            </a:r>
            <a:r>
              <a:rPr sz="1600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4924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👑 Quản trị viên (Admin)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Toàn quyền thực đơn, kho, nhân sự, báo cáo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534924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💳 Thu ngân / Phục vụ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Mở bàn, tiếp nhận order POS, thanh toán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534924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defRPr sz="1000" b="1">
                <a:solidFill>
                  <a:srgbClr val="D97706"/>
                </a:solidFill>
                <a:latin typeface="Segoe UI"/>
              </a:defRPr>
            </a:pPr>
            <a:r>
              <a:t>🍳 Đầu bếp (Kitchen/Chef)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Xem hàng đợi KDS, nấu món, kích hoạt trừ kho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78824" y="5349240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📱 Khách hàng (Customer)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Segoe UI"/>
              </a:defRPr>
            </a:pPr>
            <a:r>
              <a:t>Quét mã QR tại bàn, xem menu, gọi món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3291840" cy="237744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CHƯƠNG 1 &amp; 2: CÔNG NGHỆ &amp; KIẾN TRÚC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Segoe UI"/>
              </a:defRPr>
            </a:pPr>
            <a:r>
              <a:t>Công Nghệ Cốt Lõi &amp; Sơ Đồ Kiến Trúc Tổng Thể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Kiến trúc máy chủ Client-Server phân tầng, xử lý Non-blocking I/O và WebSocket hai chiều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| Sinh viên: Nguyễn Hoàng Hưng – 501250384 (K25)                                 Trang 3/13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sz="1600"/>
              <a:t>🟢 Node.js v20 &amp; Express v4.19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rPr sz="1200"/>
              <a:t>Non-blocking I/O, Event-driven, định tuyến RESTful API cực nhanh, chịu tải cao.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32888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sz="1600"/>
              <a:t>🍃 MongoDB v7.0 &amp; Mongoose v8.3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rPr sz="1200"/>
              <a:t>NoSQL linh hoạt, 12 Collections chuẩn hóa, đồng nhất dữ liệu JSON từ CSDL đến Client.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31335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sz="1600"/>
              <a:t>⚡ Socket.io v4.7 Realtime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rPr sz="1200"/>
              <a:t>Kênh truyền thông WebSocket 2 chiều, phản hồi tức thời (&lt;50ms) giữa POS và Bếp KDS.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9783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sz="1600"/>
              <a:t>🔐 JWT &amp; Bcrypt (10 Rounds)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rPr sz="1200"/>
              <a:t>Xác thực phi trạng thái (Stateless), băm mật khẩu một chiều, phân quyền RBAC đa cấp.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234440"/>
            <a:ext cx="579089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75606" y="1905844"/>
            <a:ext cx="56845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sz="1600" dirty="0" err="1"/>
              <a:t>Sơ</a:t>
            </a:r>
            <a:r>
              <a:rPr sz="1600" dirty="0"/>
              <a:t> </a:t>
            </a:r>
            <a:r>
              <a:rPr sz="1600" dirty="0" err="1"/>
              <a:t>đồ</a:t>
            </a:r>
            <a:r>
              <a:rPr sz="1600" dirty="0"/>
              <a:t> </a:t>
            </a:r>
            <a:r>
              <a:rPr sz="1600" dirty="0" err="1"/>
              <a:t>kiến</a:t>
            </a:r>
            <a:r>
              <a:rPr sz="1600" dirty="0"/>
              <a:t> </a:t>
            </a:r>
            <a:r>
              <a:rPr sz="1600" dirty="0" err="1"/>
              <a:t>trúc</a:t>
            </a:r>
            <a:r>
              <a:rPr sz="1600" dirty="0"/>
              <a:t> </a:t>
            </a:r>
            <a:r>
              <a:rPr sz="1600" dirty="0" err="1"/>
              <a:t>tổng</a:t>
            </a:r>
            <a:r>
              <a:rPr sz="1600" dirty="0"/>
              <a:t> </a:t>
            </a:r>
            <a:r>
              <a:rPr sz="1600" dirty="0" err="1"/>
              <a:t>thể</a:t>
            </a:r>
            <a:r>
              <a:rPr sz="1600" dirty="0"/>
              <a:t> </a:t>
            </a:r>
            <a:r>
              <a:rPr sz="1600" dirty="0" err="1"/>
              <a:t>hệ</a:t>
            </a:r>
            <a:r>
              <a:rPr sz="1600" dirty="0"/>
              <a:t> </a:t>
            </a:r>
            <a:r>
              <a:rPr sz="1600" dirty="0" err="1"/>
              <a:t>thống</a:t>
            </a:r>
            <a:r>
              <a:rPr sz="1600" dirty="0"/>
              <a:t> Royal Bistro (</a:t>
            </a:r>
            <a:r>
              <a:rPr sz="1600" dirty="0" err="1"/>
              <a:t>Hình</a:t>
            </a:r>
            <a:r>
              <a:rPr sz="1600" dirty="0"/>
              <a:t> 2.1)</a:t>
            </a:r>
          </a:p>
        </p:txBody>
      </p:sp>
      <p:pic>
        <p:nvPicPr>
          <p:cNvPr id="14" name="Picture 13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39" y="2415898"/>
            <a:ext cx="5516575" cy="28308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743200" cy="237744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CHƯƠNG 2: CƠ SỞ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Segoe UI"/>
              </a:defRPr>
            </a:pPr>
            <a:r>
              <a:t>Thiết Kế Cơ Sở Dữ Liệu NoSQL 12 Collections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Tối ưu hóa cấu trúc dữ liệu NoSQL với Mongoose ODM, giải quyết triệt để quan hệ định mức n-n (BOM)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| Sinh viên: Nguyễn Hoàng Hưng – 501250384 (K25)                                 Trang 5/13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4754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200" b="1">
                <a:solidFill>
                  <a:srgbClr val="1E3A8A"/>
                </a:solidFill>
                <a:latin typeface="Segoe UI"/>
              </a:defRPr>
            </a:pPr>
            <a:r>
              <a:rPr sz="1400" dirty="0"/>
              <a:t>🗄️ 4 NHÓM THỰC THỂ DỮ LIỆU CHÍNH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  <a:latin typeface="Segoe UI"/>
              </a:defRPr>
            </a:pPr>
            <a:r>
              <a:rPr sz="1600" dirty="0"/>
              <a:t>• 1. </a:t>
            </a:r>
            <a:r>
              <a:rPr sz="1600" dirty="0" err="1"/>
              <a:t>Người</a:t>
            </a:r>
            <a:r>
              <a:rPr sz="1600" dirty="0"/>
              <a:t> </a:t>
            </a:r>
            <a:r>
              <a:rPr sz="1600" dirty="0" err="1"/>
              <a:t>Dùng</a:t>
            </a:r>
            <a:r>
              <a:rPr sz="1600" dirty="0"/>
              <a:t> &amp; </a:t>
            </a:r>
            <a:r>
              <a:rPr sz="1600" dirty="0" err="1"/>
              <a:t>Bàn</a:t>
            </a:r>
            <a:r>
              <a:rPr sz="1600" dirty="0"/>
              <a:t> </a:t>
            </a:r>
            <a:r>
              <a:rPr sz="1600" dirty="0" err="1"/>
              <a:t>Ăn</a:t>
            </a:r>
            <a:r>
              <a:rPr sz="1600" dirty="0"/>
              <a:t>: </a:t>
            </a:r>
            <a:r>
              <a:rPr sz="1600" b="0" dirty="0" err="1">
                <a:solidFill>
                  <a:srgbClr val="475569"/>
                </a:solidFill>
              </a:rPr>
              <a:t>NguoiDung</a:t>
            </a:r>
            <a:r>
              <a:rPr sz="1600" b="0" dirty="0">
                <a:solidFill>
                  <a:srgbClr val="475569"/>
                </a:solidFill>
              </a:rPr>
              <a:t> (Admin, Cashier, Kitchen), </a:t>
            </a:r>
            <a:r>
              <a:rPr sz="1600" b="0" dirty="0" err="1">
                <a:solidFill>
                  <a:srgbClr val="475569"/>
                </a:solidFill>
              </a:rPr>
              <a:t>BanAn</a:t>
            </a:r>
            <a:r>
              <a:rPr sz="1600" b="0" dirty="0">
                <a:solidFill>
                  <a:srgbClr val="475569"/>
                </a:solidFill>
              </a:rPr>
              <a:t> &amp; </a:t>
            </a:r>
            <a:r>
              <a:rPr sz="1600" b="0" dirty="0" err="1">
                <a:solidFill>
                  <a:srgbClr val="475569"/>
                </a:solidFill>
              </a:rPr>
              <a:t>KhuVuc</a:t>
            </a:r>
            <a:r>
              <a:rPr sz="1600" b="0" dirty="0">
                <a:solidFill>
                  <a:srgbClr val="475569"/>
                </a:solidFill>
              </a:rPr>
              <a:t> (</a:t>
            </a:r>
            <a:r>
              <a:rPr sz="1600" b="0" dirty="0" err="1">
                <a:solidFill>
                  <a:srgbClr val="475569"/>
                </a:solidFill>
              </a:rPr>
              <a:t>Sơ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đồ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mặt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bằng</a:t>
            </a:r>
            <a:r>
              <a:rPr sz="1600" b="0" dirty="0">
                <a:solidFill>
                  <a:srgbClr val="475569"/>
                </a:solidFill>
              </a:rPr>
              <a:t>, </a:t>
            </a:r>
            <a:r>
              <a:rPr sz="1600" b="0" dirty="0" err="1">
                <a:solidFill>
                  <a:srgbClr val="475569"/>
                </a:solidFill>
              </a:rPr>
              <a:t>trạng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thái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bàn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động</a:t>
            </a:r>
            <a:r>
              <a:rPr sz="1600" b="0" dirty="0">
                <a:solidFill>
                  <a:srgbClr val="475569"/>
                </a:solidFill>
              </a:rPr>
              <a:t>).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  <a:latin typeface="Segoe UI"/>
              </a:defRPr>
            </a:pPr>
            <a:r>
              <a:rPr sz="1600" dirty="0"/>
              <a:t>• 2. </a:t>
            </a:r>
            <a:r>
              <a:rPr sz="1600" dirty="0" err="1"/>
              <a:t>Thực</a:t>
            </a:r>
            <a:r>
              <a:rPr sz="1600" dirty="0"/>
              <a:t> </a:t>
            </a:r>
            <a:r>
              <a:rPr sz="1600" dirty="0" err="1"/>
              <a:t>Đơn</a:t>
            </a:r>
            <a:r>
              <a:rPr sz="1600" dirty="0"/>
              <a:t> &amp; </a:t>
            </a:r>
            <a:r>
              <a:rPr sz="1600" dirty="0" err="1"/>
              <a:t>Gọi</a:t>
            </a:r>
            <a:r>
              <a:rPr sz="1600" dirty="0"/>
              <a:t> </a:t>
            </a:r>
            <a:r>
              <a:rPr sz="1600" dirty="0" err="1"/>
              <a:t>Món</a:t>
            </a:r>
            <a:r>
              <a:rPr sz="1600" dirty="0"/>
              <a:t>: </a:t>
            </a:r>
            <a:r>
              <a:rPr sz="1600" b="0" dirty="0" err="1">
                <a:solidFill>
                  <a:srgbClr val="475569"/>
                </a:solidFill>
              </a:rPr>
              <a:t>MonAn</a:t>
            </a:r>
            <a:r>
              <a:rPr sz="1600" b="0" dirty="0">
                <a:solidFill>
                  <a:srgbClr val="475569"/>
                </a:solidFill>
              </a:rPr>
              <a:t>, </a:t>
            </a:r>
            <a:r>
              <a:rPr sz="1600" b="0" dirty="0" err="1">
                <a:solidFill>
                  <a:srgbClr val="475569"/>
                </a:solidFill>
              </a:rPr>
              <a:t>LoaiMon</a:t>
            </a:r>
            <a:r>
              <a:rPr sz="1600" b="0" dirty="0">
                <a:solidFill>
                  <a:srgbClr val="475569"/>
                </a:solidFill>
              </a:rPr>
              <a:t> (Danh </a:t>
            </a:r>
            <a:r>
              <a:rPr sz="1600" b="0" dirty="0" err="1">
                <a:solidFill>
                  <a:srgbClr val="475569"/>
                </a:solidFill>
              </a:rPr>
              <a:t>mục</a:t>
            </a:r>
            <a:r>
              <a:rPr sz="1600" b="0" dirty="0">
                <a:solidFill>
                  <a:srgbClr val="475569"/>
                </a:solidFill>
              </a:rPr>
              <a:t> &amp; </a:t>
            </a:r>
            <a:r>
              <a:rPr sz="1600" b="0" dirty="0" err="1">
                <a:solidFill>
                  <a:srgbClr val="475569"/>
                </a:solidFill>
              </a:rPr>
              <a:t>giá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bán</a:t>
            </a:r>
            <a:r>
              <a:rPr sz="1600" b="0" dirty="0">
                <a:solidFill>
                  <a:srgbClr val="475569"/>
                </a:solidFill>
              </a:rPr>
              <a:t>), </a:t>
            </a:r>
            <a:r>
              <a:rPr sz="1600" b="0" dirty="0" err="1">
                <a:solidFill>
                  <a:srgbClr val="475569"/>
                </a:solidFill>
              </a:rPr>
              <a:t>DatMon</a:t>
            </a:r>
            <a:r>
              <a:rPr sz="1600" b="0" dirty="0">
                <a:solidFill>
                  <a:srgbClr val="475569"/>
                </a:solidFill>
              </a:rPr>
              <a:t> (Chi </a:t>
            </a:r>
            <a:r>
              <a:rPr sz="1600" b="0" dirty="0" err="1">
                <a:solidFill>
                  <a:srgbClr val="475569"/>
                </a:solidFill>
              </a:rPr>
              <a:t>tiết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gọi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món</a:t>
            </a:r>
            <a:r>
              <a:rPr sz="1600" b="0" dirty="0">
                <a:solidFill>
                  <a:srgbClr val="475569"/>
                </a:solidFill>
              </a:rPr>
              <a:t> POS, </a:t>
            </a:r>
            <a:r>
              <a:rPr sz="1600" b="0" dirty="0" err="1">
                <a:solidFill>
                  <a:srgbClr val="475569"/>
                </a:solidFill>
              </a:rPr>
              <a:t>ghi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chú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đặc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biệt</a:t>
            </a:r>
            <a:r>
              <a:rPr sz="1600" b="0" dirty="0">
                <a:solidFill>
                  <a:srgbClr val="475569"/>
                </a:solidFill>
              </a:rPr>
              <a:t>).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  <a:latin typeface="Segoe UI"/>
              </a:defRPr>
            </a:pPr>
            <a:r>
              <a:rPr sz="1600" dirty="0"/>
              <a:t>• 3. Kho &amp; Công </a:t>
            </a:r>
            <a:r>
              <a:rPr sz="1600" dirty="0" err="1"/>
              <a:t>Thức</a:t>
            </a:r>
            <a:r>
              <a:rPr sz="1600" dirty="0"/>
              <a:t> BOM: </a:t>
            </a:r>
            <a:r>
              <a:rPr sz="1600" b="0" dirty="0" err="1">
                <a:solidFill>
                  <a:srgbClr val="475569"/>
                </a:solidFill>
              </a:rPr>
              <a:t>NguyenLieu</a:t>
            </a:r>
            <a:r>
              <a:rPr sz="1600" b="0" dirty="0">
                <a:solidFill>
                  <a:srgbClr val="475569"/>
                </a:solidFill>
              </a:rPr>
              <a:t> (</a:t>
            </a:r>
            <a:r>
              <a:rPr sz="1600" b="0" dirty="0" err="1">
                <a:solidFill>
                  <a:srgbClr val="475569"/>
                </a:solidFill>
              </a:rPr>
              <a:t>Tồn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kho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thực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tế</a:t>
            </a:r>
            <a:r>
              <a:rPr sz="1600" b="0" dirty="0">
                <a:solidFill>
                  <a:srgbClr val="475569"/>
                </a:solidFill>
              </a:rPr>
              <a:t>), </a:t>
            </a:r>
            <a:r>
              <a:rPr sz="1600" b="0" dirty="0" err="1">
                <a:solidFill>
                  <a:srgbClr val="475569"/>
                </a:solidFill>
              </a:rPr>
              <a:t>MonAnNguyenLieu</a:t>
            </a:r>
            <a:r>
              <a:rPr sz="1600" b="0" dirty="0">
                <a:solidFill>
                  <a:srgbClr val="475569"/>
                </a:solidFill>
              </a:rPr>
              <a:t> (</a:t>
            </a:r>
            <a:r>
              <a:rPr sz="1600" b="0" dirty="0" err="1">
                <a:solidFill>
                  <a:srgbClr val="475569"/>
                </a:solidFill>
              </a:rPr>
              <a:t>Bảng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định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lượng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liên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kết</a:t>
            </a:r>
            <a:r>
              <a:rPr sz="1600" b="0" dirty="0">
                <a:solidFill>
                  <a:srgbClr val="475569"/>
                </a:solidFill>
              </a:rPr>
              <a:t> n-n </a:t>
            </a:r>
            <a:r>
              <a:rPr sz="1600" b="0" dirty="0" err="1">
                <a:solidFill>
                  <a:srgbClr val="475569"/>
                </a:solidFill>
              </a:rPr>
              <a:t>trừ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kho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tự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động</a:t>
            </a:r>
            <a:r>
              <a:rPr sz="1600" b="0" dirty="0">
                <a:solidFill>
                  <a:srgbClr val="475569"/>
                </a:solidFill>
              </a:rPr>
              <a:t>).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  <a:latin typeface="Segoe UI"/>
              </a:defRPr>
            </a:pPr>
            <a:r>
              <a:rPr sz="1600" dirty="0"/>
              <a:t>• 4. </a:t>
            </a:r>
            <a:r>
              <a:rPr sz="1600" dirty="0" err="1"/>
              <a:t>Đặt</a:t>
            </a:r>
            <a:r>
              <a:rPr sz="1600" dirty="0"/>
              <a:t> </a:t>
            </a:r>
            <a:r>
              <a:rPr sz="1600" dirty="0" err="1"/>
              <a:t>Bàn</a:t>
            </a:r>
            <a:r>
              <a:rPr sz="1600" dirty="0"/>
              <a:t>, </a:t>
            </a:r>
            <a:r>
              <a:rPr sz="1600" dirty="0" err="1"/>
              <a:t>Hóa</a:t>
            </a:r>
            <a:r>
              <a:rPr sz="1600" dirty="0"/>
              <a:t> </a:t>
            </a:r>
            <a:r>
              <a:rPr sz="1600" dirty="0" err="1"/>
              <a:t>Đơn</a:t>
            </a:r>
            <a:r>
              <a:rPr sz="1600" dirty="0"/>
              <a:t> &amp; CRM: </a:t>
            </a:r>
            <a:r>
              <a:rPr sz="1600" b="0" dirty="0" err="1">
                <a:solidFill>
                  <a:srgbClr val="475569"/>
                </a:solidFill>
              </a:rPr>
              <a:t>DatBan</a:t>
            </a:r>
            <a:r>
              <a:rPr sz="1600" b="0" dirty="0">
                <a:solidFill>
                  <a:srgbClr val="475569"/>
                </a:solidFill>
              </a:rPr>
              <a:t> (</a:t>
            </a:r>
            <a:r>
              <a:rPr sz="1600" b="0" dirty="0" err="1">
                <a:solidFill>
                  <a:srgbClr val="475569"/>
                </a:solidFill>
              </a:rPr>
              <a:t>Khách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hẹn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trước</a:t>
            </a:r>
            <a:r>
              <a:rPr sz="1600" b="0" dirty="0">
                <a:solidFill>
                  <a:srgbClr val="475569"/>
                </a:solidFill>
              </a:rPr>
              <a:t>), HoaDon (Thanh </a:t>
            </a:r>
            <a:r>
              <a:rPr sz="1600" b="0" dirty="0" err="1">
                <a:solidFill>
                  <a:srgbClr val="475569"/>
                </a:solidFill>
              </a:rPr>
              <a:t>toán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tiền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mặt</a:t>
            </a:r>
            <a:r>
              <a:rPr sz="1600" b="0" dirty="0">
                <a:solidFill>
                  <a:srgbClr val="475569"/>
                </a:solidFill>
              </a:rPr>
              <a:t>/</a:t>
            </a:r>
            <a:r>
              <a:rPr sz="1600" b="0" dirty="0" err="1">
                <a:solidFill>
                  <a:srgbClr val="475569"/>
                </a:solidFill>
              </a:rPr>
              <a:t>VietQR</a:t>
            </a:r>
            <a:r>
              <a:rPr sz="1600" b="0" dirty="0">
                <a:solidFill>
                  <a:srgbClr val="475569"/>
                </a:solidFill>
              </a:rPr>
              <a:t>), </a:t>
            </a:r>
            <a:r>
              <a:rPr sz="1600" b="0" dirty="0" err="1">
                <a:solidFill>
                  <a:srgbClr val="475569"/>
                </a:solidFill>
              </a:rPr>
              <a:t>KhachHang</a:t>
            </a:r>
            <a:r>
              <a:rPr sz="1600" b="0" dirty="0">
                <a:solidFill>
                  <a:srgbClr val="475569"/>
                </a:solidFill>
              </a:rPr>
              <a:t> (</a:t>
            </a:r>
            <a:r>
              <a:rPr sz="1600" b="0" dirty="0" err="1">
                <a:solidFill>
                  <a:srgbClr val="475569"/>
                </a:solidFill>
              </a:rPr>
              <a:t>Tích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điểm</a:t>
            </a:r>
            <a:r>
              <a:rPr sz="1600" b="0" dirty="0">
                <a:solidFill>
                  <a:srgbClr val="475569"/>
                </a:solidFill>
              </a:rPr>
              <a:t> loyalty).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34440"/>
            <a:ext cx="569945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21985" y="1966193"/>
            <a:ext cx="57166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sz="1400" dirty="0" err="1"/>
              <a:t>Sơ</a:t>
            </a:r>
            <a:r>
              <a:rPr sz="1400" dirty="0"/>
              <a:t> </a:t>
            </a:r>
            <a:r>
              <a:rPr sz="1400" dirty="0" err="1"/>
              <a:t>đồ</a:t>
            </a:r>
            <a:r>
              <a:rPr sz="1400" dirty="0"/>
              <a:t> </a:t>
            </a:r>
            <a:r>
              <a:rPr sz="1400" dirty="0" err="1"/>
              <a:t>thực</a:t>
            </a:r>
            <a:r>
              <a:rPr sz="1400" dirty="0"/>
              <a:t> </a:t>
            </a:r>
            <a:r>
              <a:rPr sz="1400" dirty="0" err="1"/>
              <a:t>thể</a:t>
            </a:r>
            <a:r>
              <a:rPr sz="1400" dirty="0"/>
              <a:t> </a:t>
            </a:r>
            <a:r>
              <a:rPr sz="1400" dirty="0" err="1"/>
              <a:t>quan</a:t>
            </a:r>
            <a:r>
              <a:rPr sz="1400" dirty="0"/>
              <a:t> </a:t>
            </a:r>
            <a:r>
              <a:rPr sz="1400" dirty="0" err="1"/>
              <a:t>hệ</a:t>
            </a:r>
            <a:r>
              <a:rPr sz="1400" dirty="0"/>
              <a:t> (ERD) 12 Collections MongoDB (</a:t>
            </a:r>
            <a:r>
              <a:rPr sz="1400" dirty="0" err="1"/>
              <a:t>Hình</a:t>
            </a:r>
            <a:r>
              <a:rPr sz="1400" dirty="0"/>
              <a:t> 2.5)</a:t>
            </a:r>
          </a:p>
        </p:txBody>
      </p:sp>
      <p:pic>
        <p:nvPicPr>
          <p:cNvPr id="11" name="Picture 10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985" y="2469113"/>
            <a:ext cx="5425135" cy="3044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3657600" cy="237744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CHƯƠNG 2: LUỒNG KHÁCH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Segoe UI"/>
              </a:defRPr>
            </a:pPr>
            <a:r>
              <a:t>Luồng Hoạt Động Của Khách Hàng: Đặt Món Tại Bàn &amp; Thanh Toán Số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Chu trình khép kín 4 bước: Quét mã QR ➔ Chọn món trực tuyến ➔ Nhận đơn Real-time ➔ Thanh toán VietQR &amp; Tích điểm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| Sinh viên: Nguyễn Hoàng Hưng – 501250384 (K25)                                 Trang 7/13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76072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rPr sz="1200" dirty="0"/>
              <a:t>📱 BƯỚC 1: QUÉT MÃ QR &amp; MỞ BÀN TỰ ĐỘNG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 dirty="0"/>
              <a:t>• </a:t>
            </a:r>
            <a:r>
              <a:rPr sz="1000" dirty="0" err="1"/>
              <a:t>Khách</a:t>
            </a:r>
            <a:r>
              <a:rPr sz="1000" dirty="0"/>
              <a:t> </a:t>
            </a:r>
            <a:r>
              <a:rPr sz="1000" dirty="0" err="1"/>
              <a:t>quét</a:t>
            </a:r>
            <a:r>
              <a:rPr sz="1000" dirty="0"/>
              <a:t> </a:t>
            </a:r>
            <a:r>
              <a:rPr sz="1000" dirty="0" err="1"/>
              <a:t>mã</a:t>
            </a:r>
            <a:r>
              <a:rPr sz="1000" dirty="0"/>
              <a:t> QR </a:t>
            </a:r>
            <a:r>
              <a:rPr sz="1000" dirty="0" err="1"/>
              <a:t>tại</a:t>
            </a:r>
            <a:r>
              <a:rPr sz="1000" dirty="0"/>
              <a:t> </a:t>
            </a:r>
            <a:r>
              <a:rPr sz="1000" dirty="0" err="1"/>
              <a:t>bàn</a:t>
            </a:r>
            <a:r>
              <a:rPr sz="1000" dirty="0"/>
              <a:t>: </a:t>
            </a:r>
            <a:r>
              <a:rPr sz="1000" b="0" dirty="0" err="1">
                <a:solidFill>
                  <a:srgbClr val="475569"/>
                </a:solidFill>
              </a:rPr>
              <a:t>Dùng</a:t>
            </a:r>
            <a:r>
              <a:rPr sz="1000" b="0" dirty="0">
                <a:solidFill>
                  <a:srgbClr val="475569"/>
                </a:solidFill>
              </a:rPr>
              <a:t> camera </a:t>
            </a:r>
            <a:r>
              <a:rPr sz="1000" b="0" dirty="0" err="1">
                <a:solidFill>
                  <a:srgbClr val="475569"/>
                </a:solidFill>
              </a:rPr>
              <a:t>điện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thoại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thông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minh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quét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mã</a:t>
            </a:r>
            <a:r>
              <a:rPr sz="1000" b="0" dirty="0">
                <a:solidFill>
                  <a:srgbClr val="475569"/>
                </a:solidFill>
              </a:rPr>
              <a:t> QR </a:t>
            </a:r>
            <a:r>
              <a:rPr sz="1000" b="0" dirty="0" err="1">
                <a:solidFill>
                  <a:srgbClr val="475569"/>
                </a:solidFill>
              </a:rPr>
              <a:t>định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danh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bàn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ăn</a:t>
            </a:r>
            <a:r>
              <a:rPr sz="1000" b="0" dirty="0">
                <a:solidFill>
                  <a:srgbClr val="475569"/>
                </a:solidFill>
              </a:rPr>
              <a:t> (</a:t>
            </a:r>
            <a:r>
              <a:rPr sz="1000" b="0" dirty="0" err="1">
                <a:solidFill>
                  <a:srgbClr val="475569"/>
                </a:solidFill>
              </a:rPr>
              <a:t>không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cần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cài</a:t>
            </a:r>
            <a:r>
              <a:rPr sz="1000" b="0" dirty="0">
                <a:solidFill>
                  <a:srgbClr val="475569"/>
                </a:solidFill>
              </a:rPr>
              <a:t> app).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 dirty="0"/>
              <a:t>• </a:t>
            </a:r>
            <a:r>
              <a:rPr sz="1000" dirty="0" err="1"/>
              <a:t>Nhận</a:t>
            </a:r>
            <a:r>
              <a:rPr sz="1000" dirty="0"/>
              <a:t> </a:t>
            </a:r>
            <a:r>
              <a:rPr sz="1000" dirty="0" err="1"/>
              <a:t>diện</a:t>
            </a:r>
            <a:r>
              <a:rPr sz="1000" dirty="0"/>
              <a:t> &amp; </a:t>
            </a:r>
            <a:r>
              <a:rPr sz="1000" dirty="0" err="1"/>
              <a:t>Khởi</a:t>
            </a:r>
            <a:r>
              <a:rPr sz="1000" dirty="0"/>
              <a:t> </a:t>
            </a:r>
            <a:r>
              <a:rPr sz="1000" dirty="0" err="1"/>
              <a:t>tạo</a:t>
            </a:r>
            <a:r>
              <a:rPr sz="1000" dirty="0"/>
              <a:t>: </a:t>
            </a:r>
            <a:r>
              <a:rPr sz="1000" b="0" dirty="0">
                <a:solidFill>
                  <a:srgbClr val="475569"/>
                </a:solidFill>
              </a:rPr>
              <a:t>Back-End </a:t>
            </a:r>
            <a:r>
              <a:rPr sz="1000" b="0" dirty="0" err="1">
                <a:solidFill>
                  <a:srgbClr val="475569"/>
                </a:solidFill>
              </a:rPr>
              <a:t>giải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mã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tableId</a:t>
            </a:r>
            <a:r>
              <a:rPr sz="1000" b="0" dirty="0">
                <a:solidFill>
                  <a:srgbClr val="475569"/>
                </a:solidFill>
              </a:rPr>
              <a:t>, </a:t>
            </a:r>
            <a:r>
              <a:rPr sz="1000" b="0" dirty="0" err="1">
                <a:solidFill>
                  <a:srgbClr val="475569"/>
                </a:solidFill>
              </a:rPr>
              <a:t>kiểm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tra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tính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hợp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lệ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và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chuyển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trạng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thái</a:t>
            </a:r>
            <a:r>
              <a:rPr sz="1000" b="0" dirty="0">
                <a:solidFill>
                  <a:srgbClr val="475569"/>
                </a:solidFill>
              </a:rPr>
              <a:t> </a:t>
            </a:r>
            <a:r>
              <a:rPr sz="1000" b="0" dirty="0" err="1">
                <a:solidFill>
                  <a:srgbClr val="475569"/>
                </a:solidFill>
              </a:rPr>
              <a:t>bàn</a:t>
            </a:r>
            <a:r>
              <a:rPr sz="1000" b="0" dirty="0">
                <a:solidFill>
                  <a:srgbClr val="475569"/>
                </a:solidFill>
              </a:rPr>
              <a:t> sang '</a:t>
            </a:r>
            <a:r>
              <a:rPr sz="1000" b="0" dirty="0" err="1">
                <a:solidFill>
                  <a:srgbClr val="475569"/>
                </a:solidFill>
              </a:rPr>
              <a:t>co_khach</a:t>
            </a:r>
            <a:r>
              <a:rPr sz="1000" b="0" dirty="0">
                <a:solidFill>
                  <a:srgbClr val="475569"/>
                </a:solidFill>
              </a:rPr>
              <a:t>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23744"/>
            <a:ext cx="576072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050" b="1">
                <a:solidFill>
                  <a:srgbClr val="0284C7"/>
                </a:solidFill>
                <a:latin typeface="Segoe UI"/>
              </a:defRPr>
            </a:pPr>
            <a:r>
              <a:rPr sz="1200"/>
              <a:t>📖 BƯỚC 2: DUYỆT THỰC ĐƠN SỐ &amp; TÙY CHỌN MÓN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Xem menu trực quan: </a:t>
            </a:r>
            <a:r>
              <a:rPr sz="1000" b="0">
                <a:solidFill>
                  <a:srgbClr val="475569"/>
                </a:solidFill>
              </a:rPr>
              <a:t>Duyệt danh mục món ăn (khai vị, món chính, đồ uống) với hình ảnh sắc nét &amp; giá niêm yết.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Cá nhân hóa khẩu vị: </a:t>
            </a:r>
            <a:r>
              <a:rPr sz="1000" b="0">
                <a:solidFill>
                  <a:srgbClr val="475569"/>
                </a:solidFill>
              </a:rPr>
              <a:t>Thêm món vào giỏ hàng và ghi chú tùy chỉnh chi tiết (không cay, ít ngọt, không hành...).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13048"/>
            <a:ext cx="576072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050" b="1">
                <a:solidFill>
                  <a:srgbClr val="D97706"/>
                </a:solidFill>
                <a:latin typeface="Segoe UI"/>
              </a:defRPr>
            </a:pPr>
            <a:r>
              <a:rPr sz="1200"/>
              <a:t>⚡ BƯỚC 3: GỬI ĐƠN &amp; THEO DÕI TIẾN ĐỘ REAL-TIME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Đặt món tức thì: </a:t>
            </a:r>
            <a:r>
              <a:rPr sz="1000" b="0">
                <a:solidFill>
                  <a:srgbClr val="475569"/>
                </a:solidFill>
              </a:rPr>
              <a:t>Bấm 'Xác nhận gọi món' ➔ Back-End tạo Order và kích hoạt Socket.io sự kiện 'order:new'.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Bếp nhận &lt;50ms: </a:t>
            </a:r>
            <a:r>
              <a:rPr sz="1000" b="0">
                <a:solidFill>
                  <a:srgbClr val="475569"/>
                </a:solidFill>
              </a:rPr>
              <a:t>Màn hình Bếp KDS reo chuông nhận đơn; Khách theo dõi: Chờ nấu ➔ Đang nấu ➔ Sẵn sàng.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02352"/>
            <a:ext cx="576072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rPr sz="1200"/>
              <a:t>💳 BƯỚC 4: THANH TOÁN VIETQR &amp; TÍCH ĐIỂM CRM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Thanh toán không tiền mặt: </a:t>
            </a:r>
            <a:r>
              <a:rPr sz="1000" b="0">
                <a:solidFill>
                  <a:srgbClr val="475569"/>
                </a:solidFill>
              </a:rPr>
              <a:t>Hệ thống sinh mã VietQR động tự điền số tiền và nội dung chuyển khoản chính xác.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Tích điểm hội viên: </a:t>
            </a:r>
            <a:r>
              <a:rPr sz="1000" b="0">
                <a:solidFill>
                  <a:srgbClr val="475569"/>
                </a:solidFill>
              </a:rPr>
              <a:t>Nhập SĐT để tích lũy điểm (100k = 1 điểm) và tự động chiết khấu giảm giá trực tiếp.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4785055" cy="50749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7025" y="1819656"/>
            <a:ext cx="47131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rPr sz="1400" dirty="0"/>
              <a:t>📱 GIAO DIỆN GỌI MÓN QR &amp; THANH TOÁN VIETQR</a:t>
            </a:r>
          </a:p>
        </p:txBody>
      </p:sp>
      <p:pic>
        <p:nvPicPr>
          <p:cNvPr id="14" name="Picture 13" descr="10_qr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578608"/>
            <a:ext cx="4510735" cy="30770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3657600" cy="237744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CHƯƠNG 2: LUỒNG QUẢN TRỊ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Segoe UI"/>
              </a:defRPr>
            </a:pPr>
            <a:r>
              <a:t>Luồng Quản Trị Hệ Thống: Cấu Hình, Kiểm Soát Kho &amp; Giám Sát KPI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Chu trình 4 trụ cột vận hành: Phân quyền RBAC ➔ Thực đơn &amp; Định mức BOM ➔ Quản lý kho ➔ Phân tích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| Sinh viên: Nguyễn Hoàng Hưng – 501250384 (K25)                                 Trang 8/13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76072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rPr sz="1200"/>
              <a:t>🔐 TRỤ CỘT 1: ĐĂNG NHẬP BẢO MẬT &amp; PHÂN QUYỀN RBAC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Xác thực JWT an toàn: </a:t>
            </a:r>
            <a:r>
              <a:rPr sz="1000" b="0">
                <a:solidFill>
                  <a:srgbClr val="475569"/>
                </a:solidFill>
              </a:rPr>
              <a:t>Admin đăng nhập qua POST /api/v1/auth/login, kiểm tra Bcrypt 10 rounds, cấp JWT 24h.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Phân quyền đa tầng: </a:t>
            </a:r>
            <a:r>
              <a:rPr sz="1000" b="0">
                <a:solidFill>
                  <a:srgbClr val="475569"/>
                </a:solidFill>
              </a:rPr>
              <a:t>Quản lý tài khoản nhân sự; Middleware RBAC chặn nghiêm ngặt các vai trò Thu ngân và Bếp.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23744"/>
            <a:ext cx="576072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050" b="1">
                <a:solidFill>
                  <a:srgbClr val="D97706"/>
                </a:solidFill>
                <a:latin typeface="Segoe UI"/>
              </a:defRPr>
            </a:pPr>
            <a:r>
              <a:rPr sz="1200"/>
              <a:t>🍲 TRỤ CỘT 2: QUẢN TRỊ MENU &amp; THIẾT LẬP ĐỊNH MỨC BOM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Quản lý thực đơn: </a:t>
            </a:r>
            <a:r>
              <a:rPr sz="1000" b="0">
                <a:solidFill>
                  <a:srgbClr val="475569"/>
                </a:solidFill>
              </a:rPr>
              <a:t>CRUD danh mục, thêm món ăn, upload ảnh đại diện Cloudinary, quản lý trạng thái bật/tắt bán.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Cấu hình công thức BOM: </a:t>
            </a:r>
            <a:r>
              <a:rPr sz="1000" b="0">
                <a:solidFill>
                  <a:srgbClr val="475569"/>
                </a:solidFill>
              </a:rPr>
              <a:t>Thiết lập liên kết MonAnNguyenLieu (định lượng gram/ml tiêu hao chính xác cho mỗi món).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13048"/>
            <a:ext cx="576072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050" b="1">
                <a:solidFill>
                  <a:srgbClr val="DC2626"/>
                </a:solidFill>
                <a:latin typeface="Segoe UI"/>
              </a:defRPr>
            </a:pPr>
            <a:r>
              <a:rPr sz="1200"/>
              <a:t>📦 TRỤ CỘT 3: KIỂM SOÁT KHO &amp; CẢNH BÁO TỒN TỐI THIỂU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Nhập kho nguyên liệu: </a:t>
            </a:r>
            <a:r>
              <a:rPr sz="1000" b="0">
                <a:solidFill>
                  <a:srgbClr val="475569"/>
                </a:solidFill>
              </a:rPr>
              <a:t>Quản lý chứng từ nhập kho, cập nhật đơn giá, nhà cung cấp và số lượng tồn hiện hành.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Tự động trừ kho &amp; Cảnh báo: </a:t>
            </a:r>
            <a:r>
              <a:rPr sz="1000" b="0">
                <a:solidFill>
                  <a:srgbClr val="475569"/>
                </a:solidFill>
              </a:rPr>
              <a:t>Bếp bấm nấu ➔ Back-End tự khấu trừ kho theo BOM; kích hoạt cảnh báo khi chạm ngưỡng tối thiểu.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02352"/>
            <a:ext cx="576072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rPr sz="1200"/>
              <a:t>📊 TRỤ CỘT 4: GIÁM SÁT DASHBOARD &amp; PHÂN TÍCH KPI TÀI CHÍNH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Dashboard thời gian thực: </a:t>
            </a:r>
            <a:r>
              <a:rPr sz="1000" b="0">
                <a:solidFill>
                  <a:srgbClr val="475569"/>
                </a:solidFill>
              </a:rPr>
              <a:t>Theo dõi tức thì doanh thu ca/ngày, tỷ lệ lấp đầy bàn ăn, số lượng đơn hoàn tất.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  <a:latin typeface="Segoe UI"/>
              </a:defRPr>
            </a:pPr>
            <a:r>
              <a:rPr sz="1000"/>
              <a:t>• Báo cáo chuyên sâu: </a:t>
            </a:r>
            <a:r>
              <a:rPr sz="1000" b="0">
                <a:solidFill>
                  <a:srgbClr val="475569"/>
                </a:solidFill>
              </a:rPr>
              <a:t>Biểu đồ phân tích doanh thu theo kỳ, Top 5 món bán chạy nhất và tỷ suất hao hụt nguyên vật liệu.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4785055" cy="50749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1935087"/>
            <a:ext cx="466025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rPr sz="1200"/>
              <a:t>📊 BẢNG ĐIỀU KHIỂN QUẢN TRỊ VIÊN (ADMIN DASHBOARD)</a:t>
            </a:r>
          </a:p>
        </p:txBody>
      </p:sp>
      <p:pic>
        <p:nvPicPr>
          <p:cNvPr id="14" name="Picture 13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86160"/>
            <a:ext cx="4510735" cy="29295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3657600" cy="237744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CHƯƠNG 5: KẾT LUẬN &amp;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698480" cy="4770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Segoe UI"/>
              </a:defRPr>
            </a:pPr>
            <a:r>
              <a:rPr sz="2800" dirty="0"/>
              <a:t>Định </a:t>
            </a:r>
            <a:r>
              <a:rPr sz="2800" dirty="0" err="1"/>
              <a:t>Hướng</a:t>
            </a:r>
            <a:r>
              <a:rPr sz="2800" dirty="0"/>
              <a:t> </a:t>
            </a:r>
            <a:r>
              <a:rPr sz="2800" dirty="0" err="1"/>
              <a:t>Nâng</a:t>
            </a:r>
            <a:r>
              <a:rPr sz="2800" dirty="0"/>
              <a:t> </a:t>
            </a:r>
            <a:r>
              <a:rPr sz="2800" dirty="0" err="1"/>
              <a:t>Cấp</a:t>
            </a:r>
            <a:endParaRPr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| Sinh viên: Nguyễn Hoàng Hưng – 501250384 (K25)                                 Trang 12/13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1069848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28600" rIns="256032" rtlCol="0" anchor="ctr"/>
          <a:lstStyle/>
          <a:p>
            <a:pPr algn="ctr">
              <a:defRPr sz="1300" b="1">
                <a:solidFill>
                  <a:srgbClr val="D97706"/>
                </a:solidFill>
                <a:latin typeface="Segoe UI"/>
              </a:defRPr>
            </a:pPr>
            <a:r>
              <a:rPr sz="2000" dirty="0"/>
              <a:t>LỘ TRÌNH PHÁT TRIỂN TIẾP THEO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2000" dirty="0"/>
              <a:t>• </a:t>
            </a:r>
            <a:r>
              <a:rPr sz="2000" dirty="0" err="1"/>
              <a:t>Tích</a:t>
            </a:r>
            <a:r>
              <a:rPr sz="2000" dirty="0"/>
              <a:t> </a:t>
            </a:r>
            <a:r>
              <a:rPr sz="2000" dirty="0" err="1"/>
              <a:t>hợp</a:t>
            </a:r>
            <a:r>
              <a:rPr sz="2000" dirty="0"/>
              <a:t> Redis Cache: </a:t>
            </a:r>
            <a:r>
              <a:rPr sz="2000" b="0" dirty="0">
                <a:solidFill>
                  <a:srgbClr val="475569"/>
                </a:solidFill>
              </a:rPr>
              <a:t>Lưu </a:t>
            </a:r>
            <a:r>
              <a:rPr sz="2000" b="0" dirty="0" err="1">
                <a:solidFill>
                  <a:srgbClr val="475569"/>
                </a:solidFill>
              </a:rPr>
              <a:t>bộ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nhớ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đệm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thực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đơn</a:t>
            </a:r>
            <a:r>
              <a:rPr sz="2000" b="0" dirty="0">
                <a:solidFill>
                  <a:srgbClr val="475569"/>
                </a:solidFill>
              </a:rPr>
              <a:t> &amp; </a:t>
            </a:r>
            <a:r>
              <a:rPr sz="2000" b="0" dirty="0" err="1">
                <a:solidFill>
                  <a:srgbClr val="475569"/>
                </a:solidFill>
              </a:rPr>
              <a:t>sơ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đồ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bàn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ăn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để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giảm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tải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truy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vấn</a:t>
            </a:r>
            <a:r>
              <a:rPr sz="2000" b="0" dirty="0">
                <a:solidFill>
                  <a:srgbClr val="475569"/>
                </a:solidFill>
              </a:rPr>
              <a:t> MongoDB </a:t>
            </a:r>
            <a:r>
              <a:rPr sz="2000" b="0" dirty="0" err="1">
                <a:solidFill>
                  <a:srgbClr val="475569"/>
                </a:solidFill>
              </a:rPr>
              <a:t>và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tăng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tốc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phản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hồi</a:t>
            </a:r>
            <a:r>
              <a:rPr sz="20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2000" dirty="0"/>
              <a:t>• Webhook Ngân </a:t>
            </a:r>
            <a:r>
              <a:rPr sz="2000" dirty="0" err="1"/>
              <a:t>hàng</a:t>
            </a:r>
            <a:r>
              <a:rPr sz="2000" dirty="0"/>
              <a:t> </a:t>
            </a:r>
            <a:r>
              <a:rPr sz="2000" dirty="0" err="1"/>
              <a:t>tự</a:t>
            </a:r>
            <a:r>
              <a:rPr sz="2000" dirty="0"/>
              <a:t> </a:t>
            </a:r>
            <a:r>
              <a:rPr sz="2000" dirty="0" err="1"/>
              <a:t>động</a:t>
            </a:r>
            <a:r>
              <a:rPr sz="2000" dirty="0"/>
              <a:t>: </a:t>
            </a:r>
            <a:r>
              <a:rPr sz="2000" b="0" dirty="0" err="1">
                <a:solidFill>
                  <a:srgbClr val="475569"/>
                </a:solidFill>
              </a:rPr>
              <a:t>Kết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nối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SePAY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hoặc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VietQR</a:t>
            </a:r>
            <a:r>
              <a:rPr sz="2000" b="0" dirty="0">
                <a:solidFill>
                  <a:srgbClr val="475569"/>
                </a:solidFill>
              </a:rPr>
              <a:t> Webhook </a:t>
            </a:r>
            <a:r>
              <a:rPr sz="2000" b="0" dirty="0" err="1">
                <a:solidFill>
                  <a:srgbClr val="475569"/>
                </a:solidFill>
              </a:rPr>
              <a:t>để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tự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động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xác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nhận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hóa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đơn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khi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tiền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vào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tài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khoản</a:t>
            </a:r>
            <a:r>
              <a:rPr sz="20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2000" dirty="0"/>
              <a:t>• </a:t>
            </a:r>
            <a:r>
              <a:rPr sz="2000" dirty="0" err="1"/>
              <a:t>Kiến</a:t>
            </a:r>
            <a:r>
              <a:rPr sz="2000" dirty="0"/>
              <a:t> </a:t>
            </a:r>
            <a:r>
              <a:rPr sz="2000" dirty="0" err="1"/>
              <a:t>trúc</a:t>
            </a:r>
            <a:r>
              <a:rPr sz="2000" dirty="0"/>
              <a:t> Microservices: </a:t>
            </a:r>
            <a:r>
              <a:rPr sz="2000" b="0" dirty="0" err="1">
                <a:solidFill>
                  <a:srgbClr val="475569"/>
                </a:solidFill>
              </a:rPr>
              <a:t>Tách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độc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lập</a:t>
            </a:r>
            <a:r>
              <a:rPr sz="2000" b="0" dirty="0">
                <a:solidFill>
                  <a:srgbClr val="475569"/>
                </a:solidFill>
              </a:rPr>
              <a:t> Service Báo </a:t>
            </a:r>
            <a:r>
              <a:rPr sz="2000" b="0" dirty="0" err="1">
                <a:solidFill>
                  <a:srgbClr val="475569"/>
                </a:solidFill>
              </a:rPr>
              <a:t>cáo</a:t>
            </a:r>
            <a:r>
              <a:rPr sz="2000" b="0" dirty="0">
                <a:solidFill>
                  <a:srgbClr val="475569"/>
                </a:solidFill>
              </a:rPr>
              <a:t> (Reporting) </a:t>
            </a:r>
            <a:r>
              <a:rPr sz="2000" b="0" dirty="0" err="1">
                <a:solidFill>
                  <a:srgbClr val="475569"/>
                </a:solidFill>
              </a:rPr>
              <a:t>và</a:t>
            </a:r>
            <a:r>
              <a:rPr sz="2000" b="0" dirty="0">
                <a:solidFill>
                  <a:srgbClr val="475569"/>
                </a:solidFill>
              </a:rPr>
              <a:t> Service Kho </a:t>
            </a:r>
            <a:r>
              <a:rPr sz="2000" b="0" dirty="0" err="1">
                <a:solidFill>
                  <a:srgbClr val="475569"/>
                </a:solidFill>
              </a:rPr>
              <a:t>nguyên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liệu</a:t>
            </a:r>
            <a:r>
              <a:rPr sz="2000" b="0" dirty="0">
                <a:solidFill>
                  <a:srgbClr val="475569"/>
                </a:solidFill>
              </a:rPr>
              <a:t> (Inventory) </a:t>
            </a:r>
            <a:r>
              <a:rPr sz="2000" b="0" dirty="0" err="1">
                <a:solidFill>
                  <a:srgbClr val="475569"/>
                </a:solidFill>
              </a:rPr>
              <a:t>để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mở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rộng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quy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mô</a:t>
            </a:r>
            <a:r>
              <a:rPr sz="20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2000" dirty="0"/>
              <a:t>• </a:t>
            </a:r>
            <a:r>
              <a:rPr sz="2000" dirty="0" err="1"/>
              <a:t>Ứng</a:t>
            </a:r>
            <a:r>
              <a:rPr sz="2000" dirty="0"/>
              <a:t> </a:t>
            </a:r>
            <a:r>
              <a:rPr sz="2000" dirty="0" err="1"/>
              <a:t>dụng</a:t>
            </a:r>
            <a:r>
              <a:rPr sz="2000" dirty="0"/>
              <a:t> Trí </a:t>
            </a:r>
            <a:r>
              <a:rPr sz="2000" dirty="0" err="1"/>
              <a:t>tuệ</a:t>
            </a:r>
            <a:r>
              <a:rPr sz="2000" dirty="0"/>
              <a:t> </a:t>
            </a:r>
            <a:r>
              <a:rPr sz="2000" dirty="0" err="1"/>
              <a:t>nhân</a:t>
            </a:r>
            <a:r>
              <a:rPr sz="2000" dirty="0"/>
              <a:t> </a:t>
            </a:r>
            <a:r>
              <a:rPr sz="2000" dirty="0" err="1"/>
              <a:t>tạo</a:t>
            </a:r>
            <a:r>
              <a:rPr sz="2000" dirty="0"/>
              <a:t> (AI): </a:t>
            </a:r>
            <a:r>
              <a:rPr sz="2000" b="0" dirty="0" err="1">
                <a:solidFill>
                  <a:srgbClr val="475569"/>
                </a:solidFill>
              </a:rPr>
              <a:t>Xây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dựng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mô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hình</a:t>
            </a:r>
            <a:r>
              <a:rPr sz="2000" b="0" dirty="0">
                <a:solidFill>
                  <a:srgbClr val="475569"/>
                </a:solidFill>
              </a:rPr>
              <a:t> AI </a:t>
            </a:r>
            <a:r>
              <a:rPr sz="2000" b="0" dirty="0" err="1">
                <a:solidFill>
                  <a:srgbClr val="475569"/>
                </a:solidFill>
              </a:rPr>
              <a:t>dự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báo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lượng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khách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và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định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lượng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tiêu</a:t>
            </a:r>
            <a:r>
              <a:rPr sz="2000" b="0" dirty="0">
                <a:solidFill>
                  <a:srgbClr val="475569"/>
                </a:solidFill>
              </a:rPr>
              <a:t> hao </a:t>
            </a:r>
            <a:r>
              <a:rPr sz="2000" b="0" dirty="0" err="1">
                <a:solidFill>
                  <a:srgbClr val="475569"/>
                </a:solidFill>
              </a:rPr>
              <a:t>nguyên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liệu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theo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ngày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trong</a:t>
            </a:r>
            <a:r>
              <a:rPr sz="2000" b="0" dirty="0">
                <a:solidFill>
                  <a:srgbClr val="475569"/>
                </a:solidFill>
              </a:rPr>
              <a:t> </a:t>
            </a:r>
            <a:r>
              <a:rPr sz="2000" b="0" dirty="0" err="1">
                <a:solidFill>
                  <a:srgbClr val="475569"/>
                </a:solidFill>
              </a:rPr>
              <a:t>tuần</a:t>
            </a:r>
            <a:r>
              <a:rPr sz="2000" b="0" dirty="0">
                <a:solidFill>
                  <a:srgbClr val="475569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1752</Words>
  <Application>Microsoft Office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Hưng Nguyễn</cp:lastModifiedBy>
  <cp:revision>1</cp:revision>
  <dcterms:created xsi:type="dcterms:W3CDTF">2013-01-27T09:14:16Z</dcterms:created>
  <dcterms:modified xsi:type="dcterms:W3CDTF">2026-10-20T01:50:31Z</dcterms:modified>
  <cp:category/>
</cp:coreProperties>
</file>